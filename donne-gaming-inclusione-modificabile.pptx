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5303520" cy="347472"/>
          </a:xfrm>
          <a:prstGeom prst="roundRect">
            <a:avLst/>
          </a:prstGeom>
          <a:solidFill>
            <a:srgbClr val="0F2138"/>
          </a:solidFill>
          <a:ln w="15240">
            <a:solidFill>
              <a:srgbClr val="3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37D6E8"/>
                </a:solidFill>
                <a:latin typeface="Consolas"/>
              </a:defRPr>
            </a:pPr>
            <a:r>
              <a:t>● UNIVERSITÀ DI ROMA TOR VERGATA · INFORMATICA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6858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800" b="1">
                <a:solidFill>
                  <a:srgbClr val="F4F7FB"/>
                </a:solidFill>
                <a:latin typeface="Segoe UI"/>
              </a:defRPr>
            </a:pPr>
            <a:r>
              <a:t>Donne, gaming</a:t>
            </a:r>
          </a:p>
          <a:p>
            <a:r>
              <a:rPr sz="4800" b="1">
                <a:solidFill>
                  <a:srgbClr val="A78BFA"/>
                </a:solidFill>
                <a:latin typeface="Segoe UI"/>
              </a:rPr>
              <a:t>e inclusione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0779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>
                <a:solidFill>
                  <a:srgbClr val="F4F7FB"/>
                </a:solidFill>
                <a:latin typeface="Segoe UI"/>
              </a:defRPr>
            </a:pPr>
            <a:r>
              <a:t>Donne e cultura videoludica: radici storiche, dati di settore e considerazioni sui futuri sviluppi tra codice e società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50208"/>
            <a:ext cx="5303520" cy="402336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b="1" sz="1200">
                <a:solidFill>
                  <a:srgbClr val="37D6E8"/>
                </a:solidFill>
                <a:latin typeface="Consolas"/>
              </a:rPr>
              <a:t>01   </a:t>
            </a:r>
            <a:r>
              <a:rPr b="1" sz="1300">
                <a:solidFill>
                  <a:srgbClr val="F4F7FB"/>
                </a:solidFill>
                <a:latin typeface="Segoe UI"/>
              </a:rPr>
              <a:t>Luca Gugliotta   </a:t>
            </a:r>
            <a:r>
              <a:rPr sz="1150">
                <a:solidFill>
                  <a:srgbClr val="A9B8CC"/>
                </a:solidFill>
                <a:latin typeface="Consolas"/>
              </a:rPr>
              <a:t>Matr. 0342634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86784"/>
            <a:ext cx="59436" cy="329184"/>
          </a:xfrm>
          <a:prstGeom prst="rect">
            <a:avLst/>
          </a:prstGeom>
          <a:solidFill>
            <a:srgbClr val="37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443984"/>
            <a:ext cx="5303520" cy="402336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b="1" sz="1200">
                <a:solidFill>
                  <a:srgbClr val="A78BFA"/>
                </a:solidFill>
                <a:latin typeface="Consolas"/>
              </a:rPr>
              <a:t>02   </a:t>
            </a:r>
            <a:r>
              <a:rPr b="1" sz="1300">
                <a:solidFill>
                  <a:srgbClr val="F4F7FB"/>
                </a:solidFill>
                <a:latin typeface="Segoe UI"/>
              </a:rPr>
              <a:t>Valerio Bernardi   </a:t>
            </a:r>
            <a:r>
              <a:rPr sz="1150">
                <a:solidFill>
                  <a:srgbClr val="A9B8CC"/>
                </a:solidFill>
                <a:latin typeface="Consolas"/>
              </a:rPr>
              <a:t>Matr. 0349538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480560"/>
            <a:ext cx="59436" cy="32918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5303520" cy="402336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b="1" sz="1200">
                <a:solidFill>
                  <a:srgbClr val="5EE6A8"/>
                </a:solidFill>
                <a:latin typeface="Consolas"/>
              </a:rPr>
              <a:t>03   </a:t>
            </a:r>
            <a:r>
              <a:rPr b="1" sz="1300">
                <a:solidFill>
                  <a:srgbClr val="F4F7FB"/>
                </a:solidFill>
                <a:latin typeface="Segoe UI"/>
              </a:rPr>
              <a:t>Samuele De Santis   </a:t>
            </a:r>
            <a:r>
              <a:rPr sz="1150">
                <a:solidFill>
                  <a:srgbClr val="A9B8CC"/>
                </a:solidFill>
                <a:latin typeface="Consolas"/>
              </a:rPr>
              <a:t>Matr. 0348324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974336"/>
            <a:ext cx="59436" cy="329184"/>
          </a:xfrm>
          <a:prstGeom prst="rect">
            <a:avLst/>
          </a:prstGeom>
          <a:solidFill>
            <a:srgbClr val="5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235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8CC"/>
                </a:solidFill>
                <a:latin typeface="Consolas"/>
              </a:defRPr>
            </a:pPr>
            <a:r>
              <a:t>GENDER &amp; INCLUSION · A.A. 2025–2026 · 4/09/2026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868680"/>
            <a:ext cx="3779215" cy="50292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914400"/>
            <a:ext cx="59436" cy="4937760"/>
          </a:xfrm>
          <a:prstGeom prst="rect">
            <a:avLst/>
          </a:prstGeom>
          <a:solidFill>
            <a:srgbClr val="37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051560"/>
            <a:ext cx="3337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7D6E8"/>
                </a:solidFill>
                <a:latin typeface="Consolas"/>
              </a:defRPr>
            </a:pPr>
            <a:r>
              <a:t>RESEARCH FRAMEWORK</a:t>
            </a:r>
          </a:p>
          <a:p>
            <a:pPr>
              <a:spcBef>
                <a:spcPts val="1000"/>
              </a:spcBef>
              <a:defRPr b="1" sz="1050">
                <a:solidFill>
                  <a:srgbClr val="A78BFA"/>
                </a:solidFill>
                <a:latin typeface="Consolas"/>
              </a:defRPr>
            </a:pPr>
            <a:r>
              <a:t>■ OBIETTIVO PROGETTO</a:t>
            </a:r>
          </a:p>
          <a:p>
            <a:pPr>
              <a:defRPr sz="1050">
                <a:solidFill>
                  <a:srgbClr val="A9B8CC"/>
                </a:solidFill>
                <a:latin typeface="Segoe UI"/>
              </a:defRPr>
            </a:pPr>
            <a:r>
              <a:t>Analisi interdisciplinare del medium videoludico: demografia, tossicità online, evoluzione narrativa e disparità occupazionale nelle carriere STEM.</a:t>
            </a:r>
          </a:p>
          <a:p>
            <a:pPr>
              <a:spcBef>
                <a:spcPts val="1000"/>
              </a:spcBef>
              <a:defRPr b="1" sz="1050">
                <a:solidFill>
                  <a:srgbClr val="A78BFA"/>
                </a:solidFill>
                <a:latin typeface="Consolas"/>
              </a:defRPr>
            </a:pPr>
            <a:r>
              <a:t>■ DATASET &amp; FONTI</a:t>
            </a:r>
          </a:p>
          <a:p>
            <a:pPr>
              <a:defRPr sz="1050">
                <a:solidFill>
                  <a:srgbClr val="A9B8CC"/>
                </a:solidFill>
                <a:latin typeface="Segoe UI"/>
              </a:defRPr>
            </a:pPr>
            <a:r>
              <a:t>ESA 2025 · ADL Hate is No Game 2024 · IIDEA 2025 · GDC State of Industry 2025 · VGE 2024.</a:t>
            </a:r>
          </a:p>
          <a:p>
            <a:pPr>
              <a:spcBef>
                <a:spcPts val="1000"/>
              </a:spcBef>
              <a:defRPr b="1" sz="1050">
                <a:solidFill>
                  <a:srgbClr val="A78BFA"/>
                </a:solidFill>
                <a:latin typeface="Consolas"/>
              </a:defRPr>
            </a:pPr>
            <a:r>
              <a:t>■ RELAZIONE COLLEGIALE</a:t>
            </a:r>
          </a:p>
          <a:p>
            <a:pPr>
              <a:defRPr sz="1050">
                <a:solidFill>
                  <a:srgbClr val="A9B8CC"/>
                </a:solidFill>
                <a:latin typeface="Segoe UI"/>
              </a:defRPr>
            </a:pPr>
            <a:r>
              <a:t>Slide 01-03: Luca Gugliotta</a:t>
            </a:r>
            <a:br/>
            <a:r>
              <a:t>Slide 04-05: Valerio Bernardi</a:t>
            </a:r>
            <a:br/>
            <a:r>
              <a:t>Slide 06-09: Samuele De Santis</a:t>
            </a:r>
          </a:p>
          <a:p>
            <a:pPr>
              <a:spcBef>
                <a:spcPts val="1000"/>
              </a:spcBef>
              <a:defRPr b="1" sz="1050">
                <a:solidFill>
                  <a:srgbClr val="A78BFA"/>
                </a:solidFill>
                <a:latin typeface="Consolas"/>
              </a:defRPr>
            </a:pPr>
            <a:r>
              <a:t>■ STATUS METRICHE</a:t>
            </a:r>
          </a:p>
          <a:p>
            <a:pPr>
              <a:defRPr sz="1050">
                <a:solidFill>
                  <a:srgbClr val="A9B8CC"/>
                </a:solidFill>
                <a:latin typeface="Segoe UI"/>
              </a:defRPr>
            </a:pPr>
            <a:r>
              <a:t>PARITÀ CONSUMO: 48% F / 52% M</a:t>
            </a:r>
            <a:br/>
            <a:r>
              <a:t>SVILUPPO TECH: 20-23% DONNE</a:t>
            </a:r>
            <a:br/>
            <a:r>
              <a:t>ONLINE HARASSMENT: 76% COMP.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384048"/>
            <a:ext cx="2499055" cy="347472"/>
          </a:xfrm>
          <a:prstGeom prst="roundRect">
            <a:avLst/>
          </a:prstGeom>
          <a:solidFill>
            <a:srgbClr val="0F2138"/>
          </a:solidFill>
          <a:ln w="15240">
            <a:solidFill>
              <a:srgbClr val="3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37D6E8"/>
                </a:solidFill>
                <a:latin typeface="Consolas"/>
              </a:defRPr>
            </a:pPr>
            <a:r>
              <a:t>01 · LUCA GUGLIOTTA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8046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1">
                <a:solidFill>
                  <a:srgbClr val="37D6E8"/>
                </a:solidFill>
                <a:latin typeface="Consolas"/>
              </a:defRPr>
            </a:pPr>
            <a:r>
              <a:t>01 / LA PROSPETTIVA INFORMATICA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7FB"/>
                </a:solidFill>
                <a:latin typeface="Segoe UI"/>
              </a:defRPr>
            </a:pPr>
            <a:r>
              <a:t>Perché parlarne da informatici?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A9B8CC"/>
                </a:solidFill>
                <a:latin typeface="Segoe UI"/>
              </a:defRPr>
            </a:pPr>
            <a:r>
              <a:t>I videogiochi sono spazi sociali: le scelte di codice e design determinano chi può partecipare in sicurezza.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88CA8"/>
                </a:solidFill>
                <a:latin typeface="Consolas"/>
              </a:defRPr>
            </a:pPr>
            <a:r>
              <a:t>Gender &amp; Inclusion · Università di Roma Tor Vergata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27648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88CA8"/>
                </a:solidFill>
                <a:latin typeface="Consolas"/>
              </a:defRPr>
            </a:pPr>
            <a:r>
              <a:t>02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84831"/>
            <a:ext cx="3332073" cy="340156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30551"/>
            <a:ext cx="59436" cy="3310128"/>
          </a:xfrm>
          <a:prstGeom prst="rect">
            <a:avLst/>
          </a:prstGeom>
          <a:solidFill>
            <a:srgbClr val="37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49423"/>
            <a:ext cx="2966313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37D6E8"/>
                </a:solidFill>
                <a:latin typeface="Consolas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2000" b="1">
                <a:solidFill>
                  <a:srgbClr val="F4F7FB"/>
                </a:solidFill>
                <a:latin typeface="Segoe UI"/>
              </a:defRPr>
            </a:pPr>
            <a:r>
              <a:t>CHI GIOCA</a:t>
            </a:r>
          </a:p>
          <a:p>
            <a:pPr>
              <a:defRPr b="1" sz="1300">
                <a:solidFill>
                  <a:srgbClr val="F4F7FB"/>
                </a:solidFill>
                <a:latin typeface="Segoe UI"/>
              </a:defRPr>
            </a:pPr>
            <a:r>
              <a:t>• Voice chat &amp; matchmaking</a:t>
            </a:r>
          </a:p>
          <a:p>
            <a:pPr>
              <a:spcBef>
                <a:spcPts val="400"/>
              </a:spcBef>
              <a:defRPr b="1" sz="1300">
                <a:solidFill>
                  <a:srgbClr val="F4F7FB"/>
                </a:solidFill>
                <a:latin typeface="Segoe UI"/>
              </a:defRPr>
            </a:pPr>
            <a:r>
              <a:t>• Tossicità, sicurezza e moderazione</a:t>
            </a:r>
          </a:p>
          <a:p>
            <a:pPr>
              <a:spcBef>
                <a:spcPts val="1200"/>
              </a:spcBef>
              <a:defRPr sz="1150">
                <a:solidFill>
                  <a:srgbClr val="A9B8CC"/>
                </a:solidFill>
                <a:latin typeface="Segoe UI"/>
              </a:defRPr>
            </a:pPr>
            <a:r>
              <a:t>Gestione dell'anonimato e sistemi anti-molestia nell'esperienza multiplayer.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9353" y="2084831"/>
            <a:ext cx="3332073" cy="340156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9353" y="2130551"/>
            <a:ext cx="59436" cy="33101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0521" y="2249423"/>
            <a:ext cx="2966313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A78BFA"/>
                </a:solidFill>
                <a:latin typeface="Consolas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2000" b="1">
                <a:solidFill>
                  <a:srgbClr val="F4F7FB"/>
                </a:solidFill>
                <a:latin typeface="Segoe UI"/>
              </a:defRPr>
            </a:pPr>
            <a:r>
              <a:t>COSA VEDIAMO</a:t>
            </a:r>
          </a:p>
          <a:p>
            <a:pPr>
              <a:defRPr b="1" sz="1300">
                <a:solidFill>
                  <a:srgbClr val="F4F7FB"/>
                </a:solidFill>
                <a:latin typeface="Segoe UI"/>
              </a:defRPr>
            </a:pPr>
            <a:r>
              <a:t>• Narrazione e stereotipi</a:t>
            </a:r>
          </a:p>
          <a:p>
            <a:pPr>
              <a:spcBef>
                <a:spcPts val="400"/>
              </a:spcBef>
              <a:defRPr b="1" sz="1300">
                <a:solidFill>
                  <a:srgbClr val="F4F7FB"/>
                </a:solidFill>
                <a:latin typeface="Segoe UI"/>
              </a:defRPr>
            </a:pPr>
            <a:r>
              <a:t>• Evoluzione del character design</a:t>
            </a:r>
          </a:p>
          <a:p>
            <a:pPr>
              <a:spcBef>
                <a:spcPts val="1200"/>
              </a:spcBef>
              <a:defRPr sz="1150">
                <a:solidFill>
                  <a:srgbClr val="A9B8CC"/>
                </a:solidFill>
                <a:latin typeface="Segoe UI"/>
              </a:defRPr>
            </a:pPr>
            <a:r>
              <a:t>Dalla figura passiva del passato all'agentività e all'identità modulare attuale.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186" y="2084831"/>
            <a:ext cx="3332073" cy="340156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5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186" y="2130551"/>
            <a:ext cx="59436" cy="3310128"/>
          </a:xfrm>
          <a:prstGeom prst="rect">
            <a:avLst/>
          </a:prstGeom>
          <a:solidFill>
            <a:srgbClr val="5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8354" y="2249423"/>
            <a:ext cx="2966313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5EE6A8"/>
                </a:solidFill>
                <a:latin typeface="Consolas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2000" b="1">
                <a:solidFill>
                  <a:srgbClr val="F4F7FB"/>
                </a:solidFill>
                <a:latin typeface="Segoe UI"/>
              </a:defRPr>
            </a:pPr>
            <a:r>
              <a:t>CHI SVILUPPA</a:t>
            </a:r>
          </a:p>
          <a:p>
            <a:pPr>
              <a:defRPr b="1" sz="1300">
                <a:solidFill>
                  <a:srgbClr val="F4F7FB"/>
                </a:solidFill>
                <a:latin typeface="Segoe UI"/>
              </a:defRPr>
            </a:pPr>
            <a:r>
              <a:t>• Donne nella carriera gaming</a:t>
            </a:r>
          </a:p>
          <a:p>
            <a:pPr>
              <a:spcBef>
                <a:spcPts val="400"/>
              </a:spcBef>
              <a:defRPr b="1" sz="1300">
                <a:solidFill>
                  <a:srgbClr val="F4F7FB"/>
                </a:solidFill>
                <a:latin typeface="Segoe UI"/>
              </a:defRPr>
            </a:pPr>
            <a:r>
              <a:t>• Ruoli tecnici, leadership e divario</a:t>
            </a:r>
          </a:p>
          <a:p>
            <a:pPr>
              <a:spcBef>
                <a:spcPts val="1200"/>
              </a:spcBef>
              <a:defRPr sz="1150">
                <a:solidFill>
                  <a:srgbClr val="A9B8CC"/>
                </a:solidFill>
                <a:latin typeface="Segoe UI"/>
              </a:defRPr>
            </a:pPr>
            <a:r>
              <a:t>Composizione dei team di produzione, retribuzioni e cultura dell'ingegneria software.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669280"/>
            <a:ext cx="50292" cy="475488"/>
          </a:xfrm>
          <a:prstGeom prst="rect">
            <a:avLst/>
          </a:prstGeom>
          <a:solidFill>
            <a:srgbClr val="37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632704"/>
            <a:ext cx="1056406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>
                <a:solidFill>
                  <a:srgbClr val="F4F7FB"/>
                </a:solidFill>
                <a:latin typeface="Segoe UI"/>
              </a:rPr>
              <a:t>Il modo in cui programmiamo uno spazio digitale determina </a:t>
            </a:r>
            <a:r>
              <a:rPr sz="1700" b="1">
                <a:solidFill>
                  <a:srgbClr val="37D6E8"/>
                </a:solidFill>
                <a:latin typeface="Segoe UI"/>
              </a:rPr>
              <a:t>chi potrà viverlo.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384048"/>
            <a:ext cx="2499055" cy="347472"/>
          </a:xfrm>
          <a:prstGeom prst="roundRect">
            <a:avLst/>
          </a:prstGeom>
          <a:solidFill>
            <a:srgbClr val="0F2138"/>
          </a:solidFill>
          <a:ln w="15240">
            <a:solidFill>
              <a:srgbClr val="3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37D6E8"/>
                </a:solidFill>
                <a:latin typeface="Consolas"/>
              </a:defRPr>
            </a:pPr>
            <a:r>
              <a:t>01 · LUCA GUGLIOTTA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8046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1">
                <a:solidFill>
                  <a:srgbClr val="37D6E8"/>
                </a:solidFill>
                <a:latin typeface="Consolas"/>
              </a:defRPr>
            </a:pPr>
            <a:r>
              <a:t>02 / DEMOGRAFIA E MERCATO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7FB"/>
                </a:solidFill>
                <a:latin typeface="Segoe UI"/>
              </a:defRPr>
            </a:pPr>
            <a:r>
              <a:t>La realtà è quasi paritaria. La percezione 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A9B8CC"/>
                </a:solidFill>
                <a:latin typeface="Segoe UI"/>
              </a:defRPr>
            </a:pPr>
            <a:r>
              <a:t>Il paradosso percettivo: la partecipazione reale sfiora la parità, ma lo stereotipo del gamer resta maschile.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88CA8"/>
                </a:solidFill>
                <a:latin typeface="Consolas"/>
              </a:defRPr>
            </a:pPr>
            <a:r>
              <a:t>Gender &amp; Inclusion · Università di Roma Tor Vergata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27648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88CA8"/>
                </a:solidFill>
                <a:latin typeface="Consolas"/>
              </a:defRPr>
            </a:pPr>
            <a:r>
              <a:t>03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84831"/>
            <a:ext cx="5180990" cy="340156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30551"/>
            <a:ext cx="59436" cy="3310128"/>
          </a:xfrm>
          <a:prstGeom prst="rect">
            <a:avLst/>
          </a:prstGeom>
          <a:solidFill>
            <a:srgbClr val="37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49423"/>
            <a:ext cx="472379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7D6E8"/>
                </a:solidFill>
                <a:latin typeface="Consolas"/>
              </a:defRPr>
            </a:pPr>
            <a:r>
              <a:t>PUBBLICO GLOBALE · ESA 2025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37D6E8"/>
                </a:solidFill>
                <a:latin typeface="Consolas"/>
              </a:rPr>
              <a:t>48% DONNE        </a:t>
            </a:r>
            <a:r>
              <a:rPr sz="2200" b="1">
                <a:solidFill>
                  <a:srgbClr val="A78BFA"/>
                </a:solidFill>
                <a:latin typeface="Consolas"/>
              </a:rPr>
              <a:t>52% UOMINI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383279"/>
            <a:ext cx="2267419" cy="292608"/>
          </a:xfrm>
          <a:prstGeom prst="rect">
            <a:avLst/>
          </a:prstGeom>
          <a:solidFill>
            <a:srgbClr val="37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27539" y="3383279"/>
            <a:ext cx="245637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03727" y="3346703"/>
            <a:ext cx="3657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30751"/>
            <a:ext cx="472379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9B8CC"/>
                </a:solidFill>
                <a:latin typeface="Segoe UI"/>
              </a:rPr>
              <a:t>Quasi 1 gamer su 2                                </a:t>
            </a:r>
            <a:r>
              <a:rPr sz="1150">
                <a:solidFill>
                  <a:srgbClr val="A9B8CC"/>
                </a:solidFill>
                <a:latin typeface="Segoe UI"/>
              </a:rPr>
              <a:t>Soglia parità (50%)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169662"/>
            <a:ext cx="4723790" cy="1115568"/>
          </a:xfrm>
          <a:prstGeom prst="roundRect">
            <a:avLst/>
          </a:prstGeom>
          <a:solidFill>
            <a:srgbClr val="0B182B"/>
          </a:solidFill>
          <a:ln w="12700">
            <a:solidFill>
              <a:srgbClr val="30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4242815"/>
            <a:ext cx="439460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F7FB"/>
                </a:solidFill>
                <a:latin typeface="Segoe UI"/>
              </a:defRPr>
            </a:pPr>
            <a:r>
              <a:t>• Europa: 47,8% donne · 55 milioni di giocatrici (VGE)</a:t>
            </a:r>
          </a:p>
          <a:p>
            <a:pPr>
              <a:spcBef>
                <a:spcPts val="600"/>
              </a:spcBef>
              <a:defRPr sz="1200" b="1">
                <a:solidFill>
                  <a:srgbClr val="F4F7FB"/>
                </a:solidFill>
                <a:latin typeface="Segoe UI"/>
              </a:defRPr>
            </a:pPr>
            <a:r>
              <a:t>• Italia: 41,0% donne · 5,7 milioni su 14M gamer (IIDEA)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270" y="2084831"/>
            <a:ext cx="5180990" cy="340156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270" y="2130551"/>
            <a:ext cx="59436" cy="33101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6870" y="2249423"/>
            <a:ext cx="472379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A78BFA"/>
                </a:solidFill>
                <a:latin typeface="Consolas"/>
              </a:defRPr>
            </a:pPr>
            <a:r>
              <a:t>CRESCITA ANNUALE · ITALIA (IIDEA)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6870" y="2743199"/>
            <a:ext cx="472379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4F7FB"/>
                </a:solidFill>
                <a:latin typeface="Consolas"/>
              </a:rPr>
              <a:t>GIOCATRICI DONNE                                       </a:t>
            </a:r>
            <a:r>
              <a:rPr b="1" sz="1600">
                <a:solidFill>
                  <a:srgbClr val="37D6E8"/>
                </a:solidFill>
                <a:latin typeface="Consolas"/>
              </a:rPr>
              <a:t>+14,0%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06870" y="3108959"/>
            <a:ext cx="4723790" cy="201168"/>
          </a:xfrm>
          <a:prstGeom prst="round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06870" y="3108959"/>
            <a:ext cx="4723790" cy="201168"/>
          </a:xfrm>
          <a:prstGeom prst="roundRect">
            <a:avLst/>
          </a:prstGeom>
          <a:solidFill>
            <a:srgbClr val="37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6870" y="3456431"/>
            <a:ext cx="472379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4F7FB"/>
                </a:solidFill>
                <a:latin typeface="Consolas"/>
              </a:rPr>
              <a:t>GIOCATORI UOMINI                                        </a:t>
            </a:r>
            <a:r>
              <a:rPr b="1" sz="1600">
                <a:solidFill>
                  <a:srgbClr val="A78BFA"/>
                </a:solidFill>
                <a:latin typeface="Consolas"/>
              </a:rPr>
              <a:t>+2,5%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6870" y="3822191"/>
            <a:ext cx="4723790" cy="201168"/>
          </a:xfrm>
          <a:prstGeom prst="round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06870" y="3822191"/>
            <a:ext cx="850282" cy="20116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06870" y="4169662"/>
            <a:ext cx="4723790" cy="1115568"/>
          </a:xfrm>
          <a:prstGeom prst="roundRect">
            <a:avLst/>
          </a:prstGeom>
          <a:solidFill>
            <a:srgbClr val="0B182B"/>
          </a:solidFill>
          <a:ln w="12700">
            <a:solidFill>
              <a:srgbClr val="30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1462" y="4242815"/>
            <a:ext cx="439460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4F7FB"/>
                </a:solidFill>
                <a:latin typeface="Segoe UI"/>
              </a:defRPr>
            </a:pPr>
            <a:r>
              <a:t>Dinamica di settore:</a:t>
            </a:r>
          </a:p>
          <a:p>
            <a:pPr>
              <a:spcBef>
                <a:spcPts val="400"/>
              </a:spcBef>
              <a:defRPr sz="1150">
                <a:solidFill>
                  <a:srgbClr val="A9B8CC"/>
                </a:solidFill>
                <a:latin typeface="Segoe UI"/>
              </a:defRPr>
            </a:pPr>
            <a:r>
              <a:t>L'espansione del pubblico videoludico in Italia è trainata in modo preponderante dall'ingresso attivo della componente femminile.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669280"/>
            <a:ext cx="50292" cy="475488"/>
          </a:xfrm>
          <a:prstGeom prst="rect">
            <a:avLst/>
          </a:prstGeom>
          <a:solidFill>
            <a:srgbClr val="37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5632704"/>
            <a:ext cx="1056406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>
                <a:solidFill>
                  <a:srgbClr val="F4F7FB"/>
                </a:solidFill>
                <a:latin typeface="Segoe UI"/>
              </a:rPr>
              <a:t>Il problema non è l'assenza delle donne nel gaming, ma la loro </a:t>
            </a:r>
            <a:r>
              <a:rPr sz="1700" b="1">
                <a:solidFill>
                  <a:srgbClr val="37D6E8"/>
                </a:solidFill>
                <a:latin typeface="Segoe UI"/>
              </a:rPr>
              <a:t>invisibilità culturale.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384048"/>
            <a:ext cx="2499055" cy="347472"/>
          </a:xfrm>
          <a:prstGeom prst="roundRect">
            <a:avLst/>
          </a:prstGeom>
          <a:solidFill>
            <a:srgbClr val="0F2138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A78BFA"/>
                </a:solidFill>
                <a:latin typeface="Consolas"/>
              </a:defRPr>
            </a:pPr>
            <a:r>
              <a:t>02 · VALERIO BERNARDI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8046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1">
                <a:solidFill>
                  <a:srgbClr val="FF6B6B"/>
                </a:solidFill>
                <a:latin typeface="Consolas"/>
              </a:defRPr>
            </a:pPr>
            <a:r>
              <a:t>03 / ESPERIENZA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7FB"/>
                </a:solidFill>
                <a:latin typeface="Segoe UI"/>
              </a:defRPr>
            </a:pPr>
            <a:r>
              <a:t>Quando basta una voce per diventare un bersaglio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A9B8CC"/>
                </a:solidFill>
                <a:latin typeface="Segoe UI"/>
              </a:defRPr>
            </a:pPr>
            <a:r>
              <a:t>L'apertura del microfono rompe l'anonimato: l'identità vocale espone a sessismo immediato e ostilità mirata.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88CA8"/>
                </a:solidFill>
                <a:latin typeface="Consolas"/>
              </a:defRPr>
            </a:pPr>
            <a:r>
              <a:t>Gender &amp; Inclusion · Università di Roma Tor Vergata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27648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88CA8"/>
                </a:solidFill>
                <a:latin typeface="Consolas"/>
              </a:defRPr>
            </a:pPr>
            <a:r>
              <a:t>04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29968"/>
            <a:ext cx="5180990" cy="199339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75688"/>
            <a:ext cx="59436" cy="19019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57984"/>
            <a:ext cx="472379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6B"/>
                </a:solidFill>
                <a:latin typeface="Consolas"/>
              </a:defRPr>
            </a:pPr>
            <a:r>
              <a:t>ADL · HATE IS NO GAME REPORT 2024</a:t>
            </a:r>
          </a:p>
          <a:p>
            <a:pPr>
              <a:defRPr sz="5600" b="1">
                <a:solidFill>
                  <a:srgbClr val="FF6B6B"/>
                </a:solidFill>
                <a:latin typeface="Consolas"/>
              </a:defRPr>
            </a:pPr>
            <a:r>
              <a:t>76%</a:t>
            </a:r>
          </a:p>
          <a:p>
            <a:r>
              <a:rPr sz="1400">
                <a:solidFill>
                  <a:srgbClr val="F4F7FB"/>
                </a:solidFill>
                <a:latin typeface="Segoe UI"/>
              </a:rPr>
              <a:t>ha subito </a:t>
            </a:r>
            <a:r>
              <a:rPr b="1" sz="1400">
                <a:solidFill>
                  <a:srgbClr val="F4F7FB"/>
                </a:solidFill>
                <a:latin typeface="Segoe UI"/>
              </a:rPr>
              <a:t>molestie nelle partite online competitive</a:t>
            </a:r>
          </a:p>
          <a:p>
            <a:pPr>
              <a:spcBef>
                <a:spcPts val="400"/>
              </a:spcBef>
              <a:defRPr sz="1150">
                <a:solidFill>
                  <a:srgbClr val="A9B8CC"/>
                </a:solidFill>
                <a:latin typeface="Segoe UI"/>
              </a:defRPr>
            </a:pPr>
            <a:r>
              <a:t>Insulti verbali, minacce e comportamenti tossici sistematici durante le sessioni.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270" y="2029968"/>
            <a:ext cx="5180990" cy="199339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270" y="2075688"/>
            <a:ext cx="59436" cy="19019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6870" y="2157984"/>
            <a:ext cx="472379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6B"/>
                </a:solidFill>
                <a:latin typeface="Consolas"/>
              </a:defRPr>
            </a:pPr>
            <a:r>
              <a:t>PRIMO TARGET IDENTITY-BASED DAL 2019</a:t>
            </a:r>
          </a:p>
          <a:p>
            <a:pPr>
              <a:defRPr sz="5600" b="1">
                <a:solidFill>
                  <a:srgbClr val="FF6B6B"/>
                </a:solidFill>
                <a:latin typeface="Consolas"/>
              </a:defRPr>
            </a:pPr>
            <a:r>
              <a:t>48%</a:t>
            </a:r>
          </a:p>
          <a:p>
            <a:r>
              <a:rPr sz="1400">
                <a:solidFill>
                  <a:srgbClr val="F4F7FB"/>
                </a:solidFill>
                <a:latin typeface="Segoe UI"/>
              </a:rPr>
              <a:t>delle giocatrici: </a:t>
            </a:r>
            <a:r>
              <a:rPr b="1" sz="1400">
                <a:solidFill>
                  <a:srgbClr val="F4F7FB"/>
                </a:solidFill>
                <a:latin typeface="Segoe UI"/>
              </a:rPr>
              <a:t>molestie mirate specificamente al genere</a:t>
            </a:r>
          </a:p>
          <a:p>
            <a:pPr>
              <a:spcBef>
                <a:spcPts val="400"/>
              </a:spcBef>
              <a:defRPr sz="1150">
                <a:solidFill>
                  <a:srgbClr val="A9B8CC"/>
                </a:solidFill>
                <a:latin typeface="Segoe UI"/>
              </a:defRPr>
            </a:pPr>
            <a:r>
              <a:t>Bersaglio primario e più frequente rispetto a qualsiasi altra categoria identitaria.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9B8CC"/>
                </a:solidFill>
                <a:latin typeface="Consolas"/>
              </a:defRPr>
            </a:pPr>
            <a:r>
              <a:t>STRATEGIE DIFENSIVE ADOTTATE DALLE GIOCATRICI ONLINE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3332073" cy="111556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526280"/>
            <a:ext cx="59436" cy="10241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590288"/>
            <a:ext cx="296631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F7FB"/>
                </a:solidFill>
                <a:latin typeface="Segoe UI"/>
              </a:defRPr>
            </a:pPr>
            <a:r>
              <a:t>🔇  Microfono in mute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A9B8CC"/>
                </a:solidFill>
                <a:latin typeface="Segoe UI"/>
              </a:rPr>
              <a:t>Rinuncia forzata alla </a:t>
            </a:r>
            <a:r>
              <a:rPr b="1" sz="1200">
                <a:solidFill>
                  <a:srgbClr val="F4F7FB"/>
                </a:solidFill>
                <a:latin typeface="Segoe UI"/>
              </a:rPr>
              <a:t>voice chat</a:t>
            </a:r>
            <a:r>
              <a:rPr sz="1200">
                <a:solidFill>
                  <a:srgbClr val="A9B8CC"/>
                </a:solidFill>
                <a:latin typeface="Segoe UI"/>
              </a:rPr>
              <a:t> di squadra.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9353" y="4480560"/>
            <a:ext cx="3332073" cy="111556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9353" y="4526280"/>
            <a:ext cx="59436" cy="10241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0521" y="4590288"/>
            <a:ext cx="296631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F7FB"/>
                </a:solidFill>
                <a:latin typeface="Segoe UI"/>
              </a:defRPr>
            </a:pPr>
            <a:r>
              <a:t>🪪  Nickname neutro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A9B8CC"/>
                </a:solidFill>
                <a:latin typeface="Segoe UI"/>
              </a:rPr>
              <a:t>Mascheramento preventivo dell'</a:t>
            </a:r>
            <a:r>
              <a:rPr b="1" sz="1200">
                <a:solidFill>
                  <a:srgbClr val="F4F7FB"/>
                </a:solidFill>
                <a:latin typeface="Segoe UI"/>
              </a:rPr>
              <a:t>identità di genere</a:t>
            </a:r>
            <a:r>
              <a:rPr sz="1200">
                <a:solidFill>
                  <a:srgbClr val="A9B8CC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7186" y="4480560"/>
            <a:ext cx="3332073" cy="111556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7186" y="4526280"/>
            <a:ext cx="59436" cy="10241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8354" y="4590288"/>
            <a:ext cx="296631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F7FB"/>
                </a:solidFill>
                <a:latin typeface="Segoe UI"/>
              </a:defRPr>
            </a:pPr>
            <a:r>
              <a:t>🔒  Solo party chiusi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A9B8CC"/>
                </a:solidFill>
                <a:latin typeface="Segoe UI"/>
              </a:rPr>
              <a:t>Ritiro e auto-esclusione dal </a:t>
            </a:r>
            <a:r>
              <a:rPr b="1" sz="1200">
                <a:solidFill>
                  <a:srgbClr val="F4F7FB"/>
                </a:solidFill>
                <a:latin typeface="Segoe UI"/>
              </a:rPr>
              <a:t>matchmaking pubblico</a:t>
            </a:r>
            <a:r>
              <a:rPr sz="1200">
                <a:solidFill>
                  <a:srgbClr val="A9B8CC"/>
                </a:solidFill>
                <a:latin typeface="Segoe U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790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9B8CC"/>
                </a:solidFill>
                <a:latin typeface="Consolas"/>
              </a:defRPr>
            </a:pPr>
            <a:r>
              <a:t>FONTI: WELLS ET AL., 2025 (RITIRO DALLA CHAT O ABBANDONO) · GAMERGATE 2014–15 (UN PRECEDENTE ANCORA ATTUALE)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384048"/>
            <a:ext cx="2499055" cy="347472"/>
          </a:xfrm>
          <a:prstGeom prst="roundRect">
            <a:avLst/>
          </a:prstGeom>
          <a:solidFill>
            <a:srgbClr val="0F2138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A78BFA"/>
                </a:solidFill>
                <a:latin typeface="Consolas"/>
              </a:defRPr>
            </a:pPr>
            <a:r>
              <a:t>02 · VALERIO BERNARDI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8046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1">
                <a:solidFill>
                  <a:srgbClr val="A78BFA"/>
                </a:solidFill>
                <a:latin typeface="Consolas"/>
              </a:defRPr>
            </a:pPr>
            <a:r>
              <a:t>04 / CHARACTER DESIGN &amp; RAPPRESENTAZIONE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7FB"/>
                </a:solidFill>
                <a:latin typeface="Segoe UI"/>
              </a:defRPr>
            </a:pPr>
            <a:r>
              <a:t>Da contorno a Soggetto: L'Evoluzione femminile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A9B8CC"/>
                </a:solidFill>
                <a:latin typeface="Segoe UI"/>
              </a:defRPr>
            </a:pPr>
            <a:r>
              <a:t>Dall'oggettificazione passiva degli esordi alla complessità psicologica e all'identità modulare contemporanea.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88CA8"/>
                </a:solidFill>
                <a:latin typeface="Consolas"/>
              </a:defRPr>
            </a:pPr>
            <a:r>
              <a:t>Gender &amp; Inclusion · Università di Roma Tor Vergata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27648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88CA8"/>
                </a:solidFill>
                <a:latin typeface="Consolas"/>
              </a:defRPr>
            </a:pPr>
            <a:r>
              <a:t>05 / 09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331720"/>
            <a:ext cx="9966960" cy="36576"/>
          </a:xfrm>
          <a:prstGeom prst="rect">
            <a:avLst/>
          </a:prstGeom>
          <a:solidFill>
            <a:srgbClr val="23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2476195" cy="318211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240280"/>
            <a:ext cx="59436" cy="30906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359152"/>
            <a:ext cx="2147011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6B"/>
                </a:solidFill>
                <a:latin typeface="Consolas"/>
              </a:defRPr>
            </a:pPr>
            <a:r>
              <a:t>👑  ARCHETIPO · ANNI '80</a:t>
            </a:r>
          </a:p>
          <a:p>
            <a:pPr>
              <a:spcBef>
                <a:spcPts val="1400"/>
              </a:spcBef>
              <a:defRPr sz="1800" b="1">
                <a:solidFill>
                  <a:srgbClr val="F4F7FB"/>
                </a:solidFill>
                <a:latin typeface="Segoe UI"/>
              </a:defRPr>
            </a:pPr>
            <a:r>
              <a:t>Princess Peach</a:t>
            </a:r>
          </a:p>
          <a:p>
            <a:pPr>
              <a:spcBef>
                <a:spcPts val="400"/>
              </a:spcBef>
              <a:defRPr sz="1100" b="1">
                <a:solidFill>
                  <a:srgbClr val="FF6B6B"/>
                </a:solidFill>
                <a:latin typeface="Consolas"/>
              </a:defRPr>
            </a:pPr>
            <a:r>
              <a:t>[Donna in pericolo]</a:t>
            </a:r>
          </a:p>
          <a:p>
            <a:pPr>
              <a:spcBef>
                <a:spcPts val="1200"/>
              </a:spcBef>
              <a:defRPr sz="1250">
                <a:solidFill>
                  <a:srgbClr val="A9B8CC"/>
                </a:solidFill>
                <a:latin typeface="Segoe UI"/>
              </a:defRPr>
            </a:pPr>
            <a:r>
              <a:t>Personaggio passivo privo di agentività: esiste per essere salvata.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2035" y="2194560"/>
            <a:ext cx="2476195" cy="318211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2035" y="2240280"/>
            <a:ext cx="59436" cy="30906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6627" y="2359152"/>
            <a:ext cx="2147011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  <a:latin typeface="Consolas"/>
              </a:defRPr>
            </a:pPr>
            <a:r>
              <a:t>🏹  1996 · TOMB RAIDER</a:t>
            </a:r>
          </a:p>
          <a:p>
            <a:pPr>
              <a:spcBef>
                <a:spcPts val="1400"/>
              </a:spcBef>
              <a:defRPr sz="1800" b="1">
                <a:solidFill>
                  <a:srgbClr val="F4F7FB"/>
                </a:solidFill>
                <a:latin typeface="Segoe UI"/>
              </a:defRPr>
            </a:pPr>
            <a:r>
              <a:t>Lara Croft</a:t>
            </a:r>
          </a:p>
          <a:p>
            <a:pPr>
              <a:spcBef>
                <a:spcPts val="400"/>
              </a:spcBef>
              <a:defRPr sz="1100" b="1">
                <a:solidFill>
                  <a:srgbClr val="A78BFA"/>
                </a:solidFill>
                <a:latin typeface="Consolas"/>
              </a:defRPr>
            </a:pPr>
            <a:r>
              <a:t>[Male gaze &amp; azione]</a:t>
            </a:r>
          </a:p>
          <a:p>
            <a:pPr>
              <a:spcBef>
                <a:spcPts val="1200"/>
              </a:spcBef>
              <a:defRPr sz="1250">
                <a:solidFill>
                  <a:srgbClr val="A9B8CC"/>
                </a:solidFill>
                <a:latin typeface="Segoe UI"/>
              </a:defRPr>
            </a:pPr>
            <a:r>
              <a:t>Costruita per il male gaze visivo, ma autonoma, competente e coraggiosa.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2550" y="2194560"/>
            <a:ext cx="2476195" cy="318211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2550" y="2240280"/>
            <a:ext cx="59436" cy="3090672"/>
          </a:xfrm>
          <a:prstGeom prst="rect">
            <a:avLst/>
          </a:prstGeom>
          <a:solidFill>
            <a:srgbClr val="37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142" y="2359152"/>
            <a:ext cx="2147011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7D6E8"/>
                </a:solidFill>
                <a:latin typeface="Consolas"/>
              </a:defRPr>
            </a:pPr>
            <a:r>
              <a:t>⚔️  2017–2020 · REALISMO</a:t>
            </a:r>
          </a:p>
          <a:p>
            <a:pPr>
              <a:spcBef>
                <a:spcPts val="1400"/>
              </a:spcBef>
              <a:defRPr sz="1800" b="1">
                <a:solidFill>
                  <a:srgbClr val="F4F7FB"/>
                </a:solidFill>
                <a:latin typeface="Segoe UI"/>
              </a:defRPr>
            </a:pPr>
            <a:r>
              <a:t>Aloy · Senua · Ellie</a:t>
            </a:r>
          </a:p>
          <a:p>
            <a:pPr>
              <a:spcBef>
                <a:spcPts val="400"/>
              </a:spcBef>
              <a:defRPr sz="1100" b="1">
                <a:solidFill>
                  <a:srgbClr val="37D6E8"/>
                </a:solidFill>
                <a:latin typeface="Consolas"/>
              </a:defRPr>
            </a:pPr>
            <a:r>
              <a:t>[Complessità &amp; vissuto]</a:t>
            </a:r>
          </a:p>
          <a:p>
            <a:pPr>
              <a:spcBef>
                <a:spcPts val="1200"/>
              </a:spcBef>
              <a:defRPr sz="1250">
                <a:solidFill>
                  <a:srgbClr val="A9B8CC"/>
                </a:solidFill>
                <a:latin typeface="Segoe UI"/>
              </a:defRPr>
            </a:pPr>
            <a:r>
              <a:t>Competenza, salute mentale approfondita e corpi realistici non standardizzati.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3065" y="2194560"/>
            <a:ext cx="2476195" cy="318211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5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3065" y="2240280"/>
            <a:ext cx="59436" cy="3090672"/>
          </a:xfrm>
          <a:prstGeom prst="rect">
            <a:avLst/>
          </a:prstGeom>
          <a:solidFill>
            <a:srgbClr val="5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7657" y="2359152"/>
            <a:ext cx="2147011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EE6A8"/>
                </a:solidFill>
                <a:latin typeface="Consolas"/>
              </a:defRPr>
            </a:pPr>
            <a:r>
              <a:t>✨  OGGI · LIBERTÀ</a:t>
            </a:r>
          </a:p>
          <a:p>
            <a:pPr>
              <a:spcBef>
                <a:spcPts val="1400"/>
              </a:spcBef>
              <a:defRPr sz="1800" b="1">
                <a:solidFill>
                  <a:srgbClr val="F4F7FB"/>
                </a:solidFill>
                <a:latin typeface="Segoe UI"/>
              </a:defRPr>
            </a:pPr>
            <a:r>
              <a:t>Identità modulare</a:t>
            </a:r>
          </a:p>
          <a:p>
            <a:pPr>
              <a:spcBef>
                <a:spcPts val="400"/>
              </a:spcBef>
              <a:defRPr sz="1100" b="1">
                <a:solidFill>
                  <a:srgbClr val="5EE6A8"/>
                </a:solidFill>
                <a:latin typeface="Consolas"/>
              </a:defRPr>
            </a:pPr>
            <a:r>
              <a:t>[Disaccoppiamento]</a:t>
            </a:r>
          </a:p>
          <a:p>
            <a:pPr>
              <a:spcBef>
                <a:spcPts val="1200"/>
              </a:spcBef>
              <a:defRPr sz="1250">
                <a:solidFill>
                  <a:srgbClr val="A9B8CC"/>
                </a:solidFill>
                <a:latin typeface="Segoe UI"/>
              </a:defRPr>
            </a:pPr>
            <a:r>
              <a:t>Corpo, voce, estetica e pronomi si separano liberamente (BG3, The Sims 4).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69280"/>
            <a:ext cx="50292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632704"/>
            <a:ext cx="1056406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>
                <a:solidFill>
                  <a:srgbClr val="F4F7FB"/>
                </a:solidFill>
                <a:latin typeface="Segoe UI"/>
              </a:rPr>
              <a:t>La figura femminile passa da oggetto della narrazione a </a:t>
            </a:r>
            <a:r>
              <a:rPr sz="1700" b="1">
                <a:solidFill>
                  <a:srgbClr val="A78BFA"/>
                </a:solidFill>
                <a:latin typeface="Segoe UI"/>
              </a:rPr>
              <a:t>soggetto della narrazione.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384048"/>
            <a:ext cx="2499055" cy="347472"/>
          </a:xfrm>
          <a:prstGeom prst="roundRect">
            <a:avLst/>
          </a:prstGeom>
          <a:solidFill>
            <a:srgbClr val="0F2138"/>
          </a:solidFill>
          <a:ln w="15240">
            <a:solidFill>
              <a:srgbClr val="5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5EE6A8"/>
                </a:solidFill>
                <a:latin typeface="Consolas"/>
              </a:defRPr>
            </a:pPr>
            <a:r>
              <a:t>03 · SAMUELE DE SANTIS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8046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1">
                <a:solidFill>
                  <a:srgbClr val="5EE6A8"/>
                </a:solidFill>
                <a:latin typeface="Consolas"/>
              </a:defRPr>
            </a:pPr>
            <a:r>
              <a:t>05 / DIETRO LO SCHERMO: IL LAVORO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7FB"/>
                </a:solidFill>
                <a:latin typeface="Segoe UI"/>
              </a:defRPr>
            </a:pPr>
            <a:r>
              <a:t>Quasi metà gioca. Solo un quarto sviluppa.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A9B8CC"/>
                </a:solidFill>
                <a:latin typeface="Segoe UI"/>
              </a:defRPr>
            </a:pPr>
            <a:r>
              <a:t>La parità nel consumo non si riflette nella composizione dei team di produzione e ingegneria software.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88CA8"/>
                </a:solidFill>
                <a:latin typeface="Consolas"/>
              </a:defRPr>
            </a:pPr>
            <a:r>
              <a:t>Gender &amp; Inclusion · Università di Roma Tor Vergata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27648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88CA8"/>
                </a:solidFill>
                <a:latin typeface="Consolas"/>
              </a:defRPr>
            </a:pPr>
            <a:r>
              <a:t>06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29968"/>
            <a:ext cx="5180990" cy="242316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75688"/>
            <a:ext cx="59436" cy="2331720"/>
          </a:xfrm>
          <a:prstGeom prst="rect">
            <a:avLst/>
          </a:prstGeom>
          <a:solidFill>
            <a:srgbClr val="37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472379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7D6E8"/>
                </a:solidFill>
                <a:latin typeface="Consolas"/>
              </a:defRPr>
            </a:pPr>
            <a:r>
              <a:t>GDC · STATE OF THE GAME INDUSTRY 2024–2025</a:t>
            </a:r>
          </a:p>
          <a:p>
            <a:pPr>
              <a:spcBef>
                <a:spcPts val="400"/>
              </a:spcBef>
              <a:defRPr sz="6400" b="1">
                <a:solidFill>
                  <a:srgbClr val="37D6E8"/>
                </a:solidFill>
                <a:latin typeface="Consolas"/>
              </a:defRPr>
            </a:pPr>
            <a:r>
              <a:t>23–25%</a:t>
            </a:r>
          </a:p>
          <a:p>
            <a:pPr>
              <a:defRPr sz="1550" b="1">
                <a:solidFill>
                  <a:srgbClr val="F4F7FB"/>
                </a:solidFill>
                <a:latin typeface="Segoe UI"/>
              </a:defRPr>
            </a:pPr>
            <a:r>
              <a:t>donne nella forza lavoro videoludica mondiale</a:t>
            </a:r>
          </a:p>
          <a:p>
            <a:pPr>
              <a:spcBef>
                <a:spcPts val="600"/>
              </a:spcBef>
              <a:defRPr sz="1200">
                <a:solidFill>
                  <a:srgbClr val="A9B8CC"/>
                </a:solidFill>
                <a:latin typeface="Segoe UI"/>
              </a:defRPr>
            </a:pPr>
            <a:r>
              <a:t>Quota che scende a ≈20% nei ruoli tecnici core e programmazione pura di motori grafici (UE).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270" y="2029968"/>
            <a:ext cx="5180990" cy="242316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270" y="2075688"/>
            <a:ext cx="59436" cy="2331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6870" y="2194560"/>
            <a:ext cx="472379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Consolas"/>
              </a:defRPr>
            </a:pPr>
            <a:r>
              <a:t>DISTRIBUZIONE COMPARATIVA RUOLI E PUBBLICO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6870" y="2532888"/>
            <a:ext cx="472379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4F7FB"/>
                </a:solidFill>
                <a:latin typeface="Segoe UI"/>
              </a:rPr>
              <a:t>Pubblico videoludico femminile   </a:t>
            </a:r>
            <a:r>
              <a:rPr b="1" sz="1250">
                <a:solidFill>
                  <a:srgbClr val="37D6E8"/>
                </a:solidFill>
                <a:latin typeface="Consolas"/>
              </a:rPr>
              <a:t>48%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06870" y="2825496"/>
            <a:ext cx="4723790" cy="146304"/>
          </a:xfrm>
          <a:prstGeom prst="round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6870" y="2825496"/>
            <a:ext cx="2267419" cy="146304"/>
          </a:xfrm>
          <a:prstGeom prst="roundRect">
            <a:avLst/>
          </a:prstGeom>
          <a:solidFill>
            <a:srgbClr val="37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6870" y="3172968"/>
            <a:ext cx="472379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4F7FB"/>
                </a:solidFill>
                <a:latin typeface="Segoe UI"/>
              </a:rPr>
              <a:t>Forza lavoro totale nell'industria   </a:t>
            </a:r>
            <a:r>
              <a:rPr b="1" sz="1250">
                <a:solidFill>
                  <a:srgbClr val="A78BFA"/>
                </a:solidFill>
                <a:latin typeface="Consolas"/>
              </a:rPr>
              <a:t>25%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06870" y="3465576"/>
            <a:ext cx="4723790" cy="146304"/>
          </a:xfrm>
          <a:prstGeom prst="round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6870" y="3465576"/>
            <a:ext cx="1180947" cy="14630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6870" y="3813048"/>
            <a:ext cx="472379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4F7FB"/>
                </a:solidFill>
                <a:latin typeface="Segoe UI"/>
              </a:rPr>
              <a:t>Ruoli tecnici core (Programming)   </a:t>
            </a:r>
            <a:r>
              <a:rPr b="1" sz="1250">
                <a:solidFill>
                  <a:srgbClr val="FF6B6B"/>
                </a:solidFill>
                <a:latin typeface="Consolas"/>
              </a:rPr>
              <a:t>≈20%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06870" y="4105656"/>
            <a:ext cx="4723790" cy="146304"/>
          </a:xfrm>
          <a:prstGeom prst="round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06870" y="4105656"/>
            <a:ext cx="944758" cy="146304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681728"/>
            <a:ext cx="5180990" cy="13716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727448"/>
            <a:ext cx="59436" cy="12801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18888"/>
            <a:ext cx="472379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7FB"/>
                </a:solidFill>
                <a:latin typeface="Segoe UI"/>
              </a:defRPr>
            </a:pPr>
            <a:r>
              <a:t>↔ Segregazione orizzontale</a:t>
            </a:r>
          </a:p>
          <a:p>
            <a:pPr>
              <a:spcBef>
                <a:spcPts val="600"/>
              </a:spcBef>
              <a:defRPr sz="1200">
                <a:solidFill>
                  <a:srgbClr val="A9B8CC"/>
                </a:solidFill>
                <a:latin typeface="Segoe UI"/>
              </a:defRPr>
            </a:pPr>
            <a:r>
              <a:t>Uomini e donne concentrati in settori e dipartimenti disuguali: maggiore presenza femminile in QA, narrative, HR e marketing rispetto al software engineering core.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8270" y="4681728"/>
            <a:ext cx="5180990" cy="13716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8270" y="4727448"/>
            <a:ext cx="59436" cy="1280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6870" y="4818888"/>
            <a:ext cx="472379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7FB"/>
                </a:solidFill>
                <a:latin typeface="Segoe UI"/>
              </a:defRPr>
            </a:pPr>
            <a:r>
              <a:t>↥ Segregazione verticale (Soffitto di Cristallo)</a:t>
            </a:r>
          </a:p>
          <a:p>
            <a:pPr>
              <a:spcBef>
                <a:spcPts val="600"/>
              </a:spcBef>
              <a:defRPr sz="1200">
                <a:solidFill>
                  <a:srgbClr val="A9B8CC"/>
                </a:solidFill>
                <a:latin typeface="Segoe UI"/>
              </a:defRPr>
            </a:pPr>
            <a:r>
              <a:t>Drammatica rarefazione della presenza femminile salendo nella piramide gerarchica aziendale: barriere strutturali nei ruoli di Direzione Tecnica, Lead e C-Level.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384048"/>
            <a:ext cx="2499055" cy="347472"/>
          </a:xfrm>
          <a:prstGeom prst="roundRect">
            <a:avLst/>
          </a:prstGeom>
          <a:solidFill>
            <a:srgbClr val="0F2138"/>
          </a:solidFill>
          <a:ln w="15240">
            <a:solidFill>
              <a:srgbClr val="5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5EE6A8"/>
                </a:solidFill>
                <a:latin typeface="Consolas"/>
              </a:defRPr>
            </a:pPr>
            <a:r>
              <a:t>03 · SAMUELE DE SANTIS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8046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1">
                <a:solidFill>
                  <a:srgbClr val="5EE6A8"/>
                </a:solidFill>
                <a:latin typeface="Consolas"/>
              </a:defRPr>
            </a:pPr>
            <a:r>
              <a:t>06 / POTERE ECONOMICO E COMPETITIVO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7FB"/>
                </a:solidFill>
                <a:latin typeface="Segoe UI"/>
              </a:defRPr>
            </a:pPr>
            <a:r>
              <a:t>Il gap cresce salendo di livello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A9B8CC"/>
                </a:solidFill>
                <a:latin typeface="Segoe UI"/>
              </a:defRPr>
            </a:pPr>
            <a:r>
              <a:t>Dalle asimmetrie retributive alle barriere d'accesso nei circuiti professionistici eSports.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88CA8"/>
                </a:solidFill>
                <a:latin typeface="Consolas"/>
              </a:defRPr>
            </a:pPr>
            <a:r>
              <a:t>Gender &amp; Inclusion · Università di Roma Tor Vergata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27648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88CA8"/>
                </a:solidFill>
                <a:latin typeface="Consolas"/>
              </a:defRPr>
            </a:pPr>
            <a:r>
              <a:t>07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29968"/>
            <a:ext cx="3332073" cy="22860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75688"/>
            <a:ext cx="59436" cy="2194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67128"/>
            <a:ext cx="296631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6B6B"/>
                </a:solidFill>
                <a:latin typeface="Consolas"/>
              </a:defRPr>
            </a:pPr>
            <a:r>
              <a:t>DIVARIO RETRIBUTIVO</a:t>
            </a:r>
          </a:p>
          <a:p>
            <a:pPr>
              <a:spcBef>
                <a:spcPts val="400"/>
              </a:spcBef>
              <a:defRPr sz="4200" b="1">
                <a:solidFill>
                  <a:srgbClr val="FF6B6B"/>
                </a:solidFill>
                <a:latin typeface="Consolas"/>
              </a:defRPr>
            </a:pPr>
            <a:r>
              <a:t>−24%</a:t>
            </a:r>
          </a:p>
          <a:p>
            <a:pPr>
              <a:spcBef>
                <a:spcPts val="200"/>
              </a:spcBef>
              <a:defRPr sz="1300" b="1">
                <a:solidFill>
                  <a:srgbClr val="F4F7FB"/>
                </a:solidFill>
                <a:latin typeface="Segoe UI"/>
              </a:defRPr>
            </a:pPr>
            <a:r>
              <a:t>gender pay gap medio negli studi USA</a:t>
            </a:r>
          </a:p>
          <a:p>
            <a:pPr>
              <a:spcBef>
                <a:spcPts val="400"/>
              </a:spcBef>
              <a:defRPr sz="1100">
                <a:solidFill>
                  <a:srgbClr val="A9B8CC"/>
                </a:solidFill>
                <a:latin typeface="Segoe UI"/>
              </a:defRPr>
            </a:pPr>
            <a:r>
              <a:t>Disparità salariale persistente a parità di livello e ore lavorate nel settore.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9353" y="2029968"/>
            <a:ext cx="3332073" cy="22860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9353" y="2075688"/>
            <a:ext cx="59436" cy="2194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2233" y="2167128"/>
            <a:ext cx="296631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6B6B"/>
                </a:solidFill>
                <a:latin typeface="Consolas"/>
              </a:defRPr>
            </a:pPr>
            <a:r>
              <a:t>SENIORITY &amp; COMPENSI</a:t>
            </a:r>
          </a:p>
          <a:p>
            <a:pPr>
              <a:spcBef>
                <a:spcPts val="400"/>
              </a:spcBef>
              <a:defRPr sz="3400" b="1">
                <a:solidFill>
                  <a:srgbClr val="FF6B6B"/>
                </a:solidFill>
                <a:latin typeface="Consolas"/>
              </a:defRPr>
            </a:pPr>
            <a:r>
              <a:t>68% vs 38%</a:t>
            </a:r>
          </a:p>
          <a:p>
            <a:pPr>
              <a:spcBef>
                <a:spcPts val="200"/>
              </a:spcBef>
              <a:defRPr sz="1300" b="1">
                <a:solidFill>
                  <a:srgbClr val="F4F7FB"/>
                </a:solidFill>
                <a:latin typeface="Segoe UI"/>
              </a:defRPr>
            </a:pPr>
            <a:r>
              <a:t>oltre 125k$ con 6+ anni di esperienza</a:t>
            </a:r>
          </a:p>
          <a:p>
            <a:pPr>
              <a:spcBef>
                <a:spcPts val="400"/>
              </a:spcBef>
              <a:defRPr sz="1100">
                <a:solidFill>
                  <a:srgbClr val="A9B8CC"/>
                </a:solidFill>
                <a:latin typeface="Segoe UI"/>
              </a:defRPr>
            </a:pPr>
            <a:r>
              <a:t>Divario netto nell'accesso alle fasce retributive di punta e bonus dirigenziali.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186" y="2029968"/>
            <a:ext cx="3332073" cy="22860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186" y="2075688"/>
            <a:ext cx="59436" cy="2194560"/>
          </a:xfrm>
          <a:prstGeom prst="rect">
            <a:avLst/>
          </a:prstGeom>
          <a:solidFill>
            <a:srgbClr val="37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066" y="2167128"/>
            <a:ext cx="296631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7D6E8"/>
                </a:solidFill>
                <a:latin typeface="Consolas"/>
              </a:defRPr>
            </a:pPr>
            <a:r>
              <a:t>PUBBLICO ESPORTS GLOBALE</a:t>
            </a:r>
          </a:p>
          <a:p>
            <a:pPr>
              <a:spcBef>
                <a:spcPts val="400"/>
              </a:spcBef>
              <a:defRPr sz="4200" b="1">
                <a:solidFill>
                  <a:srgbClr val="37D6E8"/>
                </a:solidFill>
                <a:latin typeface="Consolas"/>
              </a:defRPr>
            </a:pPr>
            <a:r>
              <a:t>33%</a:t>
            </a:r>
          </a:p>
          <a:p>
            <a:pPr>
              <a:spcBef>
                <a:spcPts val="200"/>
              </a:spcBef>
              <a:defRPr sz="1300" b="1">
                <a:solidFill>
                  <a:srgbClr val="F4F7FB"/>
                </a:solidFill>
                <a:latin typeface="Segoe UI"/>
              </a:defRPr>
            </a:pPr>
            <a:r>
              <a:t>Spettatrici femminili (Deloitte)</a:t>
            </a:r>
          </a:p>
          <a:p>
            <a:pPr>
              <a:spcBef>
                <a:spcPts val="400"/>
              </a:spcBef>
              <a:defRPr sz="1100">
                <a:solidFill>
                  <a:srgbClr val="A9B8CC"/>
                </a:solidFill>
                <a:latin typeface="Segoe UI"/>
              </a:defRPr>
            </a:pPr>
            <a:r>
              <a:t>Presenza attiva di giocatrici pro-player fortemente limitata dall'ostilità ambientale.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622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9B8CC"/>
                </a:solidFill>
                <a:latin typeface="Consolas"/>
              </a:defRPr>
            </a:pPr>
            <a:r>
              <a:t>SPAZI COMPETITIVI INCLUSIVI ED ECOSISTEMI PRO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73168"/>
            <a:ext cx="5180990" cy="128016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5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818888"/>
            <a:ext cx="59436" cy="1188720"/>
          </a:xfrm>
          <a:prstGeom prst="rect">
            <a:avLst/>
          </a:prstGeom>
          <a:solidFill>
            <a:srgbClr val="5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882896"/>
            <a:ext cx="477865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F4F7FB"/>
                </a:solidFill>
                <a:latin typeface="Segoe UI"/>
              </a:rPr>
              <a:t>◆ VCT Game Changers  </a:t>
            </a:r>
            <a:r>
              <a:rPr sz="1150" b="1">
                <a:solidFill>
                  <a:srgbClr val="5EE6A8"/>
                </a:solidFill>
                <a:latin typeface="Consolas"/>
              </a:rPr>
              <a:t>[Valorant · Riot Games]</a:t>
            </a:r>
          </a:p>
          <a:p>
            <a:pPr>
              <a:spcBef>
                <a:spcPts val="600"/>
              </a:spcBef>
              <a:defRPr sz="1150">
                <a:solidFill>
                  <a:srgbClr val="A9B8CC"/>
                </a:solidFill>
                <a:latin typeface="Segoe UI"/>
              </a:defRPr>
            </a:pPr>
            <a:r>
              <a:t>Circuito professionistico ufficiale e Academy dedicato per creare visibilità, stipendi dignitosi e carriere esports sostenibili per donne e minoranze di genere.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270" y="4773168"/>
            <a:ext cx="5180990" cy="128016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5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8270" y="4818888"/>
            <a:ext cx="59436" cy="1188720"/>
          </a:xfrm>
          <a:prstGeom prst="rect">
            <a:avLst/>
          </a:prstGeom>
          <a:solidFill>
            <a:srgbClr val="5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9438" y="4882896"/>
            <a:ext cx="477865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F4F7FB"/>
                </a:solidFill>
                <a:latin typeface="Segoe UI"/>
              </a:rPr>
              <a:t>◆ ESL Impact  </a:t>
            </a:r>
            <a:r>
              <a:rPr sz="1150" b="1">
                <a:solidFill>
                  <a:srgbClr val="5EE6A8"/>
                </a:solidFill>
                <a:latin typeface="Consolas"/>
              </a:rPr>
              <a:t>[Counter-Strike · ESL]</a:t>
            </a:r>
          </a:p>
          <a:p>
            <a:pPr>
              <a:spcBef>
                <a:spcPts val="600"/>
              </a:spcBef>
              <a:defRPr sz="1150">
                <a:solidFill>
                  <a:srgbClr val="A9B8CC"/>
                </a:solidFill>
                <a:latin typeface="Segoe UI"/>
              </a:defRPr>
            </a:pPr>
            <a:r>
              <a:t>Ecosistema competitivo globale dedicato con montepremi dedicati per abbattere le storiche barriere d'ingresso nel panorama competitivo storico di CS2.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384048"/>
            <a:ext cx="2499055" cy="347472"/>
          </a:xfrm>
          <a:prstGeom prst="roundRect">
            <a:avLst/>
          </a:prstGeom>
          <a:solidFill>
            <a:srgbClr val="0F2138"/>
          </a:solidFill>
          <a:ln w="15240">
            <a:solidFill>
              <a:srgbClr val="5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5EE6A8"/>
                </a:solidFill>
                <a:latin typeface="Consolas"/>
              </a:defRPr>
            </a:pPr>
            <a:r>
              <a:t>03 · SAMUELE DE SANTIS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8046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1">
                <a:solidFill>
                  <a:srgbClr val="5EE6A8"/>
                </a:solidFill>
                <a:latin typeface="Consolas"/>
              </a:defRPr>
            </a:pPr>
            <a:r>
              <a:t>07 / DALLA DIVERSITÀ ALL'INCLUSIONE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7FB"/>
                </a:solidFill>
                <a:latin typeface="Segoe UI"/>
              </a:defRPr>
            </a:pPr>
            <a:r>
              <a:t>Non basta essere presenti: bisogna poter partecipare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A9B8CC"/>
                </a:solidFill>
                <a:latin typeface="Segoe UI"/>
              </a:defRPr>
            </a:pPr>
            <a:r>
              <a:t>Dalla semplice rappresentazione numerica alla progettazione attiva di spazi e ambienti equi.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88CA8"/>
                </a:solidFill>
                <a:latin typeface="Consolas"/>
              </a:defRPr>
            </a:pPr>
            <a:r>
              <a:t>Gender &amp; Inclusion · Università di Roma Tor Vergata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27648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88CA8"/>
                </a:solidFill>
                <a:latin typeface="Consolas"/>
              </a:defRPr>
            </a:pPr>
            <a:r>
              <a:t>08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84831"/>
            <a:ext cx="3332073" cy="340156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30551"/>
            <a:ext cx="59436" cy="3310128"/>
          </a:xfrm>
          <a:prstGeom prst="rect">
            <a:avLst/>
          </a:prstGeom>
          <a:solidFill>
            <a:srgbClr val="37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49423"/>
            <a:ext cx="2929737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37D6E8"/>
                </a:solidFill>
                <a:latin typeface="Consolas"/>
              </a:defRPr>
            </a:pPr>
            <a:r>
              <a:t>01</a:t>
            </a:r>
          </a:p>
          <a:p>
            <a:pPr>
              <a:defRPr sz="1900" b="1">
                <a:solidFill>
                  <a:srgbClr val="F4F7FB"/>
                </a:solidFill>
                <a:latin typeface="Segoe UI"/>
              </a:defRPr>
            </a:pPr>
            <a:r>
              <a:t>DESIGN INCLUSIVO</a:t>
            </a:r>
          </a:p>
          <a:p>
            <a:pPr>
              <a:spcAft>
                <a:spcPts val="1200"/>
              </a:spcAft>
              <a:defRPr sz="1100" b="1">
                <a:solidFill>
                  <a:srgbClr val="37D6E8"/>
                </a:solidFill>
                <a:latin typeface="Consolas"/>
              </a:defRPr>
            </a:pPr>
            <a:r>
              <a:t>[Architettura &amp; Personaggi]</a:t>
            </a:r>
          </a:p>
          <a:p>
            <a:pPr>
              <a:spcBef>
                <a:spcPts val="600"/>
              </a:spcBef>
              <a:defRPr sz="1200">
                <a:solidFill>
                  <a:srgbClr val="A9B8CC"/>
                </a:solidFill>
                <a:latin typeface="Segoe UI"/>
              </a:defRPr>
            </a:pPr>
            <a:r>
              <a:t>• Personaggi e trame narrativi liberi da stereotipi riduttivi.</a:t>
            </a:r>
          </a:p>
          <a:p>
            <a:pPr>
              <a:spcBef>
                <a:spcPts val="600"/>
              </a:spcBef>
              <a:defRPr sz="1200">
                <a:solidFill>
                  <a:srgbClr val="A9B8CC"/>
                </a:solidFill>
                <a:latin typeface="Segoe UI"/>
              </a:defRPr>
            </a:pPr>
            <a:r>
              <a:t>• Sistemi di personalizzazione modulari e slegati da binarismi estetici.</a:t>
            </a:r>
          </a:p>
          <a:p>
            <a:pPr>
              <a:spcBef>
                <a:spcPts val="600"/>
              </a:spcBef>
              <a:defRPr sz="1200">
                <a:solidFill>
                  <a:srgbClr val="A9B8CC"/>
                </a:solidFill>
                <a:latin typeface="Segoe UI"/>
              </a:defRPr>
            </a:pPr>
            <a:r>
              <a:t>• Meccaniche e stili di gioco che premiano approcci diversificati.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9353" y="2084831"/>
            <a:ext cx="3332073" cy="340156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9353" y="2130551"/>
            <a:ext cx="59436" cy="33101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0521" y="2249423"/>
            <a:ext cx="2929737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A78BFA"/>
                </a:solidFill>
                <a:latin typeface="Consolas"/>
              </a:defRPr>
            </a:pPr>
            <a:r>
              <a:t>02</a:t>
            </a:r>
          </a:p>
          <a:p>
            <a:pPr>
              <a:defRPr sz="1900" b="1">
                <a:solidFill>
                  <a:srgbClr val="F4F7FB"/>
                </a:solidFill>
                <a:latin typeface="Segoe UI"/>
              </a:defRPr>
            </a:pPr>
            <a:r>
              <a:t>COMMUNITY SICURE</a:t>
            </a:r>
          </a:p>
          <a:p>
            <a:pPr>
              <a:spcAft>
                <a:spcPts val="1200"/>
              </a:spcAft>
              <a:defRPr sz="1100" b="1">
                <a:solidFill>
                  <a:srgbClr val="A78BFA"/>
                </a:solidFill>
                <a:latin typeface="Consolas"/>
              </a:defRPr>
            </a:pPr>
            <a:r>
              <a:t>[Infrastruttura &amp; Moderazione]</a:t>
            </a:r>
          </a:p>
          <a:p>
            <a:pPr>
              <a:spcBef>
                <a:spcPts val="600"/>
              </a:spcBef>
              <a:defRPr sz="1200">
                <a:solidFill>
                  <a:srgbClr val="A9B8CC"/>
                </a:solidFill>
                <a:latin typeface="Segoe UI"/>
              </a:defRPr>
            </a:pPr>
            <a:r>
              <a:t>• Moderazione proattiva basata su machine learning e reporting chiaro.</a:t>
            </a:r>
          </a:p>
          <a:p>
            <a:pPr>
              <a:spcBef>
                <a:spcPts val="600"/>
              </a:spcBef>
              <a:defRPr sz="1200">
                <a:solidFill>
                  <a:srgbClr val="A9B8CC"/>
                </a:solidFill>
                <a:latin typeface="Segoe UI"/>
              </a:defRPr>
            </a:pPr>
            <a:r>
              <a:t>• Tolleranza zero per sessismo e molestie verbali in voice chat.</a:t>
            </a:r>
          </a:p>
          <a:p>
            <a:pPr>
              <a:spcBef>
                <a:spcPts val="600"/>
              </a:spcBef>
              <a:defRPr sz="1200">
                <a:solidFill>
                  <a:srgbClr val="A9B8CC"/>
                </a:solidFill>
                <a:latin typeface="Segoe UI"/>
              </a:defRPr>
            </a:pPr>
            <a:r>
              <a:t>• Algoritmi di matchmaking guidati da indicatori di affidabilità comportamentale.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186" y="2084831"/>
            <a:ext cx="3332073" cy="340156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5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186" y="2130551"/>
            <a:ext cx="59436" cy="3310128"/>
          </a:xfrm>
          <a:prstGeom prst="rect">
            <a:avLst/>
          </a:prstGeom>
          <a:solidFill>
            <a:srgbClr val="5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8354" y="2249423"/>
            <a:ext cx="2929737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5EE6A8"/>
                </a:solidFill>
                <a:latin typeface="Consolas"/>
              </a:defRPr>
            </a:pPr>
            <a:r>
              <a:t>03</a:t>
            </a:r>
          </a:p>
          <a:p>
            <a:pPr>
              <a:defRPr sz="1900" b="1">
                <a:solidFill>
                  <a:srgbClr val="F4F7FB"/>
                </a:solidFill>
                <a:latin typeface="Segoe UI"/>
              </a:defRPr>
            </a:pPr>
            <a:r>
              <a:t>OPPORTUNITÀ EQUE</a:t>
            </a:r>
          </a:p>
          <a:p>
            <a:pPr>
              <a:spcAft>
                <a:spcPts val="1200"/>
              </a:spcAft>
              <a:defRPr sz="1100" b="1">
                <a:solidFill>
                  <a:srgbClr val="5EE6A8"/>
                </a:solidFill>
                <a:latin typeface="Consolas"/>
              </a:defRPr>
            </a:pPr>
            <a:r>
              <a:t>[Carriere &amp; Competizione]</a:t>
            </a:r>
          </a:p>
          <a:p>
            <a:pPr>
              <a:spcBef>
                <a:spcPts val="600"/>
              </a:spcBef>
              <a:defRPr sz="1200">
                <a:solidFill>
                  <a:srgbClr val="A9B8CC"/>
                </a:solidFill>
                <a:latin typeface="Segoe UI"/>
              </a:defRPr>
            </a:pPr>
            <a:r>
              <a:t>• Accesso paritario ai ruoli tecnici core e programming (UE).</a:t>
            </a:r>
          </a:p>
          <a:p>
            <a:pPr>
              <a:spcBef>
                <a:spcPts val="600"/>
              </a:spcBef>
              <a:defRPr sz="1200">
                <a:solidFill>
                  <a:srgbClr val="A9B8CC"/>
                </a:solidFill>
                <a:latin typeface="Segoe UI"/>
              </a:defRPr>
            </a:pPr>
            <a:r>
              <a:t>• Promozione di percorsi di leadership tecnica e trasparenza salariale.</a:t>
            </a:r>
          </a:p>
          <a:p>
            <a:pPr>
              <a:spcBef>
                <a:spcPts val="600"/>
              </a:spcBef>
              <a:defRPr sz="1200">
                <a:solidFill>
                  <a:srgbClr val="A9B8CC"/>
                </a:solidFill>
                <a:latin typeface="Segoe UI"/>
              </a:defRPr>
            </a:pPr>
            <a:r>
              <a:t>• Supporto ai circuiti professionistici eSports protetti e Academy.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669280"/>
            <a:ext cx="50292" cy="475488"/>
          </a:xfrm>
          <a:prstGeom prst="rect">
            <a:avLst/>
          </a:prstGeom>
          <a:solidFill>
            <a:srgbClr val="5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632704"/>
            <a:ext cx="1056406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>
                <a:solidFill>
                  <a:srgbClr val="F4F7FB"/>
                </a:solidFill>
                <a:latin typeface="Segoe UI"/>
              </a:rPr>
              <a:t>L'inclusione non è un'aggiunta al prodotto: è un </a:t>
            </a:r>
            <a:r>
              <a:rPr sz="1700" b="1">
                <a:solidFill>
                  <a:srgbClr val="5EE6A8"/>
                </a:solidFill>
                <a:latin typeface="Segoe UI"/>
              </a:rPr>
              <a:t>requisito fondamentale di progettazione.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384048"/>
            <a:ext cx="2499055" cy="347472"/>
          </a:xfrm>
          <a:prstGeom prst="roundRect">
            <a:avLst/>
          </a:prstGeom>
          <a:solidFill>
            <a:srgbClr val="0F2138"/>
          </a:solidFill>
          <a:ln w="15240">
            <a:solidFill>
              <a:srgbClr val="5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5EE6A8"/>
                </a:solidFill>
                <a:latin typeface="Consolas"/>
              </a:defRPr>
            </a:pPr>
            <a:r>
              <a:t>03 · SAMUELE DE SANTIS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8046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1">
                <a:solidFill>
                  <a:srgbClr val="5EE6A8"/>
                </a:solidFill>
                <a:latin typeface="Consolas"/>
              </a:defRPr>
            </a:pPr>
            <a:r>
              <a:t>08 / SINTESI E CONCLUSIONI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4F7FB"/>
                </a:solidFill>
                <a:latin typeface="Segoe UI"/>
              </a:defRPr>
            </a:pPr>
            <a:r>
              <a:t>La presenza non è ancora piena inclusione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A9B8CC"/>
                </a:solidFill>
                <a:latin typeface="Segoe UI"/>
              </a:defRPr>
            </a:pPr>
            <a:r>
              <a:t>Sintesi del percorso: dai dati di mercato alla sfida culturale e ingegneristica per il futuro.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88CA8"/>
                </a:solidFill>
                <a:latin typeface="Consolas"/>
              </a:defRPr>
            </a:pPr>
            <a:r>
              <a:t>Gender &amp; Inclusion · Università di Roma Tor Vergata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27648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88CA8"/>
                </a:solidFill>
                <a:latin typeface="Consolas"/>
              </a:defRPr>
            </a:pPr>
            <a:r>
              <a:t>09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1"/>
            <a:ext cx="6217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4F7FB"/>
                </a:solidFill>
                <a:latin typeface="Segoe UI"/>
              </a:rPr>
              <a:t>Le donne nel gaming </a:t>
            </a:r>
            <a:r>
              <a:rPr sz="3600" b="1">
                <a:solidFill>
                  <a:srgbClr val="37D6E8"/>
                </a:solidFill>
                <a:latin typeface="Segoe UI"/>
              </a:rPr>
              <a:t>ci sono già.</a:t>
            </a:r>
          </a:p>
          <a:p>
            <a:pPr>
              <a:spcBef>
                <a:spcPts val="1400"/>
              </a:spcBef>
              <a:defRPr sz="1500">
                <a:solidFill>
                  <a:srgbClr val="A9B8CC"/>
                </a:solidFill>
                <a:latin typeface="Segoe UI"/>
              </a:defRPr>
            </a:pPr>
            <a:r>
              <a:t>La sfida non consiste nell'attrarre un pubblico che già partecipa quotidianamente con passione e competenza, ma nel trasformare l'intero ecosistema tecnologico affinché tutte e tutti possano viverlo, lavorarci e competere alle medesime condizioni di sicurezza, rispetto e pari opportunità.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87367"/>
            <a:ext cx="50292" cy="5669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50791"/>
            <a:ext cx="605332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>
                <a:solidFill>
                  <a:srgbClr val="F4F7FB"/>
                </a:solidFill>
                <a:latin typeface="Segoe UI"/>
              </a:rPr>
              <a:t>L’inclusione parte dalla </a:t>
            </a:r>
            <a:r>
              <a:rPr sz="1700" b="1">
                <a:solidFill>
                  <a:srgbClr val="A78BFA"/>
                </a:solidFill>
                <a:latin typeface="Segoe UI"/>
              </a:rPr>
              <a:t>valorizzazione dell’unicità della persona.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19471"/>
            <a:ext cx="4389120" cy="329184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050" b="1">
                <a:solidFill>
                  <a:srgbClr val="A78BFA"/>
                </a:solidFill>
                <a:latin typeface="Consolas"/>
              </a:defRPr>
            </a:pPr>
            <a:r>
              <a:t>● GENDER &amp; INCLUSION · TOR VERGATA · 2025–2026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084831"/>
            <a:ext cx="4144975" cy="356616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2130551"/>
            <a:ext cx="59436" cy="3474720"/>
          </a:xfrm>
          <a:prstGeom prst="rect">
            <a:avLst/>
          </a:prstGeom>
          <a:solidFill>
            <a:srgbClr val="37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231135"/>
            <a:ext cx="3687775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7D6E8"/>
                </a:solidFill>
                <a:latin typeface="Consolas"/>
              </a:defRPr>
            </a:pPr>
            <a:r>
              <a:t>⚡ FONTI PRINCIPALI &amp; ACCADEMICHE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37D6E8"/>
                </a:solidFill>
                <a:latin typeface="Consolas"/>
              </a:rPr>
              <a:t>• ESA (2025) — </a:t>
            </a:r>
            <a:r>
              <a:rPr sz="1100">
                <a:solidFill>
                  <a:srgbClr val="A9B8CC"/>
                </a:solidFill>
                <a:latin typeface="Segoe UI"/>
              </a:rPr>
              <a:t>Global Power of Play Report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37D6E8"/>
                </a:solidFill>
                <a:latin typeface="Consolas"/>
              </a:rPr>
              <a:t>• ADL (2024) — </a:t>
            </a:r>
            <a:r>
              <a:rPr sz="1100">
                <a:solidFill>
                  <a:srgbClr val="A9B8CC"/>
                </a:solidFill>
                <a:latin typeface="Segoe UI"/>
              </a:rPr>
              <a:t>Hate is No Game Report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37D6E8"/>
                </a:solidFill>
                <a:latin typeface="Consolas"/>
              </a:rPr>
              <a:t>• IIDEA (2025) — </a:t>
            </a:r>
            <a:r>
              <a:rPr sz="1100">
                <a:solidFill>
                  <a:srgbClr val="A9B8CC"/>
                </a:solidFill>
                <a:latin typeface="Segoe UI"/>
              </a:rPr>
              <a:t>I videogiochi in Italia nel 2024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37D6E8"/>
                </a:solidFill>
                <a:latin typeface="Consolas"/>
              </a:rPr>
              <a:t>• GDC (2025) — </a:t>
            </a:r>
            <a:r>
              <a:rPr sz="1100">
                <a:solidFill>
                  <a:srgbClr val="A9B8CC"/>
                </a:solidFill>
                <a:latin typeface="Segoe UI"/>
              </a:rPr>
              <a:t>State of the Game Industry Report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37D6E8"/>
                </a:solidFill>
                <a:latin typeface="Consolas"/>
              </a:rPr>
              <a:t>• VGE (2024) — </a:t>
            </a:r>
            <a:r>
              <a:rPr sz="1100">
                <a:solidFill>
                  <a:srgbClr val="A9B8CC"/>
                </a:solidFill>
                <a:latin typeface="Segoe UI"/>
              </a:rPr>
              <a:t>Key Facts Report (GameTrack)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37D6E8"/>
                </a:solidFill>
                <a:latin typeface="Consolas"/>
              </a:rPr>
              <a:t>• Wells et al. (2025) — </a:t>
            </a:r>
            <a:r>
              <a:rPr sz="1100">
                <a:solidFill>
                  <a:srgbClr val="A9B8CC"/>
                </a:solidFill>
                <a:latin typeface="Segoe UI"/>
              </a:rPr>
              <a:t>Frontiers in Psychology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37D6E8"/>
                </a:solidFill>
                <a:latin typeface="Consolas"/>
              </a:rPr>
              <a:t>• Botto (2025) — </a:t>
            </a:r>
            <a:r>
              <a:rPr sz="1100">
                <a:solidFill>
                  <a:srgbClr val="A9B8CC"/>
                </a:solidFill>
                <a:latin typeface="Segoe UI"/>
              </a:rPr>
              <a:t>AboutGender Journal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9B8CC"/>
                </a:solidFill>
                <a:latin typeface="Consolas"/>
              </a:defRPr>
            </a:pPr>
            <a:r>
              <a:t>DOSSIER ACCADEMICO COMPLETO CON BIBLIOGRAFIA IN FORMATO APA DISPONIBILE NEGLI ATTI DEL CORSO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