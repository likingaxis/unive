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f0ca85af6145cf" /><Relationship Type="http://schemas.openxmlformats.org/officeDocument/2006/relationships/extended-properties" Target="/docProps/app.xml" Id="R3badd1a92f2a4b79" /><Relationship Type="http://schemas.openxmlformats.org/officeDocument/2006/relationships/officeDocument" Target="/ppt/presentation.xml" Id="Rcde8c10f528e49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3bf3dff0fc437b"/>
  </p:sldMasterIdLst>
  <p:notesMasterIdLst>
    <p:notesMasterId xmlns:r="http://schemas.openxmlformats.org/officeDocument/2006/relationships" r:id="R3534890f96b14ed5"/>
  </p:notesMasterIdLst>
  <p:sldIdLst>
    <p:sldId xmlns:r="http://schemas.openxmlformats.org/officeDocument/2006/relationships" id="256" r:id="Ra6411a8c5f1e44f9"/>
    <p:sldId xmlns:r="http://schemas.openxmlformats.org/officeDocument/2006/relationships" id="257" r:id="R82cc86e69d944967"/>
    <p:sldId xmlns:r="http://schemas.openxmlformats.org/officeDocument/2006/relationships" id="258" r:id="R40cd2268d7ee40e8"/>
    <p:sldId xmlns:r="http://schemas.openxmlformats.org/officeDocument/2006/relationships" id="259" r:id="R0ed037e723144f1d"/>
    <p:sldId xmlns:r="http://schemas.openxmlformats.org/officeDocument/2006/relationships" id="260" r:id="R32b73798173e4cd8"/>
    <p:sldId xmlns:r="http://schemas.openxmlformats.org/officeDocument/2006/relationships" id="261" r:id="R7ae7686721c6499c"/>
    <p:sldId xmlns:r="http://schemas.openxmlformats.org/officeDocument/2006/relationships" id="262" r:id="R6ec1f97009794994"/>
    <p:sldId xmlns:r="http://schemas.openxmlformats.org/officeDocument/2006/relationships" id="263" r:id="R6bb61c68d5f24642"/>
    <p:sldId xmlns:r="http://schemas.openxmlformats.org/officeDocument/2006/relationships" id="264" r:id="R24d7651674ec430a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b19487e3ab416f" /><Relationship Type="http://schemas.openxmlformats.org/officeDocument/2006/relationships/slideMaster" Target="/ppt/slideMasters/slideMaster1.xml" Id="R413bf3dff0fc437b" /><Relationship Type="http://schemas.openxmlformats.org/officeDocument/2006/relationships/notesMaster" Target="/ppt/notesMasters/notesMaster1.xml" Id="R3534890f96b14ed5" /><Relationship Type="http://schemas.openxmlformats.org/officeDocument/2006/relationships/presProps" Target="/ppt/presProps.xml" Id="R989225af3fef4eb7" /><Relationship Type="http://schemas.openxmlformats.org/officeDocument/2006/relationships/tableStyles" Target="/ppt/tableStyles.xml" Id="R4846e4e22b094925" /><Relationship Type="http://schemas.openxmlformats.org/officeDocument/2006/relationships/slide" Target="/ppt/slides/slide1.xml" Id="Ra6411a8c5f1e44f9" /><Relationship Type="http://schemas.openxmlformats.org/officeDocument/2006/relationships/slide" Target="/ppt/slides/slide2.xml" Id="R82cc86e69d944967" /><Relationship Type="http://schemas.openxmlformats.org/officeDocument/2006/relationships/slide" Target="/ppt/slides/slide3.xml" Id="R40cd2268d7ee40e8" /><Relationship Type="http://schemas.openxmlformats.org/officeDocument/2006/relationships/slide" Target="/ppt/slides/slide4.xml" Id="R0ed037e723144f1d" /><Relationship Type="http://schemas.openxmlformats.org/officeDocument/2006/relationships/slide" Target="/ppt/slides/slide5.xml" Id="R32b73798173e4cd8" /><Relationship Type="http://schemas.openxmlformats.org/officeDocument/2006/relationships/slide" Target="/ppt/slides/slide6.xml" Id="R7ae7686721c6499c" /><Relationship Type="http://schemas.openxmlformats.org/officeDocument/2006/relationships/slide" Target="/ppt/slides/slide7.xml" Id="R6ec1f97009794994" /><Relationship Type="http://schemas.openxmlformats.org/officeDocument/2006/relationships/slide" Target="/ppt/slides/slide8.xml" Id="R6bb61c68d5f24642" /><Relationship Type="http://schemas.openxmlformats.org/officeDocument/2006/relationships/slide" Target="/ppt/slides/slide9.xml" Id="R24d7651674ec43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a87b183d8b47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a49c63b66947cc" /><Relationship Type="http://schemas.openxmlformats.org/officeDocument/2006/relationships/notesMaster" Target="/ppt/notesMasters/notesMaster1.xml" Id="R16d1f2fa423346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63afcada2b42b9" /><Relationship Type="http://schemas.openxmlformats.org/officeDocument/2006/relationships/notesMaster" Target="/ppt/notesMasters/notesMaster1.xml" Id="Rdaef3679546848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712906ac3f4209" /><Relationship Type="http://schemas.openxmlformats.org/officeDocument/2006/relationships/notesMaster" Target="/ppt/notesMasters/notesMaster1.xml" Id="Rfd411832b2a84a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6137d9f48b4f50" /><Relationship Type="http://schemas.openxmlformats.org/officeDocument/2006/relationships/notesMaster" Target="/ppt/notesMasters/notesMaster1.xml" Id="R347cb71c9fa848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608efead934d1d" /><Relationship Type="http://schemas.openxmlformats.org/officeDocument/2006/relationships/notesMaster" Target="/ppt/notesMasters/notesMaster1.xml" Id="R46f8b4e8150d46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f801f0f8f14f88" /><Relationship Type="http://schemas.openxmlformats.org/officeDocument/2006/relationships/notesMaster" Target="/ppt/notesMasters/notesMaster1.xml" Id="R543f602f116144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137ed003af463b" /><Relationship Type="http://schemas.openxmlformats.org/officeDocument/2006/relationships/notesMaster" Target="/ppt/notesMasters/notesMaster1.xml" Id="R48051190c83747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1e264f8b414215" /><Relationship Type="http://schemas.openxmlformats.org/officeDocument/2006/relationships/notesMaster" Target="/ppt/notesMasters/notesMaster1.xml" Id="R1649f5e04ec947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c77708610f44ef" /><Relationship Type="http://schemas.openxmlformats.org/officeDocument/2006/relationships/notesMaster" Target="/ppt/notesMasters/notesMaster1.xml" Id="Rfe8033403c1045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Luca Gugliotta · 0:00–0:55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Buongiorno. Parliamo di donne, gaming e inclusione, concentrandoci su stereotipi, tossicità online, rappresentazione dei personaggi e lavoro nell’industria videoludica. Siamo studenti di Informatica: il videogioco è un prodotto software, un medium culturale e uno spazio sociale.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Fonti:</a:t>
            </a:r>
          </a:p>
          <a:p xmlns:a="http://schemas.openxmlformats.org/drawingml/2006/main">
            <a:r>
              <a:t>ESA 2025: https://www.theesa.com/resources/the-global-power-of-play-report/</a:t>
            </a:r>
          </a:p>
          <a:p xmlns:a="http://schemas.openxmlformats.org/drawingml/2006/main">
            <a:r>
              <a:t>IIDEA, dati 2024 (versione italiana): https://iideassociation.com/videogiochi-nel-2024-consumi-per-quasi-24-miliardi-di-euro-e-14-milioni-di-appassionati-cresce-il-made-in-italy-con-un-25-di-imprese-17-di-occupati-e-36-di-fatturato/</a:t>
            </a:r>
          </a:p>
          <a:p xmlns:a="http://schemas.openxmlformats.org/drawingml/2006/main">
            <a:r>
              <a:t>VGE, dati 2024: https://www.videogameseurope.eu/publication/annual-data-report-on-europes-video-games-sector-launched-at-gamescom/</a:t>
            </a:r>
          </a:p>
          <a:p xmlns:a="http://schemas.openxmlformats.org/drawingml/2006/main">
            <a:r>
              <a:t>ADL, indagine 2023: https://www.adl.org/resources/report/hate-no-game-hate-and-harassment-online-games-2023</a:t>
            </a:r>
          </a:p>
          <a:p xmlns:a="http://schemas.openxmlformats.org/drawingml/2006/main">
            <a:r>
              <a:t>Wells, Romhányi e Steinkuehler (2025): https://doi.org/10.3389/fpsyg.2024.1422422</a:t>
            </a:r>
          </a:p>
          <a:p xmlns:a="http://schemas.openxmlformats.org/drawingml/2006/main">
            <a:r>
              <a:t>Botto e Falzea (2025): https://doi.org/10.15167/2279-5057/AG2025.14.27.2485</a:t>
            </a:r>
          </a:p>
          <a:p xmlns:a="http://schemas.openxmlformats.org/drawingml/2006/main">
            <a:r>
              <a:t>GDC Salary Report 2025, p. 10: https://files.gameindustrylibrary.com/documents/2025-salary-report.pdf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Luca Gugliotta · 0:55–1:50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Voice chat, moderazione, matchmaking e avatar sono scelte tecniche che influenzano la partecipazione. Guardiamo a tre aspetti: chi gioca, cosa vediamo e chi sviluppa. Il modo in cui programmiamo uno spazio digitale influenza chi può parteciparvi.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Fonti:</a:t>
            </a:r>
          </a:p>
          <a:p xmlns:a="http://schemas.openxmlformats.org/drawingml/2006/main">
            <a:r>
              <a:t>ESA 2025: https://www.theesa.com/resources/the-global-power-of-play-report/</a:t>
            </a:r>
          </a:p>
          <a:p xmlns:a="http://schemas.openxmlformats.org/drawingml/2006/main">
            <a:r>
              <a:t>IIDEA, dati 2024 (versione italiana): https://iideassociation.com/videogiochi-nel-2024-consumi-per-quasi-24-miliardi-di-euro-e-14-milioni-di-appassionati-cresce-il-made-in-italy-con-un-25-di-imprese-17-di-occupati-e-36-di-fatturato/</a:t>
            </a:r>
          </a:p>
          <a:p xmlns:a="http://schemas.openxmlformats.org/drawingml/2006/main">
            <a:r>
              <a:t>VGE, dati 2024: https://www.videogameseurope.eu/publication/annual-data-report-on-europes-video-games-sector-launched-at-gamescom/</a:t>
            </a:r>
          </a:p>
          <a:p xmlns:a="http://schemas.openxmlformats.org/drawingml/2006/main">
            <a:r>
              <a:t>ADL, indagine 2023: https://www.adl.org/resources/report/hate-no-game-hate-and-harassment-online-games-2023</a:t>
            </a:r>
          </a:p>
          <a:p xmlns:a="http://schemas.openxmlformats.org/drawingml/2006/main">
            <a:r>
              <a:t>Wells, Romhányi e Steinkuehler (2025): https://doi.org/10.3389/fpsyg.2024.1422422</a:t>
            </a:r>
          </a:p>
          <a:p xmlns:a="http://schemas.openxmlformats.org/drawingml/2006/main">
            <a:r>
              <a:t>Botto e Falzea (2025): https://doi.org/10.15167/2279-5057/AG2025.14.27.2485</a:t>
            </a:r>
          </a:p>
          <a:p xmlns:a="http://schemas.openxmlformats.org/drawingml/2006/main">
            <a:r>
              <a:t>GDC Salary Report 2025, p. 10: https://files.gameindustrylibrary.com/documents/2025-salary-report.pdf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Luca Gugliotta · 1:50–3:20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ESA, Power of Play 2025: il 48% delle persone intervistate è donna. Il campione comprende 24.216 giocatori di almeno 16 anni in 21 paesi, attivi almeno un’ora a settimana. In Italia IIDEA rileva 5,7 milioni di videogiocatrici nel 2024, con crescita annua del 14% contro il 2,5% degli uomini. Il 47,8% europeo è mantenuto su richiesta dal progetto iniziale ma non è stato confermato: la pagina VGE sui dati 2024 riporta il 45%. Non presentarlo come dato verificato finché non si recupera il riferimento preciso. Le popolazioni rilevate non coincidono.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Fonti:</a:t>
            </a:r>
          </a:p>
          <a:p xmlns:a="http://schemas.openxmlformats.org/drawingml/2006/main">
            <a:r>
              <a:t>ESA 2025: https://www.theesa.com/resources/the-global-power-of-play-report/</a:t>
            </a:r>
          </a:p>
          <a:p xmlns:a="http://schemas.openxmlformats.org/drawingml/2006/main">
            <a:r>
              <a:t>IIDEA, dati 2024 (versione italiana): https://iideassociation.com/videogiochi-nel-2024-consumi-per-quasi-24-miliardi-di-euro-e-14-milioni-di-appassionati-cresce-il-made-in-italy-con-un-25-di-imprese-17-di-occupati-e-36-di-fatturato/</a:t>
            </a:r>
          </a:p>
          <a:p xmlns:a="http://schemas.openxmlformats.org/drawingml/2006/main">
            <a:r>
              <a:t>VGE, dati 2024: https://www.videogameseurope.eu/publication/annual-data-report-on-europes-video-games-sector-launched-at-gamescom/</a:t>
            </a:r>
          </a:p>
          <a:p xmlns:a="http://schemas.openxmlformats.org/drawingml/2006/main">
            <a:r>
              <a:t>ADL, indagine 2023: https://www.adl.org/resources/report/hate-no-game-hate-and-harassment-online-games-2023</a:t>
            </a:r>
          </a:p>
          <a:p xmlns:a="http://schemas.openxmlformats.org/drawingml/2006/main">
            <a:r>
              <a:t>Wells, Romhányi e Steinkuehler (2025): https://doi.org/10.3389/fpsyg.2024.1422422</a:t>
            </a:r>
          </a:p>
          <a:p xmlns:a="http://schemas.openxmlformats.org/drawingml/2006/main">
            <a:r>
              <a:t>Botto e Falzea (2025): https://doi.org/10.15167/2279-5057/AG2025.14.27.2485</a:t>
            </a:r>
          </a:p>
          <a:p xmlns:a="http://schemas.openxmlformats.org/drawingml/2006/main">
            <a:r>
              <a:t>GDC Salary Report 2025, p. 10: https://files.gameindustrylibrary.com/documents/2025-salary-report.pdf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Valerio Bernardi · 3:20–5:05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voce può rendere riconoscibile il genere e diventare il punto di partenza di molestie mirate. Nell’indagine ADL statunitense del 2023, il 48% delle giocatrici adulte intervistate segnala molestie legate al genere. Il 76% riguarda invece molestie di qualsiasi tipo tra gli adulti che giocano online. Evitare la voice chat limita la comunicazione con la squadra. Nickname neutri e gruppi chiusi illustrano altre forme di protezione. Wells, Romhányi e Steinkuehler (2025) studiano odio e molestie su un campione diverso, non sono la fonte delle due percentuali ADL. Botto e Falzea (2025) analizzano la persistenza delle culture di esclusione a dieci anni da Gamergate.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Fonti:</a:t>
            </a:r>
          </a:p>
          <a:p xmlns:a="http://schemas.openxmlformats.org/drawingml/2006/main">
            <a:r>
              <a:t>ESA 2025: https://www.theesa.com/resources/the-global-power-of-play-report/</a:t>
            </a:r>
          </a:p>
          <a:p xmlns:a="http://schemas.openxmlformats.org/drawingml/2006/main">
            <a:r>
              <a:t>IIDEA, dati 2024 (versione italiana): https://iideassociation.com/videogiochi-nel-2024-consumi-per-quasi-24-miliardi-di-euro-e-14-milioni-di-appassionati-cresce-il-made-in-italy-con-un-25-di-imprese-17-di-occupati-e-36-di-fatturato/</a:t>
            </a:r>
          </a:p>
          <a:p xmlns:a="http://schemas.openxmlformats.org/drawingml/2006/main">
            <a:r>
              <a:t>VGE, dati 2024: https://www.videogameseurope.eu/publication/annual-data-report-on-europes-video-games-sector-launched-at-gamescom/</a:t>
            </a:r>
          </a:p>
          <a:p xmlns:a="http://schemas.openxmlformats.org/drawingml/2006/main">
            <a:r>
              <a:t>ADL, indagine 2023: https://www.adl.org/resources/report/hate-no-game-hate-and-harassment-online-games-2023</a:t>
            </a:r>
          </a:p>
          <a:p xmlns:a="http://schemas.openxmlformats.org/drawingml/2006/main">
            <a:r>
              <a:t>Wells, Romhányi e Steinkuehler (2025): https://doi.org/10.3389/fpsyg.2024.1422422</a:t>
            </a:r>
          </a:p>
          <a:p xmlns:a="http://schemas.openxmlformats.org/drawingml/2006/main">
            <a:r>
              <a:t>Botto e Falzea (2025): https://doi.org/10.15167/2279-5057/AG2025.14.27.2485</a:t>
            </a:r>
          </a:p>
          <a:p xmlns:a="http://schemas.openxmlformats.org/drawingml/2006/main">
            <a:r>
              <a:t>GDC Salary Report 2025, p. 10: https://files.gameindustrylibrary.com/documents/2025-salary-report.pdf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Valerio Bernardi · 5:05–6:55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timeline presenta esempi, non un progresso lineare valido per tutti i giochi. Peach richiama il ruolo della principessa da salvare. Lara Croft, introdotta nel 1996, unisce autonomia e sessualizzazione: il render usato è di Tomb Raider IV (1999), non del primo gioco. Aloy, Senua, Ellie e Abby esemplificano protagoniste con storie, competenze e corpi diversi. In Baldur’s Gate 3 alcune dimensioni del personaggio, come corpo, voce e identità, sono personalizzabili separatamente. Da oggetto a soggetto della narrazione.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Fonti:</a:t>
            </a:r>
          </a:p>
          <a:p xmlns:a="http://schemas.openxmlformats.org/drawingml/2006/main">
            <a:r>
              <a:t>ESA 2025: https://www.theesa.com/resources/the-global-power-of-play-report/</a:t>
            </a:r>
          </a:p>
          <a:p xmlns:a="http://schemas.openxmlformats.org/drawingml/2006/main">
            <a:r>
              <a:t>IIDEA, dati 2024 (versione italiana): https://iideassociation.com/videogiochi-nel-2024-consumi-per-quasi-24-miliardi-di-euro-e-14-milioni-di-appassionati-cresce-il-made-in-italy-con-un-25-di-imprese-17-di-occupati-e-36-di-fatturato/</a:t>
            </a:r>
          </a:p>
          <a:p xmlns:a="http://schemas.openxmlformats.org/drawingml/2006/main">
            <a:r>
              <a:t>VGE, dati 2024: https://www.videogameseurope.eu/publication/annual-data-report-on-europes-video-games-sector-launched-at-gamescom/</a:t>
            </a:r>
          </a:p>
          <a:p xmlns:a="http://schemas.openxmlformats.org/drawingml/2006/main">
            <a:r>
              <a:t>ADL, indagine 2023: https://www.adl.org/resources/report/hate-no-game-hate-and-harassment-online-games-2023</a:t>
            </a:r>
          </a:p>
          <a:p xmlns:a="http://schemas.openxmlformats.org/drawingml/2006/main">
            <a:r>
              <a:t>Wells, Romhányi e Steinkuehler (2025): https://doi.org/10.3389/fpsyg.2024.1422422</a:t>
            </a:r>
          </a:p>
          <a:p xmlns:a="http://schemas.openxmlformats.org/drawingml/2006/main">
            <a:r>
              <a:t>Botto e Falzea (2025): https://doi.org/10.15167/2279-5057/AG2025.14.27.2485</a:t>
            </a:r>
          </a:p>
          <a:p xmlns:a="http://schemas.openxmlformats.org/drawingml/2006/main">
            <a:r>
              <a:t>GDC Salary Report 2025, p. 10: https://files.gameindustrylibrary.com/documents/2025-salary-report.pdf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Samuele De Santis · 6:55–8:05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 confronto mostra uno scarto tra pubblico e lavoro nell’industria, non il percorso di uno stesso gruppo di persone. ESA rileva il 48% di donne tra i giocatori del campione internazionale. IIDEA riporta il 23% di donne tra gli occupati italiani nel 2024. Il circa 25% GDC è una sintesi del progetto. Il ≈20% nei ruoli tecnici resta una stima del progetto senza una fonte specifica verificata: non attribuirlo genericamente all’Unione europea o al solo settore videoludico. La segregazione orizzontale riguarda la distribuzione tra professioni, quella verticale l’accesso alle posizioni decisionali.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Fonti:</a:t>
            </a:r>
          </a:p>
          <a:p xmlns:a="http://schemas.openxmlformats.org/drawingml/2006/main">
            <a:r>
              <a:t>ESA 2025: https://www.theesa.com/resources/the-global-power-of-play-report/</a:t>
            </a:r>
          </a:p>
          <a:p xmlns:a="http://schemas.openxmlformats.org/drawingml/2006/main">
            <a:r>
              <a:t>IIDEA, dati 2024 (versione italiana): https://iideassociation.com/videogiochi-nel-2024-consumi-per-quasi-24-miliardi-di-euro-e-14-milioni-di-appassionati-cresce-il-made-in-italy-con-un-25-di-imprese-17-di-occupati-e-36-di-fatturato/</a:t>
            </a:r>
          </a:p>
          <a:p xmlns:a="http://schemas.openxmlformats.org/drawingml/2006/main">
            <a:r>
              <a:t>VGE, dati 2024: https://www.videogameseurope.eu/publication/annual-data-report-on-europes-video-games-sector-launched-at-gamescom/</a:t>
            </a:r>
          </a:p>
          <a:p xmlns:a="http://schemas.openxmlformats.org/drawingml/2006/main">
            <a:r>
              <a:t>ADL, indagine 2023: https://www.adl.org/resources/report/hate-no-game-hate-and-harassment-online-games-2023</a:t>
            </a:r>
          </a:p>
          <a:p xmlns:a="http://schemas.openxmlformats.org/drawingml/2006/main">
            <a:r>
              <a:t>Wells, Romhányi e Steinkuehler (2025): https://doi.org/10.3389/fpsyg.2024.1422422</a:t>
            </a:r>
          </a:p>
          <a:p xmlns:a="http://schemas.openxmlformats.org/drawingml/2006/main">
            <a:r>
              <a:t>Botto e Falzea (2025): https://doi.org/10.15167/2279-5057/AG2025.14.27.2485</a:t>
            </a:r>
          </a:p>
          <a:p xmlns:a="http://schemas.openxmlformats.org/drawingml/2006/main">
            <a:r>
              <a:t>GDC Salary Report 2025, p. 10: https://files.gameindustrylibrary.com/documents/2025-salary-report.pdf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Samuele De Santis · 8:05–9:20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progressione è concettuale: retribuzione, carriera senior, competizione. Le tre misure non sono direttamente confrontabili. Il GDC Salary Report 2025, pagina 10, riporta un divario medio del 24% nel campione USA. Tra 75 game designer occupati con almeno sei anni di esperienza, il 68% degli uomini e il 38% di donne e persone non binarie riceve almeno 125.000 dollari annui: la differenza è di 30 punti percentuali. La cifra del 33% di pubblico esports femminile è conservata dal progetto ma manca il riferimento preciso. VCT Game Changers ed ESL Impact sono esempi di circuiti dedicati, senza assumere che eliminino da soli il divario o garantiscano il passaggio ai roster misti.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Fonti:</a:t>
            </a:r>
          </a:p>
          <a:p xmlns:a="http://schemas.openxmlformats.org/drawingml/2006/main">
            <a:r>
              <a:t>ESA 2025: https://www.theesa.com/resources/the-global-power-of-play-report/</a:t>
            </a:r>
          </a:p>
          <a:p xmlns:a="http://schemas.openxmlformats.org/drawingml/2006/main">
            <a:r>
              <a:t>IIDEA, dati 2024 (versione italiana): https://iideassociation.com/videogiochi-nel-2024-consumi-per-quasi-24-miliardi-di-euro-e-14-milioni-di-appassionati-cresce-il-made-in-italy-con-un-25-di-imprese-17-di-occupati-e-36-di-fatturato/</a:t>
            </a:r>
          </a:p>
          <a:p xmlns:a="http://schemas.openxmlformats.org/drawingml/2006/main">
            <a:r>
              <a:t>VGE, dati 2024: https://www.videogameseurope.eu/publication/annual-data-report-on-europes-video-games-sector-launched-at-gamescom/</a:t>
            </a:r>
          </a:p>
          <a:p xmlns:a="http://schemas.openxmlformats.org/drawingml/2006/main">
            <a:r>
              <a:t>ADL, indagine 2023: https://www.adl.org/resources/report/hate-no-game-hate-and-harassment-online-games-2023</a:t>
            </a:r>
          </a:p>
          <a:p xmlns:a="http://schemas.openxmlformats.org/drawingml/2006/main">
            <a:r>
              <a:t>Wells, Romhányi e Steinkuehler (2025): https://doi.org/10.3389/fpsyg.2024.1422422</a:t>
            </a:r>
          </a:p>
          <a:p xmlns:a="http://schemas.openxmlformats.org/drawingml/2006/main">
            <a:r>
              <a:t>Botto e Falzea (2025): https://doi.org/10.15167/2279-5057/AG2025.14.27.2485</a:t>
            </a:r>
          </a:p>
          <a:p xmlns:a="http://schemas.openxmlformats.org/drawingml/2006/main">
            <a:r>
              <a:t>GDC Salary Report 2025, p. 10: https://files.gameindustrylibrary.com/documents/2025-salary-report.pdf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Samuele De Santis · 9:20–10:35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Diversità significa riconoscere la varietà delle persone presenti. Inclusione significa creare le condizioni per partecipare. Per chi sviluppa questo implica scelte concrete: avatar e accessibilità, strumenti per segnalare e gestire molestie, criteri trasparenti per accesso e crescita professionale. L’inclusione è un requisito di progettazione.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Fonti:</a:t>
            </a:r>
          </a:p>
          <a:p xmlns:a="http://schemas.openxmlformats.org/drawingml/2006/main">
            <a:r>
              <a:t>ESA 2025: https://www.theesa.com/resources/the-global-power-of-play-report/</a:t>
            </a:r>
          </a:p>
          <a:p xmlns:a="http://schemas.openxmlformats.org/drawingml/2006/main">
            <a:r>
              <a:t>IIDEA, dati 2024 (versione italiana): https://iideassociation.com/videogiochi-nel-2024-consumi-per-quasi-24-miliardi-di-euro-e-14-milioni-di-appassionati-cresce-il-made-in-italy-con-un-25-di-imprese-17-di-occupati-e-36-di-fatturato/</a:t>
            </a:r>
          </a:p>
          <a:p xmlns:a="http://schemas.openxmlformats.org/drawingml/2006/main">
            <a:r>
              <a:t>VGE, dati 2024: https://www.videogameseurope.eu/publication/annual-data-report-on-europes-video-games-sector-launched-at-gamescom/</a:t>
            </a:r>
          </a:p>
          <a:p xmlns:a="http://schemas.openxmlformats.org/drawingml/2006/main">
            <a:r>
              <a:t>ADL, indagine 2023: https://www.adl.org/resources/report/hate-no-game-hate-and-harassment-online-games-2023</a:t>
            </a:r>
          </a:p>
          <a:p xmlns:a="http://schemas.openxmlformats.org/drawingml/2006/main">
            <a:r>
              <a:t>Wells, Romhányi e Steinkuehler (2025): https://doi.org/10.3389/fpsyg.2024.1422422</a:t>
            </a:r>
          </a:p>
          <a:p xmlns:a="http://schemas.openxmlformats.org/drawingml/2006/main">
            <a:r>
              <a:t>Botto e Falzea (2025): https://doi.org/10.15167/2279-5057/AG2025.14.27.2485</a:t>
            </a:r>
          </a:p>
          <a:p xmlns:a="http://schemas.openxmlformats.org/drawingml/2006/main">
            <a:r>
              <a:t>GDC Salary Report 2025, p. 10: https://files.gameindustrylibrary.com/documents/2025-salary-report.pdf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Samuele De Santis · 10:35–11:15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 donne nel gaming ci sono già. La presenza non si traduce ancora in pari riconoscimento e opportunità. Il videogioco ci fa scegliere e agire attraverso un personaggio e può mettere in discussione gli stereotipi. Come informatici contribuiamo a definire le possibilità e i limiti di questi ambienti. Sappiamo progettare spazi in cui tutte le persone possano partecipare alle stesse condizioni?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Fonti:</a:t>
            </a:r>
          </a:p>
          <a:p xmlns:a="http://schemas.openxmlformats.org/drawingml/2006/main">
            <a:r>
              <a:t>ESA 2025: https://www.theesa.com/resources/the-global-power-of-play-report/</a:t>
            </a:r>
          </a:p>
          <a:p xmlns:a="http://schemas.openxmlformats.org/drawingml/2006/main">
            <a:r>
              <a:t>IIDEA, dati 2024 (versione italiana): https://iideassociation.com/videogiochi-nel-2024-consumi-per-quasi-24-miliardi-di-euro-e-14-milioni-di-appassionati-cresce-il-made-in-italy-con-un-25-di-imprese-17-di-occupati-e-36-di-fatturato/</a:t>
            </a:r>
          </a:p>
          <a:p xmlns:a="http://schemas.openxmlformats.org/drawingml/2006/main">
            <a:r>
              <a:t>VGE, dati 2024: https://www.videogameseurope.eu/publication/annual-data-report-on-europes-video-games-sector-launched-at-gamescom/</a:t>
            </a:r>
          </a:p>
          <a:p xmlns:a="http://schemas.openxmlformats.org/drawingml/2006/main">
            <a:r>
              <a:t>ADL, indagine 2023: https://www.adl.org/resources/report/hate-no-game-hate-and-harassment-online-games-2023</a:t>
            </a:r>
          </a:p>
          <a:p xmlns:a="http://schemas.openxmlformats.org/drawingml/2006/main">
            <a:r>
              <a:t>Wells, Romhányi e Steinkuehler (2025): https://doi.org/10.3389/fpsyg.2024.1422422</a:t>
            </a:r>
          </a:p>
          <a:p xmlns:a="http://schemas.openxmlformats.org/drawingml/2006/main">
            <a:r>
              <a:t>Botto e Falzea (2025): https://doi.org/10.15167/2279-5057/AG2025.14.27.2485</a:t>
            </a:r>
          </a:p>
          <a:p xmlns:a="http://schemas.openxmlformats.org/drawingml/2006/main">
            <a:r>
              <a:t>GDC Salary Report 2025, p. 10: https://files.gameindustrylibrary.com/documents/2025-salary-report.pdf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932253a354d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5413a3643d498f" /><Relationship Type="http://schemas.openxmlformats.org/officeDocument/2006/relationships/slideLayout" Target="/ppt/slideLayouts/slideLayout1.xml" Id="Ra85841bbf16046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5841bbf16046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15c2abeb84828" /><Relationship Type="http://schemas.openxmlformats.org/officeDocument/2006/relationships/image" Target="/ppt/media/image.png" Id="R2c82b3e0c45f43d8" /><Relationship Type="http://schemas.openxmlformats.org/officeDocument/2006/relationships/notesSlide" Target="/ppt/notesSlides/notesSlide1.xml" Id="R895060cd1e394b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96fbfda894e4f" /><Relationship Type="http://schemas.openxmlformats.org/officeDocument/2006/relationships/image" Target="/ppt/media/image2.png" Id="Rb42c34db86914785" /><Relationship Type="http://schemas.openxmlformats.org/officeDocument/2006/relationships/notesSlide" Target="/ppt/notesSlides/notesSlide2.xml" Id="R778c52bda8c941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2c1c5b60647f1" /><Relationship Type="http://schemas.openxmlformats.org/officeDocument/2006/relationships/image" Target="/ppt/media/image3.png" Id="Rad67184fc1fe4a7e" /><Relationship Type="http://schemas.openxmlformats.org/officeDocument/2006/relationships/notesSlide" Target="/ppt/notesSlides/notesSlide3.xml" Id="Re2df326796f341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3bebe7ca4401e" /><Relationship Type="http://schemas.openxmlformats.org/officeDocument/2006/relationships/image" Target="/ppt/media/image4.png" Id="Rd43f4434fe3b498a" /><Relationship Type="http://schemas.openxmlformats.org/officeDocument/2006/relationships/notesSlide" Target="/ppt/notesSlides/notesSlide4.xml" Id="R0942d0ebf92148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321eaf4ab42f8" /><Relationship Type="http://schemas.openxmlformats.org/officeDocument/2006/relationships/image" Target="/ppt/media/image5.png" Id="Rfac2b73f1bb74a2a" /><Relationship Type="http://schemas.openxmlformats.org/officeDocument/2006/relationships/notesSlide" Target="/ppt/notesSlides/notesSlide5.xml" Id="R2a72cb14079d4e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cd4c921ed46c3" /><Relationship Type="http://schemas.openxmlformats.org/officeDocument/2006/relationships/image" Target="/ppt/media/image6.png" Id="R7701963536eb4992" /><Relationship Type="http://schemas.openxmlformats.org/officeDocument/2006/relationships/notesSlide" Target="/ppt/notesSlides/notesSlide6.xml" Id="R87db7e2d167a4c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671a0f50749ab" /><Relationship Type="http://schemas.openxmlformats.org/officeDocument/2006/relationships/image" Target="/ppt/media/image7.png" Id="R9c8569e456124c70" /><Relationship Type="http://schemas.openxmlformats.org/officeDocument/2006/relationships/notesSlide" Target="/ppt/notesSlides/notesSlide7.xml" Id="Ra7f66ef67cf744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9fd40a9e046a2" /><Relationship Type="http://schemas.openxmlformats.org/officeDocument/2006/relationships/image" Target="/ppt/media/image8.png" Id="Re4b84a6fc5c843d0" /><Relationship Type="http://schemas.openxmlformats.org/officeDocument/2006/relationships/notesSlide" Target="/ppt/notesSlides/notesSlide8.xml" Id="Rc298c2c655604f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b64230b8146b6" /><Relationship Type="http://schemas.openxmlformats.org/officeDocument/2006/relationships/image" Target="/ppt/media/image9.png" Id="Red01823da0594808" /><Relationship Type="http://schemas.openxmlformats.org/officeDocument/2006/relationships/notesSlide" Target="/ppt/notesSlides/notesSlide9.xml" Id="R9383debad1fe4e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6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2b3e0c45f43d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GENDER &amp; INCLUSION / INFORMATICA">
            <a:extLst xmlns:a="http://schemas.openxmlformats.org/drawingml/2006/main">
              <a:ext uri="{FF2B5EF4-FFF2-40B4-BE49-F238E27FC236}">
                <a16:creationId xmlns:a16="http://schemas.microsoft.com/office/drawing/2014/main" id="{99B85F9E-43AB-49C3-8937-A2CD1492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5117876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</a:defRPr>
            </a:pPr>
            <a:r>
              <a:rPr sz="1725" b="0" i="0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</a:rPr>
              <a:t>GENDER &amp; INCLUSION / INFORMATICA</a:t>
            </a:r>
          </a:p>
        </p:txBody>
      </p:sp>
      <p:sp>
        <p:nvSpPr>
          <p:cNvPr id="3" name="Donne,">
            <a:extLst xmlns:a="http://schemas.openxmlformats.org/drawingml/2006/main">
              <a:ext uri="{FF2B5EF4-FFF2-40B4-BE49-F238E27FC236}">
                <a16:creationId xmlns:a16="http://schemas.microsoft.com/office/drawing/2014/main" id="{7977FC89-14AF-49AC-B60F-BB9544C9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332093" cy="158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4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94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Donne,</a:t>
            </a:r>
          </a:p>
        </p:txBody>
      </p:sp>
      <p:sp>
        <p:nvSpPr>
          <p:cNvPr id="4" name="gaming">
            <a:extLst xmlns:a="http://schemas.openxmlformats.org/drawingml/2006/main">
              <a:ext uri="{FF2B5EF4-FFF2-40B4-BE49-F238E27FC236}">
                <a16:creationId xmlns:a16="http://schemas.microsoft.com/office/drawing/2014/main" id="{9E574617-13BA-4FC1-B8CD-F51E2313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2852"/>
            <a:ext cx="4430505" cy="158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450" b="0" i="0">
                <a:solidFill>
                  <a:srgbClr val="BB82F7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9450" b="0" i="0">
                <a:solidFill>
                  <a:srgbClr val="BB82F7"/>
                </a:solidFill>
                <a:latin typeface="Plus Jakarta Sans ExtraBold"/>
                <a:ea typeface="Plus Jakarta Sans ExtraBold"/>
                <a:cs typeface="Plus Jakarta Sans ExtraBold"/>
              </a:rPr>
              <a:t>gaming</a:t>
            </a:r>
          </a:p>
        </p:txBody>
      </p:sp>
      <p:sp>
        <p:nvSpPr>
          <p:cNvPr id="5" name="e inclusione">
            <a:extLst xmlns:a="http://schemas.openxmlformats.org/drawingml/2006/main">
              <a:ext uri="{FF2B5EF4-FFF2-40B4-BE49-F238E27FC236}">
                <a16:creationId xmlns:a16="http://schemas.microsoft.com/office/drawing/2014/main" id="{921DAB0C-0587-4450-8732-CFBA13A2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5003"/>
            <a:ext cx="6757619" cy="158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4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94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e inclusione</a:t>
            </a:r>
          </a:p>
        </p:txBody>
      </p:sp>
      <p:sp>
        <p:nvSpPr>
          <p:cNvPr id="6" name="Stereotipi, rappresentazione e">
            <a:extLst xmlns:a="http://schemas.openxmlformats.org/drawingml/2006/main">
              <a:ext uri="{FF2B5EF4-FFF2-40B4-BE49-F238E27FC236}">
                <a16:creationId xmlns:a16="http://schemas.microsoft.com/office/drawing/2014/main" id="{66CCC09D-50E3-462B-B0BA-1F83C779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1005"/>
            <a:ext cx="4487531" cy="44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3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Stereotipi, rappresentazione e</a:t>
            </a:r>
          </a:p>
        </p:txBody>
      </p:sp>
      <p:sp>
        <p:nvSpPr>
          <p:cNvPr id="7" name="partecipazione tra codice e società">
            <a:extLst xmlns:a="http://schemas.openxmlformats.org/drawingml/2006/main">
              <a:ext uri="{FF2B5EF4-FFF2-40B4-BE49-F238E27FC236}">
                <a16:creationId xmlns:a16="http://schemas.microsoft.com/office/drawing/2014/main" id="{1C3D2C5B-2EAC-478A-BBDA-719E5C7E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64389"/>
            <a:ext cx="5174066" cy="44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3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partecipazione tra codice e società</a:t>
            </a:r>
          </a:p>
        </p:txBody>
      </p:sp>
      <p:sp>
        <p:nvSpPr>
          <p:cNvPr id="8" name="Università di Roma Tor Vergata">
            <a:extLst xmlns:a="http://schemas.openxmlformats.org/drawingml/2006/main">
              <a:ext uri="{FF2B5EF4-FFF2-40B4-BE49-F238E27FC236}">
                <a16:creationId xmlns:a16="http://schemas.microsoft.com/office/drawing/2014/main" id="{1E01B7D1-22E6-41FF-B77D-CD875FBF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7929"/>
            <a:ext cx="3792317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</a:defRPr>
            </a:pPr>
            <a:r>
              <a:rPr sz="1950" b="0" i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</a:rPr>
              <a:t>Università di Roma Tor Vergata</a:t>
            </a:r>
          </a:p>
        </p:txBody>
      </p:sp>
      <p:sp>
        <p:nvSpPr>
          <p:cNvPr id="9" name="Luca Gugliotta ">
            <a:extLst xmlns:a="http://schemas.openxmlformats.org/drawingml/2006/main">
              <a:ext uri="{FF2B5EF4-FFF2-40B4-BE49-F238E27FC236}">
                <a16:creationId xmlns:a16="http://schemas.microsoft.com/office/drawing/2014/main" id="{F18127B1-C20E-4EAC-87F8-867AD3C7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1915957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Luca Gugliotta </a:t>
            </a:r>
          </a:p>
        </p:txBody>
      </p:sp>
      <p:sp>
        <p:nvSpPr>
          <p:cNvPr id="10" name="0342634">
            <a:extLst xmlns:a="http://schemas.openxmlformats.org/drawingml/2006/main">
              <a:ext uri="{FF2B5EF4-FFF2-40B4-BE49-F238E27FC236}">
                <a16:creationId xmlns:a16="http://schemas.microsoft.com/office/drawing/2014/main" id="{58AE0CB3-3CF5-41A9-99E5-7A4867FF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557" y="7648575"/>
            <a:ext cx="1261579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87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0342634</a:t>
            </a:r>
          </a:p>
        </p:txBody>
      </p:sp>
      <p:sp>
        <p:nvSpPr>
          <p:cNvPr id="11" name="Valerio Bernardi ">
            <a:extLst xmlns:a="http://schemas.openxmlformats.org/drawingml/2006/main">
              <a:ext uri="{FF2B5EF4-FFF2-40B4-BE49-F238E27FC236}">
                <a16:creationId xmlns:a16="http://schemas.microsoft.com/office/drawing/2014/main" id="{F31A98A9-E46F-46A8-839B-E9692F7D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2044759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Valerio Bernardi </a:t>
            </a:r>
          </a:p>
        </p:txBody>
      </p:sp>
      <p:sp>
        <p:nvSpPr>
          <p:cNvPr id="12" name="0349538">
            <a:extLst xmlns:a="http://schemas.openxmlformats.org/drawingml/2006/main">
              <a:ext uri="{FF2B5EF4-FFF2-40B4-BE49-F238E27FC236}">
                <a16:creationId xmlns:a16="http://schemas.microsoft.com/office/drawing/2014/main" id="{E506E811-626C-4AFB-9EAF-0469DC98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359" y="8010525"/>
            <a:ext cx="1263486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87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0349538</a:t>
            </a:r>
          </a:p>
        </p:txBody>
      </p:sp>
      <p:sp>
        <p:nvSpPr>
          <p:cNvPr id="13" name="Samuele De Santis ">
            <a:extLst xmlns:a="http://schemas.openxmlformats.org/drawingml/2006/main">
              <a:ext uri="{FF2B5EF4-FFF2-40B4-BE49-F238E27FC236}">
                <a16:creationId xmlns:a16="http://schemas.microsoft.com/office/drawing/2014/main" id="{2E3F20E6-4EE0-4A63-95C8-3AF3D5A1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72475"/>
            <a:ext cx="2345066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Samuele De Santis </a:t>
            </a:r>
          </a:p>
        </p:txBody>
      </p:sp>
      <p:sp>
        <p:nvSpPr>
          <p:cNvPr id="14" name="0348324">
            <a:extLst xmlns:a="http://schemas.openxmlformats.org/drawingml/2006/main">
              <a:ext uri="{FF2B5EF4-FFF2-40B4-BE49-F238E27FC236}">
                <a16:creationId xmlns:a16="http://schemas.microsoft.com/office/drawing/2014/main" id="{55A55FF4-A073-47EF-956B-03D11A52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66" y="8372475"/>
            <a:ext cx="1266341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87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0348324</a:t>
            </a:r>
          </a:p>
        </p:txBody>
      </p:sp>
      <p:sp>
        <p:nvSpPr>
          <p:cNvPr id="15" name="Gender &amp; Inclusion · Prof.ssa Barbara Martini">
            <a:extLst xmlns:a="http://schemas.openxmlformats.org/drawingml/2006/main">
              <a:ext uri="{FF2B5EF4-FFF2-40B4-BE49-F238E27FC236}">
                <a16:creationId xmlns:a16="http://schemas.microsoft.com/office/drawing/2014/main" id="{DFB67603-7386-4356-9987-8532E657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15400"/>
            <a:ext cx="4639773" cy="329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Gender &amp; Inclusion · Prof.ssa Barbara Martini</a:t>
            </a:r>
          </a:p>
        </p:txBody>
      </p:sp>
      <p:sp>
        <p:nvSpPr>
          <p:cNvPr id="16" name="Corso di laurea in Informatica · A.A. 2025–2026">
            <a:extLst xmlns:a="http://schemas.openxmlformats.org/drawingml/2006/main">
              <a:ext uri="{FF2B5EF4-FFF2-40B4-BE49-F238E27FC236}">
                <a16:creationId xmlns:a16="http://schemas.microsoft.com/office/drawing/2014/main" id="{F00992EC-5B6C-4190-8A15-A351889F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29725"/>
            <a:ext cx="4903347" cy="329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Corso di laurea in Informatica · A.A. 2025–2026</a:t>
            </a:r>
          </a:p>
        </p:txBody>
      </p:sp>
    </p:spTree>
    <p:extLst>
      <p:ext uri="{BB962C8B-B14F-4D97-AF65-F5344CB8AC3E}">
        <p14:creationId xmlns:p14="http://schemas.microsoft.com/office/powerpoint/2010/main" val="3237708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6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c34db8691478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erché parlarne da informatici?">
            <a:extLst xmlns:a="http://schemas.openxmlformats.org/drawingml/2006/main">
              <a:ext uri="{FF2B5EF4-FFF2-40B4-BE49-F238E27FC236}">
                <a16:creationId xmlns:a16="http://schemas.microsoft.com/office/drawing/2014/main" id="{1047CD42-4B0A-4520-A6B4-77EC4E7B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7119947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Perché parlarne da informatici?</a:t>
            </a:r>
          </a:p>
        </p:txBody>
      </p:sp>
      <p:sp>
        <p:nvSpPr>
          <p:cNvPr id="3" name="Luca Gugliotta">
            <a:extLst xmlns:a="http://schemas.openxmlformats.org/drawingml/2006/main">
              <a:ext uri="{FF2B5EF4-FFF2-40B4-BE49-F238E27FC236}">
                <a16:creationId xmlns:a16="http://schemas.microsoft.com/office/drawing/2014/main" id="{9FDF487A-9F3E-44AE-A8EC-F635D0C1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5754" y="752475"/>
            <a:ext cx="1969796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Luca Gugliotta</a:t>
            </a:r>
          </a:p>
        </p:txBody>
      </p:sp>
      <p:sp>
        <p:nvSpPr>
          <p:cNvPr id="4" name="Voice chat, moderazione e avatar sono scelte di pr">
            <a:extLst xmlns:a="http://schemas.openxmlformats.org/drawingml/2006/main">
              <a:ext uri="{FF2B5EF4-FFF2-40B4-BE49-F238E27FC236}">
                <a16:creationId xmlns:a16="http://schemas.microsoft.com/office/drawing/2014/main" id="{F0DED26E-63F8-4FA2-877A-CFC44630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43100"/>
            <a:ext cx="9940891" cy="48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5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Voice chat, moderazione e avatar sono scelte di progettazione: </a:t>
            </a:r>
          </a:p>
        </p:txBody>
      </p:sp>
      <p:sp>
        <p:nvSpPr>
          <p:cNvPr id="5" name="influenzano chi può">
            <a:extLst xmlns:a="http://schemas.openxmlformats.org/drawingml/2006/main">
              <a:ext uri="{FF2B5EF4-FFF2-40B4-BE49-F238E27FC236}">
                <a16:creationId xmlns:a16="http://schemas.microsoft.com/office/drawing/2014/main" id="{C030E728-6C4B-4568-9F6E-A84617B3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8141" y="1943100"/>
            <a:ext cx="3203860" cy="48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</a:defRPr>
            </a:pPr>
            <a:r>
              <a:rPr sz="2550" b="0" i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</a:rPr>
              <a:t>influenzano chi può</a:t>
            </a:r>
          </a:p>
        </p:txBody>
      </p:sp>
      <p:sp>
        <p:nvSpPr>
          <p:cNvPr id="6" name="partecipare e come viene trattato.">
            <a:extLst xmlns:a="http://schemas.openxmlformats.org/drawingml/2006/main">
              <a:ext uri="{FF2B5EF4-FFF2-40B4-BE49-F238E27FC236}">
                <a16:creationId xmlns:a16="http://schemas.microsoft.com/office/drawing/2014/main" id="{D174DB70-4D87-4A09-8F99-8AB54345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9356"/>
            <a:ext cx="5558237" cy="48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</a:defRPr>
            </a:pPr>
            <a:r>
              <a:rPr sz="2550" b="0" i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</a:rPr>
              <a:t>partecipare e come viene trattato.</a:t>
            </a:r>
          </a:p>
        </p:txBody>
      </p:sp>
      <p:sp>
        <p:nvSpPr>
          <p:cNvPr id="7" name="Chi gioca">
            <a:extLst xmlns:a="http://schemas.openxmlformats.org/drawingml/2006/main">
              <a:ext uri="{FF2B5EF4-FFF2-40B4-BE49-F238E27FC236}">
                <a16:creationId xmlns:a16="http://schemas.microsoft.com/office/drawing/2014/main" id="{9D7C1CF8-EB08-4971-A205-304BB3DE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3800"/>
            <a:ext cx="2025374" cy="580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1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Chi gioca</a:t>
            </a:r>
          </a:p>
        </p:txBody>
      </p:sp>
      <p:sp>
        <p:nvSpPr>
          <p:cNvPr id="8" name="Il pubblico dei videogiochi è più vario">
            <a:extLst xmlns:a="http://schemas.openxmlformats.org/drawingml/2006/main">
              <a:ext uri="{FF2B5EF4-FFF2-40B4-BE49-F238E27FC236}">
                <a16:creationId xmlns:a16="http://schemas.microsoft.com/office/drawing/2014/main" id="{304E8D3C-2D92-4417-B605-F8F43390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6462"/>
            <a:ext cx="5205403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Il pubblico dei videogiochi è più vario</a:t>
            </a:r>
          </a:p>
        </p:txBody>
      </p:sp>
      <p:sp>
        <p:nvSpPr>
          <p:cNvPr id="9" name="dello stereotipo del gamer.">
            <a:extLst xmlns:a="http://schemas.openxmlformats.org/drawingml/2006/main">
              <a:ext uri="{FF2B5EF4-FFF2-40B4-BE49-F238E27FC236}">
                <a16:creationId xmlns:a16="http://schemas.microsoft.com/office/drawing/2014/main" id="{F9C43304-F444-40C0-AC04-13F9E2A4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0800"/>
            <a:ext cx="3898032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dello stereotipo del gamer.</a:t>
            </a:r>
          </a:p>
        </p:txBody>
      </p:sp>
      <p:sp>
        <p:nvSpPr>
          <p:cNvPr id="10" name="Cosa vediamo">
            <a:extLst xmlns:a="http://schemas.openxmlformats.org/drawingml/2006/main">
              <a:ext uri="{FF2B5EF4-FFF2-40B4-BE49-F238E27FC236}">
                <a16:creationId xmlns:a16="http://schemas.microsoft.com/office/drawing/2014/main" id="{D4F8E0AE-EEF8-4D0A-9B71-4E2BCAFC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4493800"/>
            <a:ext cx="2984292" cy="580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1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Cosa vediamo</a:t>
            </a:r>
          </a:p>
        </p:txBody>
      </p:sp>
      <p:sp>
        <p:nvSpPr>
          <p:cNvPr id="11" name="Personaggi e avatar influenzano chi">
            <a:extLst xmlns:a="http://schemas.openxmlformats.org/drawingml/2006/main">
              <a:ext uri="{FF2B5EF4-FFF2-40B4-BE49-F238E27FC236}">
                <a16:creationId xmlns:a16="http://schemas.microsoft.com/office/drawing/2014/main" id="{0AD228E3-60F5-4B17-9FAA-20ED74F5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5226462"/>
            <a:ext cx="4964757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Personaggi e avatar influenzano chi</a:t>
            </a:r>
          </a:p>
        </p:txBody>
      </p:sp>
      <p:sp>
        <p:nvSpPr>
          <p:cNvPr id="12" name="viene rappresentato e come.">
            <a:extLst xmlns:a="http://schemas.openxmlformats.org/drawingml/2006/main">
              <a:ext uri="{FF2B5EF4-FFF2-40B4-BE49-F238E27FC236}">
                <a16:creationId xmlns:a16="http://schemas.microsoft.com/office/drawing/2014/main" id="{6D7203E7-A79A-4148-B843-2221962A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5640800"/>
            <a:ext cx="4133776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viene rappresentato e come.</a:t>
            </a:r>
          </a:p>
        </p:txBody>
      </p:sp>
      <p:sp>
        <p:nvSpPr>
          <p:cNvPr id="13" name="Chi sviluppa">
            <a:extLst xmlns:a="http://schemas.openxmlformats.org/drawingml/2006/main">
              <a:ext uri="{FF2B5EF4-FFF2-40B4-BE49-F238E27FC236}">
                <a16:creationId xmlns:a16="http://schemas.microsoft.com/office/drawing/2014/main" id="{0D280A0B-F3BC-4A75-94A9-E9E3D7C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000" y="4493800"/>
            <a:ext cx="2565043" cy="580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1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Chi sviluppa</a:t>
            </a:r>
          </a:p>
        </p:txBody>
      </p:sp>
      <p:sp>
        <p:nvSpPr>
          <p:cNvPr id="14" name="La presenza delle donne tra chi gioca">
            <a:extLst xmlns:a="http://schemas.openxmlformats.org/drawingml/2006/main">
              <a:ext uri="{FF2B5EF4-FFF2-40B4-BE49-F238E27FC236}">
                <a16:creationId xmlns:a16="http://schemas.microsoft.com/office/drawing/2014/main" id="{A03A9A23-AAC1-4384-B2AF-4D8091F6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000" y="5226462"/>
            <a:ext cx="5196222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La presenza delle donne tra chi gioca</a:t>
            </a:r>
          </a:p>
        </p:txBody>
      </p:sp>
      <p:sp>
        <p:nvSpPr>
          <p:cNvPr id="15" name="non si riflette nei team e nei ruoli">
            <a:extLst xmlns:a="http://schemas.openxmlformats.org/drawingml/2006/main">
              <a:ext uri="{FF2B5EF4-FFF2-40B4-BE49-F238E27FC236}">
                <a16:creationId xmlns:a16="http://schemas.microsoft.com/office/drawing/2014/main" id="{DFFD61F5-C796-4A1F-B91E-4E6F64CD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000" y="5640800"/>
            <a:ext cx="4498423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non si riflette nei team e nei ruoli</a:t>
            </a:r>
          </a:p>
        </p:txBody>
      </p:sp>
      <p:sp>
        <p:nvSpPr>
          <p:cNvPr id="16" name="decisionali.">
            <a:extLst xmlns:a="http://schemas.openxmlformats.org/drawingml/2006/main">
              <a:ext uri="{FF2B5EF4-FFF2-40B4-BE49-F238E27FC236}">
                <a16:creationId xmlns:a16="http://schemas.microsoft.com/office/drawing/2014/main" id="{2A5F1C8A-1683-40F4-8574-735AE030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000" y="6055137"/>
            <a:ext cx="1772906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decisionali.</a:t>
            </a:r>
          </a:p>
        </p:txBody>
      </p:sp>
      <p:sp>
        <p:nvSpPr>
          <p:cNvPr id="17" name="«Il modo in cui programmiamo uno spazio digitale i">
            <a:extLst xmlns:a="http://schemas.openxmlformats.org/drawingml/2006/main">
              <a:ext uri="{FF2B5EF4-FFF2-40B4-BE49-F238E27FC236}">
                <a16:creationId xmlns:a16="http://schemas.microsoft.com/office/drawing/2014/main" id="{34AB1F3F-FF4B-40C7-A1D5-3FA4B5B9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267700"/>
            <a:ext cx="1277196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defRPr>
            </a:pPr>
            <a:r>
              <a:rPr sz="300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rPr>
              <a:t>«Il modo in cui programmiamo uno spazio digitale influenza chi può parteciparvi.»</a:t>
            </a:r>
          </a:p>
        </p:txBody>
      </p:sp>
      <p:sp>
        <p:nvSpPr>
          <p:cNvPr id="18" name="INFORMATICA E SPAZI SOCIALI">
            <a:extLst xmlns:a="http://schemas.openxmlformats.org/drawingml/2006/main">
              <a:ext uri="{FF2B5EF4-FFF2-40B4-BE49-F238E27FC236}">
                <a16:creationId xmlns:a16="http://schemas.microsoft.com/office/drawing/2014/main" id="{BDA5C3B9-D9EE-450D-8E8A-91FC3703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80231"/>
            <a:ext cx="32956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INFORMATICA E SPAZI SOCIALI</a:t>
            </a:r>
          </a:p>
        </p:txBody>
      </p:sp>
      <p:sp>
        <p:nvSpPr>
          <p:cNvPr id="19" name="SLIDE 02 / 09">
            <a:extLst xmlns:a="http://schemas.openxmlformats.org/drawingml/2006/main">
              <a:ext uri="{FF2B5EF4-FFF2-40B4-BE49-F238E27FC236}">
                <a16:creationId xmlns:a16="http://schemas.microsoft.com/office/drawing/2014/main" id="{1292F646-B459-4232-8EF8-CF423BD0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9480231"/>
            <a:ext cx="16954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SLIDE 02 / 09</a:t>
            </a:r>
          </a:p>
        </p:txBody>
      </p:sp>
    </p:spTree>
    <p:extLst>
      <p:ext uri="{BB962C8B-B14F-4D97-AF65-F5344CB8AC3E}">
        <p14:creationId xmlns:p14="http://schemas.microsoft.com/office/powerpoint/2010/main" val="5016475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6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7184fc1fe4a7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F970A4F7-EA79-48F6-92FD-3A487488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0195"/>
            <a:ext cx="77581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E24"/>
          </a:solidFill>
          <a:ln xmlns:a="http://schemas.openxmlformats.org/drawingml/2006/main" w="0">
            <a:noFill/>
          </a:ln>
        </p:spPr>
      </p:sp>
      <p:sp>
        <p:nvSpPr>
          <p:cNvPr id="3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A61A9EE9-294A-472F-8006-06433400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0195"/>
            <a:ext cx="372389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4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96FEB62F-5F5C-40DB-A118-F76BBFC6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3" y="4547235"/>
            <a:ext cx="79200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B33"/>
          </a:solidFill>
          <a:ln xmlns:a="http://schemas.openxmlformats.org/drawingml/2006/main" w="0">
            <a:noFill/>
          </a:ln>
        </p:spPr>
      </p:sp>
      <p:sp>
        <p:nvSpPr>
          <p:cNvPr id="5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7E105193-DBC7-4491-BEA7-53F04A6D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3" y="4547235"/>
            <a:ext cx="79200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6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68D62811-92EE-41B9-B949-6CF7E18B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3" y="6189345"/>
            <a:ext cx="79200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B33"/>
          </a:solidFill>
          <a:ln xmlns:a="http://schemas.openxmlformats.org/drawingml/2006/main" w="0">
            <a:noFill/>
          </a:ln>
        </p:spPr>
      </p:sp>
      <p:sp>
        <p:nvSpPr>
          <p:cNvPr id="7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994E2635-1D2D-4584-BB55-DEB02A4A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3" y="6189345"/>
            <a:ext cx="141429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8" name="La realtà è quasi paritaria. La percezione no">
            <a:extLst xmlns:a="http://schemas.openxmlformats.org/drawingml/2006/main">
              <a:ext uri="{FF2B5EF4-FFF2-40B4-BE49-F238E27FC236}">
                <a16:creationId xmlns:a16="http://schemas.microsoft.com/office/drawing/2014/main" id="{7B8DB51B-F70F-403B-8482-93644E5A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9628836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La realtà è quasi paritaria. La percezione no</a:t>
            </a:r>
          </a:p>
        </p:txBody>
      </p:sp>
      <p:sp>
        <p:nvSpPr>
          <p:cNvPr id="9" name="Luca Gugliotta">
            <a:extLst xmlns:a="http://schemas.openxmlformats.org/drawingml/2006/main">
              <a:ext uri="{FF2B5EF4-FFF2-40B4-BE49-F238E27FC236}">
                <a16:creationId xmlns:a16="http://schemas.microsoft.com/office/drawing/2014/main" id="{B4FBD9CC-4E3D-4932-991A-EA409E8C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5754" y="752475"/>
            <a:ext cx="1969796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Luca Gugliotta</a:t>
            </a:r>
          </a:p>
        </p:txBody>
      </p:sp>
      <p:sp>
        <p:nvSpPr>
          <p:cNvPr id="10" name="48%">
            <a:extLst xmlns:a="http://schemas.openxmlformats.org/drawingml/2006/main">
              <a:ext uri="{FF2B5EF4-FFF2-40B4-BE49-F238E27FC236}">
                <a16:creationId xmlns:a16="http://schemas.microsoft.com/office/drawing/2014/main" id="{0A6E9787-5C6F-4419-84FC-4A428825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4135757" cy="2236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0" b="0" i="0">
                <a:solidFill>
                  <a:srgbClr val="38BDF8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13500" b="0" i="0">
                <a:solidFill>
                  <a:srgbClr val="38BDF8"/>
                </a:solidFill>
                <a:latin typeface="Plus Jakarta Sans ExtraBold"/>
                <a:ea typeface="Plus Jakarta Sans ExtraBold"/>
                <a:cs typeface="Plus Jakarta Sans ExtraBold"/>
              </a:rPr>
              <a:t>48%</a:t>
            </a:r>
          </a:p>
        </p:txBody>
      </p:sp>
      <p:sp>
        <p:nvSpPr>
          <p:cNvPr id="11" name="di donne tra chi gioca nel campione">
            <a:extLst xmlns:a="http://schemas.openxmlformats.org/drawingml/2006/main">
              <a:ext uri="{FF2B5EF4-FFF2-40B4-BE49-F238E27FC236}">
                <a16:creationId xmlns:a16="http://schemas.microsoft.com/office/drawing/2014/main" id="{B99BEE0E-B29D-466B-9CCF-77019239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5641125" cy="48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5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rPr>
              <a:t>di donne tra chi gioca nel campione</a:t>
            </a:r>
          </a:p>
        </p:txBody>
      </p:sp>
      <p:sp>
        <p:nvSpPr>
          <p:cNvPr id="12" name="internazionale ESA.">
            <a:extLst xmlns:a="http://schemas.openxmlformats.org/drawingml/2006/main">
              <a:ext uri="{FF2B5EF4-FFF2-40B4-BE49-F238E27FC236}">
                <a16:creationId xmlns:a16="http://schemas.microsoft.com/office/drawing/2014/main" id="{FD9F9A29-4886-4638-A2A5-FC8808B8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9105"/>
            <a:ext cx="3152022" cy="48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5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rPr>
              <a:t>internazionale ESA.</a:t>
            </a:r>
          </a:p>
        </p:txBody>
      </p:sp>
      <p:sp>
        <p:nvSpPr>
          <p:cNvPr id="13" name="0%">
            <a:extLst xmlns:a="http://schemas.openxmlformats.org/drawingml/2006/main">
              <a:ext uri="{FF2B5EF4-FFF2-40B4-BE49-F238E27FC236}">
                <a16:creationId xmlns:a16="http://schemas.microsoft.com/office/drawing/2014/main" id="{E41D0DE4-7F21-4B50-A8D2-46A638A4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3960"/>
            <a:ext cx="449573" cy="34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0%</a:t>
            </a:r>
          </a:p>
        </p:txBody>
      </p:sp>
      <p:sp>
        <p:nvSpPr>
          <p:cNvPr id="14" name="50% · parità">
            <a:extLst xmlns:a="http://schemas.openxmlformats.org/drawingml/2006/main">
              <a:ext uri="{FF2B5EF4-FFF2-40B4-BE49-F238E27FC236}">
                <a16:creationId xmlns:a16="http://schemas.microsoft.com/office/drawing/2014/main" id="{FD4BCA29-93AE-452C-ADA8-6EC0966C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977" y="5013960"/>
            <a:ext cx="1649685" cy="34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50% · parità</a:t>
            </a:r>
          </a:p>
        </p:txBody>
      </p:sp>
      <p:sp>
        <p:nvSpPr>
          <p:cNvPr id="15" name="100%">
            <a:extLst xmlns:a="http://schemas.openxmlformats.org/drawingml/2006/main">
              <a:ext uri="{FF2B5EF4-FFF2-40B4-BE49-F238E27FC236}">
                <a16:creationId xmlns:a16="http://schemas.microsoft.com/office/drawing/2014/main" id="{91BF6075-9E11-4CB7-B371-8D4B05B8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0067" y="5013960"/>
            <a:ext cx="689595" cy="34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100%</a:t>
            </a:r>
          </a:p>
        </p:txBody>
      </p:sp>
      <p:sp>
        <p:nvSpPr>
          <p:cNvPr id="16" name="ESA 2025 · 21 paesi · persone di 16+ anni">
            <a:extLst xmlns:a="http://schemas.openxmlformats.org/drawingml/2006/main">
              <a:ext uri="{FF2B5EF4-FFF2-40B4-BE49-F238E27FC236}">
                <a16:creationId xmlns:a16="http://schemas.microsoft.com/office/drawing/2014/main" id="{9840DB20-E888-4775-8859-63EB0620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106" y="5646420"/>
            <a:ext cx="5364556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ESA 2025 · 21 paesi · persone di 16+ anni</a:t>
            </a:r>
          </a:p>
        </p:txBody>
      </p:sp>
      <p:sp>
        <p:nvSpPr>
          <p:cNvPr id="17" name="47,8%*">
            <a:extLst xmlns:a="http://schemas.openxmlformats.org/drawingml/2006/main">
              <a:ext uri="{FF2B5EF4-FFF2-40B4-BE49-F238E27FC236}">
                <a16:creationId xmlns:a16="http://schemas.microsoft.com/office/drawing/2014/main" id="{3942A91E-A9A2-4B83-8FC7-6C726390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511528"/>
            <a:ext cx="2420355" cy="808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75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4575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47,8%*</a:t>
            </a:r>
          </a:p>
        </p:txBody>
      </p:sp>
      <p:sp>
        <p:nvSpPr>
          <p:cNvPr id="18" name="di videogiocatrici in Europa,">
            <a:extLst xmlns:a="http://schemas.openxmlformats.org/drawingml/2006/main">
              <a:ext uri="{FF2B5EF4-FFF2-40B4-BE49-F238E27FC236}">
                <a16:creationId xmlns:a16="http://schemas.microsoft.com/office/drawing/2014/main" id="{03CB09D7-C706-4C94-A20F-DE1F5FF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168753"/>
            <a:ext cx="3608440" cy="400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0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di videogiocatrici in Europa,</a:t>
            </a:r>
          </a:p>
        </p:txBody>
      </p:sp>
      <p:sp>
        <p:nvSpPr>
          <p:cNvPr id="19" name="secondo il progetto iniziale.">
            <a:extLst xmlns:a="http://schemas.openxmlformats.org/drawingml/2006/main">
              <a:ext uri="{FF2B5EF4-FFF2-40B4-BE49-F238E27FC236}">
                <a16:creationId xmlns:a16="http://schemas.microsoft.com/office/drawing/2014/main" id="{F1AE7EDF-39DA-40B9-B339-AA9794AC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522369"/>
            <a:ext cx="3591195" cy="400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0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secondo il progetto iniziale.</a:t>
            </a:r>
          </a:p>
        </p:txBody>
      </p:sp>
      <p:sp>
        <p:nvSpPr>
          <p:cNvPr id="20" name="*Fonte puntuale da">
            <a:extLst xmlns:a="http://schemas.openxmlformats.org/drawingml/2006/main">
              <a:ext uri="{FF2B5EF4-FFF2-40B4-BE49-F238E27FC236}">
                <a16:creationId xmlns:a16="http://schemas.microsoft.com/office/drawing/2014/main" id="{5F27D82C-7A52-4D54-9260-86DBB241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09334"/>
            <a:ext cx="22669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*Fonte puntuale da</a:t>
            </a:r>
          </a:p>
        </p:txBody>
      </p:sp>
      <p:sp>
        <p:nvSpPr>
          <p:cNvPr id="21" name="riconciliare">
            <a:extLst xmlns:a="http://schemas.openxmlformats.org/drawingml/2006/main">
              <a:ext uri="{FF2B5EF4-FFF2-40B4-BE49-F238E27FC236}">
                <a16:creationId xmlns:a16="http://schemas.microsoft.com/office/drawing/2014/main" id="{35A04E56-AA0F-42F0-B1C9-74DD4F15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256984"/>
            <a:ext cx="15811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riconciliare</a:t>
            </a:r>
          </a:p>
        </p:txBody>
      </p:sp>
      <p:sp>
        <p:nvSpPr>
          <p:cNvPr id="22" name="5,7M">
            <a:extLst xmlns:a="http://schemas.openxmlformats.org/drawingml/2006/main">
              <a:ext uri="{FF2B5EF4-FFF2-40B4-BE49-F238E27FC236}">
                <a16:creationId xmlns:a16="http://schemas.microsoft.com/office/drawing/2014/main" id="{F231678D-62D1-47A3-B1DC-EC1445C2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056" y="6511528"/>
            <a:ext cx="1718918" cy="844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480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5,7M</a:t>
            </a:r>
          </a:p>
        </p:txBody>
      </p:sp>
      <p:sp>
        <p:nvSpPr>
          <p:cNvPr id="23" name="di videogiocatrici in Italia.">
            <a:extLst xmlns:a="http://schemas.openxmlformats.org/drawingml/2006/main">
              <a:ext uri="{FF2B5EF4-FFF2-40B4-BE49-F238E27FC236}">
                <a16:creationId xmlns:a16="http://schemas.microsoft.com/office/drawing/2014/main" id="{07C3114B-A1E2-41F4-8C23-D2264FC8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056" y="7197328"/>
            <a:ext cx="3315509" cy="400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0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di videogiocatrici in Italia.</a:t>
            </a:r>
          </a:p>
        </p:txBody>
      </p:sp>
      <p:sp>
        <p:nvSpPr>
          <p:cNvPr id="24" name="Italia · persone di 6–64 anni">
            <a:extLst xmlns:a="http://schemas.openxmlformats.org/drawingml/2006/main">
              <a:ext uri="{FF2B5EF4-FFF2-40B4-BE49-F238E27FC236}">
                <a16:creationId xmlns:a16="http://schemas.microsoft.com/office/drawing/2014/main" id="{EB59F95E-8EAB-4FF3-8B3C-FAA5321E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056" y="7684294"/>
            <a:ext cx="35242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Italia · persone di 6–64 anni</a:t>
            </a:r>
          </a:p>
        </p:txBody>
      </p:sp>
      <p:sp>
        <p:nvSpPr>
          <p:cNvPr id="25" name="In Italia cresce soprattutto il pubblico">
            <a:extLst xmlns:a="http://schemas.openxmlformats.org/drawingml/2006/main">
              <a:ext uri="{FF2B5EF4-FFF2-40B4-BE49-F238E27FC236}">
                <a16:creationId xmlns:a16="http://schemas.microsoft.com/office/drawing/2014/main" id="{BAEC0016-09FF-49DE-8C39-F6267F91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2" y="1981200"/>
            <a:ext cx="7408413" cy="580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1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In Italia cresce soprattutto il pubblico</a:t>
            </a:r>
          </a:p>
        </p:txBody>
      </p:sp>
      <p:sp>
        <p:nvSpPr>
          <p:cNvPr id="26" name="femminile">
            <a:extLst xmlns:a="http://schemas.openxmlformats.org/drawingml/2006/main">
              <a:ext uri="{FF2B5EF4-FFF2-40B4-BE49-F238E27FC236}">
                <a16:creationId xmlns:a16="http://schemas.microsoft.com/office/drawing/2014/main" id="{8E1A6AB8-EB39-4919-A20A-9BB1CE8D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2" y="2481263"/>
            <a:ext cx="2134586" cy="580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1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femminile</a:t>
            </a:r>
          </a:p>
        </p:txBody>
      </p:sp>
      <p:sp>
        <p:nvSpPr>
          <p:cNvPr id="27" name="Donne">
            <a:extLst xmlns:a="http://schemas.openxmlformats.org/drawingml/2006/main">
              <a:ext uri="{FF2B5EF4-FFF2-40B4-BE49-F238E27FC236}">
                <a16:creationId xmlns:a16="http://schemas.microsoft.com/office/drawing/2014/main" id="{C53D8747-9C1A-4A79-ADC1-D72EE297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2" y="3854654"/>
            <a:ext cx="1239069" cy="48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</a:defRPr>
            </a:pPr>
            <a:r>
              <a:rPr sz="2550" b="0" i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</a:rPr>
              <a:t>Donne</a:t>
            </a:r>
          </a:p>
        </p:txBody>
      </p:sp>
      <p:sp>
        <p:nvSpPr>
          <p:cNvPr id="28" name="+14%">
            <a:extLst xmlns:a="http://schemas.openxmlformats.org/drawingml/2006/main">
              <a:ext uri="{FF2B5EF4-FFF2-40B4-BE49-F238E27FC236}">
                <a16:creationId xmlns:a16="http://schemas.microsoft.com/office/drawing/2014/main" id="{121CFE24-3A88-4969-AD8B-9C408061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55" y="3648075"/>
            <a:ext cx="1489695" cy="780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defRPr>
            </a:pPr>
            <a:r>
              <a:rPr sz="4200" b="1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+14%</a:t>
            </a:r>
          </a:p>
        </p:txBody>
      </p:sp>
      <p:sp>
        <p:nvSpPr>
          <p:cNvPr id="29" name="Uomini">
            <a:extLst xmlns:a="http://schemas.openxmlformats.org/drawingml/2006/main">
              <a:ext uri="{FF2B5EF4-FFF2-40B4-BE49-F238E27FC236}">
                <a16:creationId xmlns:a16="http://schemas.microsoft.com/office/drawing/2014/main" id="{BD1BDE87-DD53-47CA-82D8-B458E21B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2" y="5496764"/>
            <a:ext cx="1297688" cy="48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</a:defRPr>
            </a:pPr>
            <a:r>
              <a:rPr sz="2550" b="0" i="0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</a:rPr>
              <a:t>Uomini</a:t>
            </a:r>
          </a:p>
        </p:txBody>
      </p:sp>
      <p:sp>
        <p:nvSpPr>
          <p:cNvPr id="30" name="+2,5%">
            <a:extLst xmlns:a="http://schemas.openxmlformats.org/drawingml/2006/main">
              <a:ext uri="{FF2B5EF4-FFF2-40B4-BE49-F238E27FC236}">
                <a16:creationId xmlns:a16="http://schemas.microsoft.com/office/drawing/2014/main" id="{077DFCD6-D283-4CE6-AB3B-BF1250FD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19" y="5290185"/>
            <a:ext cx="1809731" cy="780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4200" b="1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+2,5%</a:t>
            </a:r>
          </a:p>
        </p:txBody>
      </p:sp>
      <p:sp>
        <p:nvSpPr>
          <p:cNvPr id="31" name="Variazione 2024 rispetto al 2023 · IIDEA">
            <a:extLst xmlns:a="http://schemas.openxmlformats.org/drawingml/2006/main">
              <a:ext uri="{FF2B5EF4-FFF2-40B4-BE49-F238E27FC236}">
                <a16:creationId xmlns:a16="http://schemas.microsoft.com/office/drawing/2014/main" id="{B43A86BB-173D-4E5A-8F6B-7E4BF882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2" y="6817995"/>
            <a:ext cx="4089741" cy="34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650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Variazione 2024 rispetto al 2023 · IIDEA</a:t>
            </a:r>
          </a:p>
        </p:txBody>
      </p:sp>
      <p:sp>
        <p:nvSpPr>
          <p:cNvPr id="32" name="«Le donne ci sono già. Il problema è la loro">
            <a:extLst xmlns:a="http://schemas.openxmlformats.org/drawingml/2006/main">
              <a:ext uri="{FF2B5EF4-FFF2-40B4-BE49-F238E27FC236}">
                <a16:creationId xmlns:a16="http://schemas.microsoft.com/office/drawing/2014/main" id="{D98D49BC-B417-42E5-AB38-AE6F614B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2" y="7740968"/>
            <a:ext cx="6466498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 i="1">
                <a:solidFill>
                  <a:srgbClr val="F8FAFC"/>
                </a:solidFill>
                <a:latin typeface="Newsreader"/>
                <a:ea typeface="Newsreader"/>
                <a:cs typeface="Newsreader"/>
              </a:defRPr>
            </a:pPr>
            <a:r>
              <a:rPr sz="2925" b="0" i="1">
                <a:solidFill>
                  <a:srgbClr val="F8FAFC"/>
                </a:solidFill>
                <a:latin typeface="Newsreader"/>
                <a:ea typeface="Newsreader"/>
                <a:cs typeface="Newsreader"/>
              </a:rPr>
              <a:t>«Le donne ci sono già. Il problema è la loro</a:t>
            </a:r>
          </a:p>
        </p:txBody>
      </p:sp>
      <p:sp>
        <p:nvSpPr>
          <p:cNvPr id="33" name="invisibilità culturale.»">
            <a:extLst xmlns:a="http://schemas.openxmlformats.org/drawingml/2006/main">
              <a:ext uri="{FF2B5EF4-FFF2-40B4-BE49-F238E27FC236}">
                <a16:creationId xmlns:a16="http://schemas.microsoft.com/office/drawing/2014/main" id="{C0835048-7450-4543-8658-F9926586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2" y="8242459"/>
            <a:ext cx="348170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 i="1">
                <a:solidFill>
                  <a:srgbClr val="F8FAFC"/>
                </a:solidFill>
                <a:latin typeface="Newsreader"/>
                <a:ea typeface="Newsreader"/>
                <a:cs typeface="Newsreader"/>
              </a:defRPr>
            </a:pPr>
            <a:r>
              <a:rPr sz="2925" b="0" i="1">
                <a:solidFill>
                  <a:srgbClr val="F8FAFC"/>
                </a:solidFill>
                <a:latin typeface="Newsreader"/>
                <a:ea typeface="Newsreader"/>
                <a:cs typeface="Newsreader"/>
              </a:rPr>
              <a:t>invisibilità culturale.»</a:t>
            </a:r>
          </a:p>
        </p:txBody>
      </p:sp>
      <p:sp>
        <p:nvSpPr>
          <p:cNvPr id="34" name="ESA 2025 · VGE, DATI 2024 · IIDEA, DATI 2024">
            <a:extLst xmlns:a="http://schemas.openxmlformats.org/drawingml/2006/main">
              <a:ext uri="{FF2B5EF4-FFF2-40B4-BE49-F238E27FC236}">
                <a16:creationId xmlns:a16="http://schemas.microsoft.com/office/drawing/2014/main" id="{41C8CBBF-2D46-46F7-8AD5-4C6D3285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80231"/>
            <a:ext cx="52387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ESA 2025 · VGE, DATI 2024 · IIDEA, DATI 2024</a:t>
            </a:r>
          </a:p>
        </p:txBody>
      </p:sp>
      <p:sp>
        <p:nvSpPr>
          <p:cNvPr id="35" name="SLIDE 03 / 09">
            <a:extLst xmlns:a="http://schemas.openxmlformats.org/drawingml/2006/main">
              <a:ext uri="{FF2B5EF4-FFF2-40B4-BE49-F238E27FC236}">
                <a16:creationId xmlns:a16="http://schemas.microsoft.com/office/drawing/2014/main" id="{DBC14A15-5CD6-44EA-97BC-85B38AF5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9480231"/>
            <a:ext cx="16954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SLIDE 03 / 09</a:t>
            </a:r>
          </a:p>
        </p:txBody>
      </p:sp>
    </p:spTree>
    <p:extLst>
      <p:ext uri="{BB962C8B-B14F-4D97-AF65-F5344CB8AC3E}">
        <p14:creationId xmlns:p14="http://schemas.microsoft.com/office/powerpoint/2010/main" val="445466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6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f4434fe3b498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B891355D-C7E5-4455-B7A2-236D9604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885373"/>
            <a:ext cx="9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3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76C125B9-7EEF-497C-8D66-4FF3128F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94872"/>
            <a:ext cx="95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4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4A199D17-7DE5-4673-8A9E-E59E3980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42472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5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85B6C22F-5971-48BA-8C21-7DD7F801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771072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6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0E23BBA6-DF7D-4C24-B2E0-43CC6187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618672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7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C262D971-0525-404C-B403-57342668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466272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8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54279084-7B20-4887-83E0-F8A4DF41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32972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9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E2F7A402-7E83-4B51-977B-2847D5D7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80572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10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651BCA74-CE44-4868-AA77-CB998FCD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09172"/>
            <a:ext cx="9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11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F2F8F8BE-4940-4246-87D0-505C5097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923473"/>
            <a:ext cx="9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12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A29B1869-9902-4B37-B05D-B83BF82F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061585"/>
            <a:ext cx="441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13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570B96C2-0CE9-452F-BFB0-C5A61EC2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5075873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14" name="Quando basta una voce per diventare un bersaglio">
            <a:extLst xmlns:a="http://schemas.openxmlformats.org/drawingml/2006/main">
              <a:ext uri="{FF2B5EF4-FFF2-40B4-BE49-F238E27FC236}">
                <a16:creationId xmlns:a16="http://schemas.microsoft.com/office/drawing/2014/main" id="{8A58F10B-64DC-4423-AF50-62C65A4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1265722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Quando basta una voce per diventare un bersaglio</a:t>
            </a:r>
          </a:p>
        </p:txBody>
      </p:sp>
      <p:sp>
        <p:nvSpPr>
          <p:cNvPr id="15" name="Valerio Bernardi">
            <a:extLst xmlns:a="http://schemas.openxmlformats.org/drawingml/2006/main">
              <a:ext uri="{FF2B5EF4-FFF2-40B4-BE49-F238E27FC236}">
                <a16:creationId xmlns:a16="http://schemas.microsoft.com/office/drawing/2014/main" id="{73026958-23E4-4446-A0D5-575CB83D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290" y="752475"/>
            <a:ext cx="222126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Valerio Bernardi</a:t>
            </a:r>
          </a:p>
        </p:txBody>
      </p:sp>
      <p:sp>
        <p:nvSpPr>
          <p:cNvPr id="16" name="VOCE">
            <a:extLst xmlns:a="http://schemas.openxmlformats.org/drawingml/2006/main">
              <a:ext uri="{FF2B5EF4-FFF2-40B4-BE49-F238E27FC236}">
                <a16:creationId xmlns:a16="http://schemas.microsoft.com/office/drawing/2014/main" id="{B4A1D3A3-FEAF-46F0-993D-6206C275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11" y="2286000"/>
            <a:ext cx="1128629" cy="47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475" b="1" i="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rPr>
              <a:t>VOCE</a:t>
            </a:r>
          </a:p>
        </p:txBody>
      </p:sp>
      <p:sp>
        <p:nvSpPr>
          <p:cNvPr id="17" name="→">
            <a:extLst xmlns:a="http://schemas.openxmlformats.org/drawingml/2006/main">
              <a:ext uri="{FF2B5EF4-FFF2-40B4-BE49-F238E27FC236}">
                <a16:creationId xmlns:a16="http://schemas.microsoft.com/office/drawing/2014/main" id="{51B5C2E1-3F20-415E-9986-B941DBD6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164" y="2252397"/>
            <a:ext cx="528786" cy="519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3000" b="0" i="0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</a:rPr>
              <a:t>→</a:t>
            </a:r>
          </a:p>
        </p:txBody>
      </p:sp>
      <p:sp>
        <p:nvSpPr>
          <p:cNvPr id="18" name="GENERE">
            <a:extLst xmlns:a="http://schemas.openxmlformats.org/drawingml/2006/main">
              <a:ext uri="{FF2B5EF4-FFF2-40B4-BE49-F238E27FC236}">
                <a16:creationId xmlns:a16="http://schemas.microsoft.com/office/drawing/2014/main" id="{8F49E16A-351E-4184-A2F8-5308D852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1586" y="2286000"/>
            <a:ext cx="1465278" cy="47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475" b="1" i="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</a:rPr>
              <a:t>GENERE</a:t>
            </a:r>
          </a:p>
        </p:txBody>
      </p:sp>
      <p:sp>
        <p:nvSpPr>
          <p:cNvPr id="19" name="→">
            <a:extLst xmlns:a="http://schemas.openxmlformats.org/drawingml/2006/main">
              <a:ext uri="{FF2B5EF4-FFF2-40B4-BE49-F238E27FC236}">
                <a16:creationId xmlns:a16="http://schemas.microsoft.com/office/drawing/2014/main" id="{2FD9BE4C-FCB6-403B-92D2-4ACF6213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264" y="2252397"/>
            <a:ext cx="528786" cy="519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3000" b="0" i="0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</a:rPr>
              <a:t>→</a:t>
            </a:r>
          </a:p>
        </p:txBody>
      </p:sp>
      <p:sp>
        <p:nvSpPr>
          <p:cNvPr id="20" name="MOLESTIA">
            <a:extLst xmlns:a="http://schemas.openxmlformats.org/drawingml/2006/main">
              <a:ext uri="{FF2B5EF4-FFF2-40B4-BE49-F238E27FC236}">
                <a16:creationId xmlns:a16="http://schemas.microsoft.com/office/drawing/2014/main" id="{1BFDDAC4-9382-4CD3-A9C4-DD66161F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757" y="2286000"/>
            <a:ext cx="1809136" cy="47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475" b="1" i="0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</a:rPr>
              <a:t>MOLESTIA</a:t>
            </a:r>
          </a:p>
        </p:txBody>
      </p:sp>
      <p:sp>
        <p:nvSpPr>
          <p:cNvPr id="21" name="→">
            <a:extLst xmlns:a="http://schemas.openxmlformats.org/drawingml/2006/main">
              <a:ext uri="{FF2B5EF4-FFF2-40B4-BE49-F238E27FC236}">
                <a16:creationId xmlns:a16="http://schemas.microsoft.com/office/drawing/2014/main" id="{9CE9D4FD-791E-4F53-AEE2-C3EA5B95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364" y="2252397"/>
            <a:ext cx="528786" cy="519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3000" b="0" i="0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</a:rPr>
              <a:t>→</a:t>
            </a:r>
          </a:p>
        </p:txBody>
      </p:sp>
      <p:sp>
        <p:nvSpPr>
          <p:cNvPr id="22" name="SILENZIO">
            <a:extLst xmlns:a="http://schemas.openxmlformats.org/drawingml/2006/main">
              <a:ext uri="{FF2B5EF4-FFF2-40B4-BE49-F238E27FC236}">
                <a16:creationId xmlns:a16="http://schemas.microsoft.com/office/drawing/2014/main" id="{0AE9F877-3DE7-4F4F-A0E9-070D9AF2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5238" y="2286000"/>
            <a:ext cx="1634375" cy="47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475" b="1" i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rPr>
              <a:t>SILENZIO</a:t>
            </a:r>
          </a:p>
        </p:txBody>
      </p:sp>
      <p:sp>
        <p:nvSpPr>
          <p:cNvPr id="23" name="48%">
            <a:extLst xmlns:a="http://schemas.openxmlformats.org/drawingml/2006/main">
              <a:ext uri="{FF2B5EF4-FFF2-40B4-BE49-F238E27FC236}">
                <a16:creationId xmlns:a16="http://schemas.microsoft.com/office/drawing/2014/main" id="{545BE77A-E2EF-47BA-903B-26CD3352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0918"/>
            <a:ext cx="3961263" cy="2140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900" b="0" i="0">
                <a:solidFill>
                  <a:srgbClr val="F43F5E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12900" b="0" i="0">
                <a:solidFill>
                  <a:srgbClr val="F43F5E"/>
                </a:solidFill>
                <a:latin typeface="Plus Jakarta Sans ExtraBold"/>
                <a:ea typeface="Plus Jakarta Sans ExtraBold"/>
                <a:cs typeface="Plus Jakarta Sans ExtraBold"/>
              </a:rPr>
              <a:t>48%</a:t>
            </a:r>
          </a:p>
        </p:txBody>
      </p:sp>
      <p:sp>
        <p:nvSpPr>
          <p:cNvPr id="24" name="delle giocatrici adulte intervistate segnala">
            <a:extLst xmlns:a="http://schemas.openxmlformats.org/drawingml/2006/main">
              <a:ext uri="{FF2B5EF4-FFF2-40B4-BE49-F238E27FC236}">
                <a16:creationId xmlns:a16="http://schemas.microsoft.com/office/drawing/2014/main" id="{76C9EF09-15FF-4F05-AB18-22F120CC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8768"/>
            <a:ext cx="6308248" cy="460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</a:defRPr>
            </a:pPr>
            <a:r>
              <a:rPr sz="2400" b="0" i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</a:rPr>
              <a:t>delle giocatrici adulte intervistate segnala</a:t>
            </a:r>
          </a:p>
        </p:txBody>
      </p:sp>
      <p:sp>
        <p:nvSpPr>
          <p:cNvPr id="25" name="molestie legate al genere.">
            <a:extLst xmlns:a="http://schemas.openxmlformats.org/drawingml/2006/main">
              <a:ext uri="{FF2B5EF4-FFF2-40B4-BE49-F238E27FC236}">
                <a16:creationId xmlns:a16="http://schemas.microsoft.com/office/drawing/2014/main" id="{44CFD863-BCEE-499B-BAA3-4967CE57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5008"/>
            <a:ext cx="3998500" cy="460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</a:defRPr>
            </a:pPr>
            <a:r>
              <a:rPr sz="2400" b="0" i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</a:rPr>
              <a:t>molestie legate al genere.</a:t>
            </a:r>
          </a:p>
        </p:txBody>
      </p:sp>
      <p:sp>
        <p:nvSpPr>
          <p:cNvPr id="26" name="76% degli adulti intervistati segnala molestie nei">
            <a:extLst xmlns:a="http://schemas.openxmlformats.org/drawingml/2006/main">
              <a:ext uri="{FF2B5EF4-FFF2-40B4-BE49-F238E27FC236}">
                <a16:creationId xmlns:a16="http://schemas.microsoft.com/office/drawing/2014/main" id="{EEF27A52-ABA1-4D36-B155-CD6E54D2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552248"/>
            <a:ext cx="5814138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76% degli adulti intervistati segnala molestie nei</a:t>
            </a:r>
          </a:p>
        </p:txBody>
      </p:sp>
      <p:sp>
        <p:nvSpPr>
          <p:cNvPr id="27" name="giochi multiplayer online.">
            <a:extLst xmlns:a="http://schemas.openxmlformats.org/drawingml/2006/main">
              <a:ext uri="{FF2B5EF4-FFF2-40B4-BE49-F238E27FC236}">
                <a16:creationId xmlns:a16="http://schemas.microsoft.com/office/drawing/2014/main" id="{39CC9415-B2A3-4EBB-A3CA-E0927C45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98958"/>
            <a:ext cx="3153119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giochi multiplayer online.</a:t>
            </a:r>
          </a:p>
        </p:txBody>
      </p:sp>
      <p:sp>
        <p:nvSpPr>
          <p:cNvPr id="28" name="ADL · Stati Uniti · rilevazione 2023">
            <a:extLst xmlns:a="http://schemas.openxmlformats.org/drawingml/2006/main">
              <a:ext uri="{FF2B5EF4-FFF2-40B4-BE49-F238E27FC236}">
                <a16:creationId xmlns:a16="http://schemas.microsoft.com/office/drawing/2014/main" id="{3FE27FCD-D81F-483B-8702-CC3CB340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4267"/>
            <a:ext cx="4735897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ADL · Stati Uniti · rilevazione 2023</a:t>
            </a:r>
          </a:p>
        </p:txBody>
      </p:sp>
      <p:sp>
        <p:nvSpPr>
          <p:cNvPr id="29" name="Microfono spento">
            <a:extLst xmlns:a="http://schemas.openxmlformats.org/drawingml/2006/main">
              <a:ext uri="{FF2B5EF4-FFF2-40B4-BE49-F238E27FC236}">
                <a16:creationId xmlns:a16="http://schemas.microsoft.com/office/drawing/2014/main" id="{79D494C5-A3DB-46D0-A3F6-83DBF75B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303" y="6771323"/>
            <a:ext cx="2360144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9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Microfono spento</a:t>
            </a:r>
          </a:p>
        </p:txBody>
      </p:sp>
      <p:sp>
        <p:nvSpPr>
          <p:cNvPr id="30" name="Nickname neutro">
            <a:extLst xmlns:a="http://schemas.openxmlformats.org/drawingml/2006/main">
              <a:ext uri="{FF2B5EF4-FFF2-40B4-BE49-F238E27FC236}">
                <a16:creationId xmlns:a16="http://schemas.microsoft.com/office/drawing/2014/main" id="{7BC90E2D-FED6-4D44-9C7E-A0BE9920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5507" y="6771323"/>
            <a:ext cx="2265536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9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Nickname neutro</a:t>
            </a:r>
          </a:p>
        </p:txBody>
      </p:sp>
      <p:sp>
        <p:nvSpPr>
          <p:cNvPr id="31" name="Party chiusi">
            <a:extLst xmlns:a="http://schemas.openxmlformats.org/drawingml/2006/main">
              <a:ext uri="{FF2B5EF4-FFF2-40B4-BE49-F238E27FC236}">
                <a16:creationId xmlns:a16="http://schemas.microsoft.com/office/drawing/2014/main" id="{AEFADEBA-238B-41BF-8885-DA833F26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7205" y="6771323"/>
            <a:ext cx="1589940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9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Party chiusi</a:t>
            </a:r>
          </a:p>
        </p:txBody>
      </p:sp>
      <p:sp>
        <p:nvSpPr>
          <p:cNvPr id="32" name="Proteggersi diventando invisibili rafforza lo ster">
            <a:extLst xmlns:a="http://schemas.openxmlformats.org/drawingml/2006/main">
              <a:ext uri="{FF2B5EF4-FFF2-40B4-BE49-F238E27FC236}">
                <a16:creationId xmlns:a16="http://schemas.microsoft.com/office/drawing/2014/main" id="{FF614457-597E-4FB5-B906-247E7F0F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201025"/>
            <a:ext cx="1025275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defRPr>
            </a:pPr>
            <a:r>
              <a:rPr sz="300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rPr>
              <a:t>Proteggersi diventando invisibili rafforza lo stereotipo dell’assenza.</a:t>
            </a:r>
          </a:p>
        </p:txBody>
      </p:sp>
      <p:sp>
        <p:nvSpPr>
          <p:cNvPr id="33" name="ADL, INDAGINE 2023 · WELLS ET AL. 2025 · BOTTO E F">
            <a:extLst xmlns:a="http://schemas.openxmlformats.org/drawingml/2006/main">
              <a:ext uri="{FF2B5EF4-FFF2-40B4-BE49-F238E27FC236}">
                <a16:creationId xmlns:a16="http://schemas.microsoft.com/office/drawing/2014/main" id="{547C1BE5-6E90-438E-845B-1D6AD49E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80231"/>
            <a:ext cx="70675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ADL, INDAGINE 2023 · WELLS ET AL. 2025 · BOTTO E FALZEA 2025</a:t>
            </a:r>
          </a:p>
        </p:txBody>
      </p:sp>
      <p:sp>
        <p:nvSpPr>
          <p:cNvPr id="34" name="SLIDE 04 / 09">
            <a:extLst xmlns:a="http://schemas.openxmlformats.org/drawingml/2006/main">
              <a:ext uri="{FF2B5EF4-FFF2-40B4-BE49-F238E27FC236}">
                <a16:creationId xmlns:a16="http://schemas.microsoft.com/office/drawing/2014/main" id="{3A0427A9-07BC-44BC-A64E-CA28609D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9480231"/>
            <a:ext cx="16954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SLIDE 04 / 09</a:t>
            </a:r>
          </a:p>
        </p:txBody>
      </p:sp>
    </p:spTree>
    <p:extLst>
      <p:ext uri="{BB962C8B-B14F-4D97-AF65-F5344CB8AC3E}">
        <p14:creationId xmlns:p14="http://schemas.microsoft.com/office/powerpoint/2010/main" val="918584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6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2b73f1bb74a2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27D63C2C-9511-4933-BAE6-1F38F6BF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72200"/>
            <a:ext cx="1676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noFill/>
          </a:ln>
        </p:spPr>
      </p:sp>
      <p:sp>
        <p:nvSpPr>
          <p:cNvPr id="3" name="Da contorno a soggetto">
            <a:extLst xmlns:a="http://schemas.openxmlformats.org/drawingml/2006/main">
              <a:ext uri="{FF2B5EF4-FFF2-40B4-BE49-F238E27FC236}">
                <a16:creationId xmlns:a16="http://schemas.microsoft.com/office/drawing/2014/main" id="{61A00470-FB60-4BC0-AAC2-AF7B20E0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5462588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Da contorno a soggetto</a:t>
            </a:r>
          </a:p>
        </p:txBody>
      </p:sp>
      <p:sp>
        <p:nvSpPr>
          <p:cNvPr id="4" name="Da oggetto a soggetto della narrazione">
            <a:extLst xmlns:a="http://schemas.openxmlformats.org/drawingml/2006/main">
              <a:ext uri="{FF2B5EF4-FFF2-40B4-BE49-F238E27FC236}">
                <a16:creationId xmlns:a16="http://schemas.microsoft.com/office/drawing/2014/main" id="{DF359E75-BF1E-4574-91CE-E32A95C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0638"/>
            <a:ext cx="410879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 i="1">
                <a:solidFill>
                  <a:srgbClr val="CBD5E1"/>
                </a:solidFill>
                <a:latin typeface="Newsreader"/>
                <a:ea typeface="Newsreader"/>
                <a:cs typeface="Newsreader"/>
              </a:defRPr>
            </a:pPr>
            <a:r>
              <a:rPr sz="2025" b="0" i="1">
                <a:solidFill>
                  <a:srgbClr val="CBD5E1"/>
                </a:solidFill>
                <a:latin typeface="Newsreader"/>
                <a:ea typeface="Newsreader"/>
                <a:cs typeface="Newsreader"/>
              </a:rPr>
              <a:t>Da oggetto a soggetto della narrazione</a:t>
            </a:r>
          </a:p>
        </p:txBody>
      </p:sp>
      <p:sp>
        <p:nvSpPr>
          <p:cNvPr id="5" name="Valerio Bernardi">
            <a:extLst xmlns:a="http://schemas.openxmlformats.org/drawingml/2006/main">
              <a:ext uri="{FF2B5EF4-FFF2-40B4-BE49-F238E27FC236}">
                <a16:creationId xmlns:a16="http://schemas.microsoft.com/office/drawing/2014/main" id="{92E9A4A1-2862-463B-90DA-FA8C9EE2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290" y="752475"/>
            <a:ext cx="222126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Valerio Bernardi</a:t>
            </a:r>
          </a:p>
        </p:txBody>
      </p:sp>
      <p:sp>
        <p:nvSpPr>
          <p:cNvPr id="6" name="ANNI ’80">
            <a:extLst xmlns:a="http://schemas.openxmlformats.org/drawingml/2006/main">
              <a:ext uri="{FF2B5EF4-FFF2-40B4-BE49-F238E27FC236}">
                <a16:creationId xmlns:a16="http://schemas.microsoft.com/office/drawing/2014/main" id="{2A0DF5B4-4B63-41A8-B3EA-F00B827A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38900"/>
            <a:ext cx="135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BD84F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BD84F5"/>
                </a:solidFill>
                <a:latin typeface="JetBrains Mono"/>
                <a:ea typeface="JetBrains Mono"/>
                <a:cs typeface="JetBrains Mono"/>
              </a:rPr>
              <a:t>ANNI ’80</a:t>
            </a:r>
          </a:p>
        </p:txBody>
      </p:sp>
      <p:sp>
        <p:nvSpPr>
          <p:cNvPr id="7" name="Princess Peach">
            <a:extLst xmlns:a="http://schemas.openxmlformats.org/drawingml/2006/main">
              <a:ext uri="{FF2B5EF4-FFF2-40B4-BE49-F238E27FC236}">
                <a16:creationId xmlns:a16="http://schemas.microsoft.com/office/drawing/2014/main" id="{8945AC99-ACF8-4A21-9844-6C9E0BE6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2368572" cy="44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325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Princess Peach</a:t>
            </a:r>
          </a:p>
        </p:txBody>
      </p:sp>
      <p:sp>
        <p:nvSpPr>
          <p:cNvPr id="8" name="La principessa da salvare">
            <a:extLst xmlns:a="http://schemas.openxmlformats.org/drawingml/2006/main">
              <a:ext uri="{FF2B5EF4-FFF2-40B4-BE49-F238E27FC236}">
                <a16:creationId xmlns:a16="http://schemas.microsoft.com/office/drawing/2014/main" id="{F37D44A2-C950-4A9C-B46E-5982B710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7119"/>
            <a:ext cx="3132813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9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rPr>
              <a:t>La principessa da salvare</a:t>
            </a:r>
          </a:p>
        </p:txBody>
      </p:sp>
      <p:sp>
        <p:nvSpPr>
          <p:cNvPr id="9" name="Un ruolo costruito attorno all’azione">
            <a:extLst xmlns:a="http://schemas.openxmlformats.org/drawingml/2006/main">
              <a:ext uri="{FF2B5EF4-FFF2-40B4-BE49-F238E27FC236}">
                <a16:creationId xmlns:a16="http://schemas.microsoft.com/office/drawing/2014/main" id="{CECF4A1B-B47A-4666-9848-4BDD0548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0981"/>
            <a:ext cx="3904673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Un ruolo costruito attorno all’azione</a:t>
            </a:r>
          </a:p>
        </p:txBody>
      </p:sp>
      <p:sp>
        <p:nvSpPr>
          <p:cNvPr id="10" name="dell’eroe.">
            <a:extLst xmlns:a="http://schemas.openxmlformats.org/drawingml/2006/main">
              <a:ext uri="{FF2B5EF4-FFF2-40B4-BE49-F238E27FC236}">
                <a16:creationId xmlns:a16="http://schemas.microsoft.com/office/drawing/2014/main" id="{31889C08-0F37-4230-9FB1-09558C21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46733"/>
            <a:ext cx="1218391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dell’eroe.</a:t>
            </a:r>
          </a:p>
        </p:txBody>
      </p:sp>
      <p:sp>
        <p:nvSpPr>
          <p:cNvPr id="11" name="1996">
            <a:extLst xmlns:a="http://schemas.openxmlformats.org/drawingml/2006/main">
              <a:ext uri="{FF2B5EF4-FFF2-40B4-BE49-F238E27FC236}">
                <a16:creationId xmlns:a16="http://schemas.microsoft.com/office/drawing/2014/main" id="{E7886478-80A8-4D77-8D17-B9C89172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38" y="6438900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BD84F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BD84F5"/>
                </a:solidFill>
                <a:latin typeface="JetBrains Mono"/>
                <a:ea typeface="JetBrains Mono"/>
                <a:cs typeface="JetBrains Mono"/>
              </a:rPr>
              <a:t>1996</a:t>
            </a:r>
          </a:p>
        </p:txBody>
      </p:sp>
      <p:sp>
        <p:nvSpPr>
          <p:cNvPr id="12" name="Lara Croft">
            <a:extLst xmlns:a="http://schemas.openxmlformats.org/drawingml/2006/main">
              <a:ext uri="{FF2B5EF4-FFF2-40B4-BE49-F238E27FC236}">
                <a16:creationId xmlns:a16="http://schemas.microsoft.com/office/drawing/2014/main" id="{99D51BF0-E86E-4235-BD22-16CD1A7B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38" y="6905625"/>
            <a:ext cx="1652560" cy="44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325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Lara Croft</a:t>
            </a:r>
          </a:p>
        </p:txBody>
      </p:sp>
      <p:sp>
        <p:nvSpPr>
          <p:cNvPr id="13" name="Autonomia e male gaze">
            <a:extLst xmlns:a="http://schemas.openxmlformats.org/drawingml/2006/main">
              <a:ext uri="{FF2B5EF4-FFF2-40B4-BE49-F238E27FC236}">
                <a16:creationId xmlns:a16="http://schemas.microsoft.com/office/drawing/2014/main" id="{52E9FD39-6826-49DB-85E6-97736225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38" y="7427119"/>
            <a:ext cx="2937672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9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rPr>
              <a:t>Autonomia e male gaze</a:t>
            </a:r>
          </a:p>
        </p:txBody>
      </p:sp>
      <p:sp>
        <p:nvSpPr>
          <p:cNvPr id="14" name="Protagonista attiva, con un corpo">
            <a:extLst xmlns:a="http://schemas.openxmlformats.org/drawingml/2006/main">
              <a:ext uri="{FF2B5EF4-FFF2-40B4-BE49-F238E27FC236}">
                <a16:creationId xmlns:a16="http://schemas.microsoft.com/office/drawing/2014/main" id="{6CC10E85-99AB-4D0B-BFCC-3464A02A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38" y="7850981"/>
            <a:ext cx="3672650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Protagonista attiva, con un corpo</a:t>
            </a:r>
          </a:p>
        </p:txBody>
      </p:sp>
      <p:sp>
        <p:nvSpPr>
          <p:cNvPr id="15" name="sessualizzato.">
            <a:extLst xmlns:a="http://schemas.openxmlformats.org/drawingml/2006/main">
              <a:ext uri="{FF2B5EF4-FFF2-40B4-BE49-F238E27FC236}">
                <a16:creationId xmlns:a16="http://schemas.microsoft.com/office/drawing/2014/main" id="{FECF6D51-AA40-4941-A2CD-41FAAF4A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38" y="8146733"/>
            <a:ext cx="1658289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sessualizzato.</a:t>
            </a:r>
          </a:p>
        </p:txBody>
      </p:sp>
      <p:sp>
        <p:nvSpPr>
          <p:cNvPr id="16" name="2017–2020">
            <a:extLst xmlns:a="http://schemas.openxmlformats.org/drawingml/2006/main">
              <a:ext uri="{FF2B5EF4-FFF2-40B4-BE49-F238E27FC236}">
                <a16:creationId xmlns:a16="http://schemas.microsoft.com/office/drawing/2014/main" id="{8555C606-BEE8-4781-889A-9836C69E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6438900"/>
            <a:ext cx="14954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2017–2020</a:t>
            </a:r>
          </a:p>
        </p:txBody>
      </p:sp>
      <p:sp>
        <p:nvSpPr>
          <p:cNvPr id="17" name="Aloy e altre protagoniste">
            <a:extLst xmlns:a="http://schemas.openxmlformats.org/drawingml/2006/main">
              <a:ext uri="{FF2B5EF4-FFF2-40B4-BE49-F238E27FC236}">
                <a16:creationId xmlns:a16="http://schemas.microsoft.com/office/drawing/2014/main" id="{14E0AFD5-3D17-46D2-8593-D1A48087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6905625"/>
            <a:ext cx="3391542" cy="41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Aloy e altre protagoniste</a:t>
            </a:r>
          </a:p>
        </p:txBody>
      </p:sp>
      <p:sp>
        <p:nvSpPr>
          <p:cNvPr id="18" name="Personaggi complessi">
            <a:extLst xmlns:a="http://schemas.openxmlformats.org/drawingml/2006/main">
              <a:ext uri="{FF2B5EF4-FFF2-40B4-BE49-F238E27FC236}">
                <a16:creationId xmlns:a16="http://schemas.microsoft.com/office/drawing/2014/main" id="{1D8956DB-D7D5-47A1-94A1-73429C63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7391400"/>
            <a:ext cx="2831167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9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rPr>
              <a:t>Personaggi complessi</a:t>
            </a:r>
          </a:p>
        </p:txBody>
      </p:sp>
      <p:sp>
        <p:nvSpPr>
          <p:cNvPr id="19" name="Aloy, Senua, Ellie e Abby: storie e">
            <a:extLst xmlns:a="http://schemas.openxmlformats.org/drawingml/2006/main">
              <a:ext uri="{FF2B5EF4-FFF2-40B4-BE49-F238E27FC236}">
                <a16:creationId xmlns:a16="http://schemas.microsoft.com/office/drawing/2014/main" id="{44C2A43D-F2C5-4F78-9974-B165D64F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7815263"/>
            <a:ext cx="3599269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Aloy, Senua, Ellie e Abby: storie e</a:t>
            </a:r>
          </a:p>
        </p:txBody>
      </p:sp>
      <p:sp>
        <p:nvSpPr>
          <p:cNvPr id="20" name="corpi diversi.">
            <a:extLst xmlns:a="http://schemas.openxmlformats.org/drawingml/2006/main">
              <a:ext uri="{FF2B5EF4-FFF2-40B4-BE49-F238E27FC236}">
                <a16:creationId xmlns:a16="http://schemas.microsoft.com/office/drawing/2014/main" id="{72F4646F-7A85-441E-9E83-8E519737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8111014"/>
            <a:ext cx="1555533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corpi diversi.</a:t>
            </a:r>
          </a:p>
        </p:txBody>
      </p:sp>
      <p:sp>
        <p:nvSpPr>
          <p:cNvPr id="21" name="BALDUR’S GATE 3">
            <a:extLst xmlns:a="http://schemas.openxmlformats.org/drawingml/2006/main">
              <a:ext uri="{FF2B5EF4-FFF2-40B4-BE49-F238E27FC236}">
                <a16:creationId xmlns:a16="http://schemas.microsoft.com/office/drawing/2014/main" id="{F4A06A93-5D34-4011-B873-D391CECA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3613" y="5560693"/>
            <a:ext cx="19240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BALDUR’S GATE 3</a:t>
            </a:r>
          </a:p>
        </p:txBody>
      </p:sp>
      <p:sp>
        <p:nvSpPr>
          <p:cNvPr id="22" name="OGGI">
            <a:extLst xmlns:a="http://schemas.openxmlformats.org/drawingml/2006/main">
              <a:ext uri="{FF2B5EF4-FFF2-40B4-BE49-F238E27FC236}">
                <a16:creationId xmlns:a16="http://schemas.microsoft.com/office/drawing/2014/main" id="{9CBBFC01-EFDD-4367-9BFA-FB09CBE2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3613" y="6438900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OGGI</a:t>
            </a:r>
          </a:p>
        </p:txBody>
      </p:sp>
      <p:sp>
        <p:nvSpPr>
          <p:cNvPr id="23" name="Identità personalizzabile">
            <a:extLst xmlns:a="http://schemas.openxmlformats.org/drawingml/2006/main">
              <a:ext uri="{FF2B5EF4-FFF2-40B4-BE49-F238E27FC236}">
                <a16:creationId xmlns:a16="http://schemas.microsoft.com/office/drawing/2014/main" id="{EA5644C7-1FA7-4690-AF95-ACBECBCF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3613" y="6905625"/>
            <a:ext cx="3362195" cy="41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Identità personalizzabile</a:t>
            </a:r>
          </a:p>
        </p:txBody>
      </p:sp>
      <p:sp>
        <p:nvSpPr>
          <p:cNvPr id="24" name="Più libertà di scelta">
            <a:extLst xmlns:a="http://schemas.openxmlformats.org/drawingml/2006/main">
              <a:ext uri="{FF2B5EF4-FFF2-40B4-BE49-F238E27FC236}">
                <a16:creationId xmlns:a16="http://schemas.microsoft.com/office/drawing/2014/main" id="{50CD762A-B4C5-4144-BA18-DC265223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3613" y="7391400"/>
            <a:ext cx="2411648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9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rPr>
              <a:t>Più libertà di scelta</a:t>
            </a:r>
          </a:p>
        </p:txBody>
      </p:sp>
      <p:sp>
        <p:nvSpPr>
          <p:cNvPr id="25" name="Corpo, voce e identità si possono">
            <a:extLst xmlns:a="http://schemas.openxmlformats.org/drawingml/2006/main">
              <a:ext uri="{FF2B5EF4-FFF2-40B4-BE49-F238E27FC236}">
                <a16:creationId xmlns:a16="http://schemas.microsoft.com/office/drawing/2014/main" id="{463A01E3-0080-4998-B16C-A2198245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3613" y="7815263"/>
            <a:ext cx="3702881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Corpo, voce e identità si possono</a:t>
            </a:r>
          </a:p>
        </p:txBody>
      </p:sp>
      <p:sp>
        <p:nvSpPr>
          <p:cNvPr id="26" name="scegliere separatamente.">
            <a:extLst xmlns:a="http://schemas.openxmlformats.org/drawingml/2006/main">
              <a:ext uri="{FF2B5EF4-FFF2-40B4-BE49-F238E27FC236}">
                <a16:creationId xmlns:a16="http://schemas.microsoft.com/office/drawing/2014/main" id="{9BA60E20-EB0E-41C5-9350-32D73CD5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3613" y="8111014"/>
            <a:ext cx="2899563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scegliere separatamente.</a:t>
            </a:r>
          </a:p>
        </p:txBody>
      </p:sp>
      <p:sp>
        <p:nvSpPr>
          <p:cNvPr id="27" name="PERSONAGGI FEMMINILI NEL VIDEOGIOCO · ESEMPI, NON ">
            <a:extLst xmlns:a="http://schemas.openxmlformats.org/drawingml/2006/main">
              <a:ext uri="{FF2B5EF4-FFF2-40B4-BE49-F238E27FC236}">
                <a16:creationId xmlns:a16="http://schemas.microsoft.com/office/drawing/2014/main" id="{45ED217A-8313-4844-8932-43FF15D2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80231"/>
            <a:ext cx="83248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PERSONAGGI FEMMINILI NEL VIDEOGIOCO · ESEMPI, NON UN’EVOLUZIONE LINEARE</a:t>
            </a:r>
          </a:p>
        </p:txBody>
      </p:sp>
      <p:sp>
        <p:nvSpPr>
          <p:cNvPr id="28" name="SLIDE 05 / 09">
            <a:extLst xmlns:a="http://schemas.openxmlformats.org/drawingml/2006/main">
              <a:ext uri="{FF2B5EF4-FFF2-40B4-BE49-F238E27FC236}">
                <a16:creationId xmlns:a16="http://schemas.microsoft.com/office/drawing/2014/main" id="{5404F3CD-7B37-4B94-AB52-3C33BF9A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9480231"/>
            <a:ext cx="16954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A855F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A855F7"/>
                </a:solidFill>
                <a:latin typeface="JetBrains Mono"/>
                <a:ea typeface="JetBrains Mono"/>
                <a:cs typeface="JetBrains Mono"/>
              </a:rPr>
              <a:t>SLIDE 05 / 09</a:t>
            </a:r>
          </a:p>
        </p:txBody>
      </p:sp>
    </p:spTree>
    <p:extLst>
      <p:ext uri="{BB962C8B-B14F-4D97-AF65-F5344CB8AC3E}">
        <p14:creationId xmlns:p14="http://schemas.microsoft.com/office/powerpoint/2010/main" val="923377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6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1963536eb499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Quasi metà gioca. Solo un quarto sviluppa">
            <a:extLst xmlns:a="http://schemas.openxmlformats.org/drawingml/2006/main">
              <a:ext uri="{FF2B5EF4-FFF2-40B4-BE49-F238E27FC236}">
                <a16:creationId xmlns:a16="http://schemas.microsoft.com/office/drawing/2014/main" id="{6A300FD5-F389-44B4-BF6A-B354BA0C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9111520" cy="652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360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Quasi metà gioca. Solo un quarto sviluppa</a:t>
            </a:r>
          </a:p>
        </p:txBody>
      </p:sp>
      <p:sp>
        <p:nvSpPr>
          <p:cNvPr id="3" name="Samuele De Santis">
            <a:extLst xmlns:a="http://schemas.openxmlformats.org/drawingml/2006/main">
              <a:ext uri="{FF2B5EF4-FFF2-40B4-BE49-F238E27FC236}">
                <a16:creationId xmlns:a16="http://schemas.microsoft.com/office/drawing/2014/main" id="{B125BC5D-B43B-4600-9F2B-57941AB4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8558" y="752475"/>
            <a:ext cx="2346992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Samuele De Santis</a:t>
            </a:r>
          </a:p>
        </p:txBody>
      </p:sp>
      <p:sp>
        <p:nvSpPr>
          <p:cNvPr id="4" name="Giocatrici">
            <a:extLst xmlns:a="http://schemas.openxmlformats.org/drawingml/2006/main">
              <a:ext uri="{FF2B5EF4-FFF2-40B4-BE49-F238E27FC236}">
                <a16:creationId xmlns:a16="http://schemas.microsoft.com/office/drawing/2014/main" id="{DA918830-91C0-4A16-A10C-96413D3B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3376"/>
            <a:ext cx="1759818" cy="48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5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Giocatrici</a:t>
            </a:r>
          </a:p>
        </p:txBody>
      </p:sp>
      <p:sp>
        <p:nvSpPr>
          <p:cNvPr id="5" name="Campione internazionale ESA, 2025">
            <a:extLst xmlns:a="http://schemas.openxmlformats.org/drawingml/2006/main">
              <a:ext uri="{FF2B5EF4-FFF2-40B4-BE49-F238E27FC236}">
                <a16:creationId xmlns:a16="http://schemas.microsoft.com/office/drawing/2014/main" id="{3093CEE9-02DA-41DE-90B2-5DFB60AF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2491"/>
            <a:ext cx="3925714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Campione internazionale ESA, 2025</a:t>
            </a:r>
          </a:p>
        </p:txBody>
      </p:sp>
      <p:sp>
        <p:nvSpPr>
          <p:cNvPr id="6" name="48%">
            <a:extLst xmlns:a="http://schemas.openxmlformats.org/drawingml/2006/main">
              <a:ext uri="{FF2B5EF4-FFF2-40B4-BE49-F238E27FC236}">
                <a16:creationId xmlns:a16="http://schemas.microsoft.com/office/drawing/2014/main" id="{6694DB81-8C34-482C-8583-15756C68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085" y="2209800"/>
            <a:ext cx="1696315" cy="8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0" i="0">
                <a:solidFill>
                  <a:srgbClr val="38BDF8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4950" b="0" i="0">
                <a:solidFill>
                  <a:srgbClr val="38BDF8"/>
                </a:solidFill>
                <a:latin typeface="Plus Jakarta Sans ExtraBold"/>
                <a:ea typeface="Plus Jakarta Sans ExtraBold"/>
                <a:cs typeface="Plus Jakarta Sans ExtraBold"/>
              </a:rPr>
              <a:t>48%</a:t>
            </a:r>
          </a:p>
        </p:txBody>
      </p:sp>
      <p:sp>
        <p:nvSpPr>
          <p:cNvPr id="7" name="Forza lavoro negli studi">
            <a:extLst xmlns:a="http://schemas.openxmlformats.org/drawingml/2006/main">
              <a:ext uri="{FF2B5EF4-FFF2-40B4-BE49-F238E27FC236}">
                <a16:creationId xmlns:a16="http://schemas.microsoft.com/office/drawing/2014/main" id="{0C9C3C2E-9F91-407C-B5C5-D18AA8B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8811"/>
            <a:ext cx="3790020" cy="48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5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Forza lavoro negli studi</a:t>
            </a:r>
          </a:p>
        </p:txBody>
      </p:sp>
      <p:sp>
        <p:nvSpPr>
          <p:cNvPr id="8" name="23% in Italia · circa 25% nel campione GDC">
            <a:extLst xmlns:a="http://schemas.openxmlformats.org/drawingml/2006/main">
              <a:ext uri="{FF2B5EF4-FFF2-40B4-BE49-F238E27FC236}">
                <a16:creationId xmlns:a16="http://schemas.microsoft.com/office/drawing/2014/main" id="{E24F8253-8B75-4263-B891-E5647355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7926"/>
            <a:ext cx="4630889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23% in Italia · circa 25% nel campione GDC</a:t>
            </a:r>
          </a:p>
        </p:txBody>
      </p:sp>
      <p:sp>
        <p:nvSpPr>
          <p:cNvPr id="9" name="23–25%">
            <a:extLst xmlns:a="http://schemas.openxmlformats.org/drawingml/2006/main">
              <a:ext uri="{FF2B5EF4-FFF2-40B4-BE49-F238E27FC236}">
                <a16:creationId xmlns:a16="http://schemas.microsoft.com/office/drawing/2014/main" id="{F0755A48-EA07-4F5C-88F5-5E19D87E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865" y="3785235"/>
            <a:ext cx="2832274" cy="8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0" i="0">
                <a:solidFill>
                  <a:srgbClr val="A855F7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4950" b="0" i="0">
                <a:solidFill>
                  <a:srgbClr val="A855F7"/>
                </a:solidFill>
                <a:latin typeface="Plus Jakarta Sans ExtraBold"/>
                <a:ea typeface="Plus Jakarta Sans ExtraBold"/>
                <a:cs typeface="Plus Jakarta Sans ExtraBold"/>
              </a:rPr>
              <a:t>23–25%</a:t>
            </a:r>
          </a:p>
        </p:txBody>
      </p:sp>
      <p:sp>
        <p:nvSpPr>
          <p:cNvPr id="10" name="Ruoli tecnici">
            <a:extLst xmlns:a="http://schemas.openxmlformats.org/drawingml/2006/main">
              <a:ext uri="{FF2B5EF4-FFF2-40B4-BE49-F238E27FC236}">
                <a16:creationId xmlns:a16="http://schemas.microsoft.com/office/drawing/2014/main" id="{9ECD736A-B83B-4569-A89D-09C5647D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6420"/>
            <a:ext cx="2127070" cy="48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5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Ruoli tecnici</a:t>
            </a:r>
          </a:p>
        </p:txBody>
      </p:sp>
      <p:sp>
        <p:nvSpPr>
          <p:cNvPr id="11" name="Stima del progetto · fonte specifica da precisare">
            <a:extLst xmlns:a="http://schemas.openxmlformats.org/drawingml/2006/main">
              <a:ext uri="{FF2B5EF4-FFF2-40B4-BE49-F238E27FC236}">
                <a16:creationId xmlns:a16="http://schemas.microsoft.com/office/drawing/2014/main" id="{69EB4418-89ED-40DF-A59A-C5F1B613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35535"/>
            <a:ext cx="5239699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</a:rPr>
              <a:t>Stima del progetto · fonte specifica da precisare</a:t>
            </a:r>
          </a:p>
        </p:txBody>
      </p:sp>
      <p:sp>
        <p:nvSpPr>
          <p:cNvPr id="12" name="≈20%">
            <a:extLst xmlns:a="http://schemas.openxmlformats.org/drawingml/2006/main">
              <a:ext uri="{FF2B5EF4-FFF2-40B4-BE49-F238E27FC236}">
                <a16:creationId xmlns:a16="http://schemas.microsoft.com/office/drawing/2014/main" id="{7A06DEB5-F072-4E9B-879E-8AAF8F8A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069" y="5365019"/>
            <a:ext cx="2223678" cy="876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0" i="0">
                <a:solidFill>
                  <a:srgbClr val="F43F5E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4950" b="0" i="0">
                <a:solidFill>
                  <a:srgbClr val="F43F5E"/>
                </a:solidFill>
                <a:latin typeface="Plus Jakarta Sans ExtraBold"/>
                <a:ea typeface="Plus Jakarta Sans ExtraBold"/>
                <a:cs typeface="Plus Jakarta Sans ExtraBold"/>
              </a:rPr>
              <a:t>≈20%</a:t>
            </a:r>
          </a:p>
        </p:txBody>
      </p:sp>
      <p:sp>
        <p:nvSpPr>
          <p:cNvPr id="13" name="Segregazione orizzontale">
            <a:extLst xmlns:a="http://schemas.openxmlformats.org/drawingml/2006/main">
              <a:ext uri="{FF2B5EF4-FFF2-40B4-BE49-F238E27FC236}">
                <a16:creationId xmlns:a16="http://schemas.microsoft.com/office/drawing/2014/main" id="{1073A496-BABD-44C2-9990-2E85761A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301865"/>
            <a:ext cx="3473128" cy="41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Segregazione orizzontale</a:t>
            </a:r>
          </a:p>
        </p:txBody>
      </p:sp>
      <p:sp>
        <p:nvSpPr>
          <p:cNvPr id="14" name="Concentrazione in alcuni ambiti">
            <a:extLst xmlns:a="http://schemas.openxmlformats.org/drawingml/2006/main">
              <a:ext uri="{FF2B5EF4-FFF2-40B4-BE49-F238E27FC236}">
                <a16:creationId xmlns:a16="http://schemas.microsoft.com/office/drawing/2014/main" id="{950251A8-7BC8-439F-831A-C78F9F18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818120"/>
            <a:ext cx="3884926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Concentrazione in alcuni ambiti</a:t>
            </a:r>
          </a:p>
        </p:txBody>
      </p:sp>
      <p:sp>
        <p:nvSpPr>
          <p:cNvPr id="15" name="professionali e minore presenza in">
            <a:extLst xmlns:a="http://schemas.openxmlformats.org/drawingml/2006/main">
              <a:ext uri="{FF2B5EF4-FFF2-40B4-BE49-F238E27FC236}">
                <a16:creationId xmlns:a16="http://schemas.microsoft.com/office/drawing/2014/main" id="{2A15C3AA-B45A-408C-84F3-8FC3CC29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164830"/>
            <a:ext cx="4178871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professionali e minore presenza in</a:t>
            </a:r>
          </a:p>
        </p:txBody>
      </p:sp>
      <p:sp>
        <p:nvSpPr>
          <p:cNvPr id="16" name="altri.">
            <a:extLst xmlns:a="http://schemas.openxmlformats.org/drawingml/2006/main">
              <a:ext uri="{FF2B5EF4-FFF2-40B4-BE49-F238E27FC236}">
                <a16:creationId xmlns:a16="http://schemas.microsoft.com/office/drawing/2014/main" id="{EA04463F-A6C4-4676-9495-71FF2065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511540"/>
            <a:ext cx="732588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altri.</a:t>
            </a:r>
          </a:p>
        </p:txBody>
      </p:sp>
      <p:sp>
        <p:nvSpPr>
          <p:cNvPr id="17" name="Segregazione verticale">
            <a:extLst xmlns:a="http://schemas.openxmlformats.org/drawingml/2006/main">
              <a:ext uri="{FF2B5EF4-FFF2-40B4-BE49-F238E27FC236}">
                <a16:creationId xmlns:a16="http://schemas.microsoft.com/office/drawing/2014/main" id="{351898E5-5F36-4BEB-A540-4DE24423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213" y="7301865"/>
            <a:ext cx="3188298" cy="41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Segregazione verticale</a:t>
            </a:r>
          </a:p>
        </p:txBody>
      </p:sp>
      <p:sp>
        <p:nvSpPr>
          <p:cNvPr id="18" name="Meno presenza nei ruoli decisionali e">
            <a:extLst xmlns:a="http://schemas.openxmlformats.org/drawingml/2006/main">
              <a:ext uri="{FF2B5EF4-FFF2-40B4-BE49-F238E27FC236}">
                <a16:creationId xmlns:a16="http://schemas.microsoft.com/office/drawing/2014/main" id="{60A972E6-9136-4EBB-862A-67F7134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213" y="7818120"/>
            <a:ext cx="4468630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Meno presenza nei ruoli decisionali e</a:t>
            </a:r>
          </a:p>
        </p:txBody>
      </p:sp>
      <p:sp>
        <p:nvSpPr>
          <p:cNvPr id="19" name="di leadership.">
            <a:extLst xmlns:a="http://schemas.openxmlformats.org/drawingml/2006/main">
              <a:ext uri="{FF2B5EF4-FFF2-40B4-BE49-F238E27FC236}">
                <a16:creationId xmlns:a16="http://schemas.microsoft.com/office/drawing/2014/main" id="{7A4D3C0D-8D6D-40B9-9859-70434E1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213" y="8164830"/>
            <a:ext cx="1805648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9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di leadership.</a:t>
            </a:r>
          </a:p>
        </p:txBody>
      </p:sp>
      <p:sp>
        <p:nvSpPr>
          <p:cNvPr id="20" name="Una minore varietà di esperienze nei team può">
            <a:extLst xmlns:a="http://schemas.openxmlformats.org/drawingml/2006/main">
              <a:ext uri="{FF2B5EF4-FFF2-40B4-BE49-F238E27FC236}">
                <a16:creationId xmlns:a16="http://schemas.microsoft.com/office/drawing/2014/main" id="{64C177D7-2BDA-4C56-A08E-D6DC0A9A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900" y="7983855"/>
            <a:ext cx="623754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defRPr>
            </a:pPr>
            <a:r>
              <a:rPr sz="255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rPr>
              <a:t>Una minore varietà di esperienze nei team può</a:t>
            </a:r>
          </a:p>
        </p:txBody>
      </p:sp>
      <p:sp>
        <p:nvSpPr>
          <p:cNvPr id="21" name="lasciare alcuni bisogni fuori dal progetto.">
            <a:extLst xmlns:a="http://schemas.openxmlformats.org/drawingml/2006/main">
              <a:ext uri="{FF2B5EF4-FFF2-40B4-BE49-F238E27FC236}">
                <a16:creationId xmlns:a16="http://schemas.microsoft.com/office/drawing/2014/main" id="{FF6E6C05-3415-4857-A52D-6578F576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900" y="8421053"/>
            <a:ext cx="543276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defRPr>
            </a:pPr>
            <a:r>
              <a:rPr sz="255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rPr>
              <a:t>lasciare alcuni bisogni fuori dal progetto.</a:t>
            </a:r>
          </a:p>
        </p:txBody>
      </p:sp>
      <p:sp>
        <p:nvSpPr>
          <p:cNvPr id="22" name="ESA 2025 · IIDEA, DATI 2024 · GDC 2025 · ≈20% DA V">
            <a:extLst xmlns:a="http://schemas.openxmlformats.org/drawingml/2006/main">
              <a:ext uri="{FF2B5EF4-FFF2-40B4-BE49-F238E27FC236}">
                <a16:creationId xmlns:a16="http://schemas.microsoft.com/office/drawing/2014/main" id="{E8F8F6A7-E454-428C-8249-6C5405AC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80231"/>
            <a:ext cx="6953641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ESA 2025 · IIDEA, DATI 2024 · GDC 2025 · ≈20% DA VERIFICARE</a:t>
            </a:r>
          </a:p>
        </p:txBody>
      </p:sp>
      <p:sp>
        <p:nvSpPr>
          <p:cNvPr id="23" name="SLIDE 06 / 09">
            <a:extLst xmlns:a="http://schemas.openxmlformats.org/drawingml/2006/main">
              <a:ext uri="{FF2B5EF4-FFF2-40B4-BE49-F238E27FC236}">
                <a16:creationId xmlns:a16="http://schemas.microsoft.com/office/drawing/2014/main" id="{5E648378-9223-4A73-A3C5-3973C0CB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9480231"/>
            <a:ext cx="16954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SLIDE 06 / 09</a:t>
            </a:r>
          </a:p>
        </p:txBody>
      </p:sp>
    </p:spTree>
    <p:extLst>
      <p:ext uri="{BB962C8B-B14F-4D97-AF65-F5344CB8AC3E}">
        <p14:creationId xmlns:p14="http://schemas.microsoft.com/office/powerpoint/2010/main" val="5909471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6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569e456124c7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DC2F5245-4EB2-4A32-B985-5AD2523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48615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3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6BCA99E9-A832-4541-A3BB-471FF5C1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6105525"/>
            <a:ext cx="60350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4" name="Grafico / elemento modificabile">
            <a:extLst xmlns:a="http://schemas.openxmlformats.org/drawingml/2006/main">
              <a:ext uri="{FF2B5EF4-FFF2-40B4-BE49-F238E27FC236}">
                <a16:creationId xmlns:a16="http://schemas.microsoft.com/office/drawing/2014/main" id="{FC5A12CA-BA89-4CEB-BCAF-3EC2B247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439" y="5581650"/>
            <a:ext cx="486156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</a:ln>
        </p:spPr>
      </p:sp>
      <p:sp>
        <p:nvSpPr>
          <p:cNvPr id="5" name="Il divario cresce salendo di livello">
            <a:extLst xmlns:a="http://schemas.openxmlformats.org/drawingml/2006/main">
              <a:ext uri="{FF2B5EF4-FFF2-40B4-BE49-F238E27FC236}">
                <a16:creationId xmlns:a16="http://schemas.microsoft.com/office/drawing/2014/main" id="{5BCBFC45-7D23-486D-AB4A-F66F549D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7337096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Il divario cresce salendo di livello</a:t>
            </a:r>
          </a:p>
        </p:txBody>
      </p:sp>
      <p:sp>
        <p:nvSpPr>
          <p:cNvPr id="6" name="Samuele De Santis">
            <a:extLst xmlns:a="http://schemas.openxmlformats.org/drawingml/2006/main">
              <a:ext uri="{FF2B5EF4-FFF2-40B4-BE49-F238E27FC236}">
                <a16:creationId xmlns:a16="http://schemas.microsoft.com/office/drawing/2014/main" id="{7D0B8AE9-9E71-4E64-93A5-EB5D46BB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8558" y="752475"/>
            <a:ext cx="2346992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Samuele De Santis</a:t>
            </a:r>
          </a:p>
        </p:txBody>
      </p:sp>
      <p:sp>
        <p:nvSpPr>
          <p:cNvPr id="7" name="01 / RETRIBUZIONE">
            <a:extLst xmlns:a="http://schemas.openxmlformats.org/drawingml/2006/main">
              <a:ext uri="{FF2B5EF4-FFF2-40B4-BE49-F238E27FC236}">
                <a16:creationId xmlns:a16="http://schemas.microsoft.com/office/drawing/2014/main" id="{281BE21C-A585-412E-8CE4-26D8D2AE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444083" cy="365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01 / RETRIBUZIONE</a:t>
            </a:r>
          </a:p>
        </p:txBody>
      </p:sp>
      <p:sp>
        <p:nvSpPr>
          <p:cNvPr id="8" name="−24%">
            <a:extLst xmlns:a="http://schemas.openxmlformats.org/drawingml/2006/main">
              <a:ext uri="{FF2B5EF4-FFF2-40B4-BE49-F238E27FC236}">
                <a16:creationId xmlns:a16="http://schemas.microsoft.com/office/drawing/2014/main" id="{083E83F0-068E-42BC-9D76-2E6C543E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2982"/>
            <a:ext cx="2545626" cy="1132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1" i="0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6600" b="1" i="0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</a:rPr>
              <a:t>−24%</a:t>
            </a:r>
          </a:p>
        </p:txBody>
      </p:sp>
      <p:sp>
        <p:nvSpPr>
          <p:cNvPr id="9" name="Retribuzione media delle donne rispetto">
            <a:extLst xmlns:a="http://schemas.openxmlformats.org/drawingml/2006/main">
              <a:ext uri="{FF2B5EF4-FFF2-40B4-BE49-F238E27FC236}">
                <a16:creationId xmlns:a16="http://schemas.microsoft.com/office/drawing/2014/main" id="{B30501A1-4A83-40C5-9466-C8E2E8F7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5502"/>
            <a:ext cx="4731265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Retribuzione media delle donne rispetto</a:t>
            </a:r>
          </a:p>
        </p:txBody>
      </p:sp>
      <p:sp>
        <p:nvSpPr>
          <p:cNvPr id="10" name="agli uomini nel campione GDC USA.">
            <a:extLst xmlns:a="http://schemas.openxmlformats.org/drawingml/2006/main">
              <a:ext uri="{FF2B5EF4-FFF2-40B4-BE49-F238E27FC236}">
                <a16:creationId xmlns:a16="http://schemas.microsoft.com/office/drawing/2014/main" id="{9F5EF8D8-5A5A-4683-B73D-2132C27F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6971"/>
            <a:ext cx="4190749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agli uomini nel campione GDC USA.</a:t>
            </a:r>
          </a:p>
        </p:txBody>
      </p:sp>
      <p:sp>
        <p:nvSpPr>
          <p:cNvPr id="11" name="02 / CARRIERA SENIOR">
            <a:extLst xmlns:a="http://schemas.openxmlformats.org/drawingml/2006/main">
              <a:ext uri="{FF2B5EF4-FFF2-40B4-BE49-F238E27FC236}">
                <a16:creationId xmlns:a16="http://schemas.microsoft.com/office/drawing/2014/main" id="{10C0B211-FA86-45C1-9131-1AFAABF4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19375"/>
            <a:ext cx="2838413" cy="365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02 / CARRIERA SENIOR</a:t>
            </a:r>
          </a:p>
        </p:txBody>
      </p:sp>
      <p:sp>
        <p:nvSpPr>
          <p:cNvPr id="12" name="68%">
            <a:extLst xmlns:a="http://schemas.openxmlformats.org/drawingml/2006/main">
              <a:ext uri="{FF2B5EF4-FFF2-40B4-BE49-F238E27FC236}">
                <a16:creationId xmlns:a16="http://schemas.microsoft.com/office/drawing/2014/main" id="{BA4CE20C-571A-4647-BC18-84327886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18107"/>
            <a:ext cx="1814337" cy="101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5850" b="1" i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</a:rPr>
              <a:t>68%</a:t>
            </a:r>
          </a:p>
        </p:txBody>
      </p:sp>
      <p:sp>
        <p:nvSpPr>
          <p:cNvPr id="13" name=" / ">
            <a:extLst xmlns:a="http://schemas.openxmlformats.org/drawingml/2006/main">
              <a:ext uri="{FF2B5EF4-FFF2-40B4-BE49-F238E27FC236}">
                <a16:creationId xmlns:a16="http://schemas.microsoft.com/office/drawing/2014/main" id="{8C3F60BB-2DF1-41B8-9971-F063D530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267" y="3391853"/>
            <a:ext cx="514519" cy="652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600" b="1" i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</a:rPr>
              <a:t> / </a:t>
            </a:r>
          </a:p>
        </p:txBody>
      </p:sp>
      <p:sp>
        <p:nvSpPr>
          <p:cNvPr id="14" name="38%">
            <a:extLst xmlns:a="http://schemas.openxmlformats.org/drawingml/2006/main">
              <a:ext uri="{FF2B5EF4-FFF2-40B4-BE49-F238E27FC236}">
                <a16:creationId xmlns:a16="http://schemas.microsoft.com/office/drawing/2014/main" id="{07E19ECE-B23E-447C-A791-6BD17E86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235" y="3118107"/>
            <a:ext cx="1821025" cy="101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5850" b="1" i="0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</a:rPr>
              <a:t>38%</a:t>
            </a:r>
          </a:p>
        </p:txBody>
      </p:sp>
      <p:sp>
        <p:nvSpPr>
          <p:cNvPr id="15" name="Uomini / Donne e persone non binarie">
            <a:extLst xmlns:a="http://schemas.openxmlformats.org/drawingml/2006/main">
              <a:ext uri="{FF2B5EF4-FFF2-40B4-BE49-F238E27FC236}">
                <a16:creationId xmlns:a16="http://schemas.microsoft.com/office/drawing/2014/main" id="{43ACF528-5F61-4F3B-95D3-546354F4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125852"/>
            <a:ext cx="3912450" cy="34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650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rPr>
              <a:t>Uomini / Donne e persone non binarie</a:t>
            </a:r>
          </a:p>
        </p:txBody>
      </p:sp>
      <p:sp>
        <p:nvSpPr>
          <p:cNvPr id="16" name="Game designer con 6+ anni di esperienza e almeno">
            <a:extLst xmlns:a="http://schemas.openxmlformats.org/drawingml/2006/main">
              <a:ext uri="{FF2B5EF4-FFF2-40B4-BE49-F238E27FC236}">
                <a16:creationId xmlns:a16="http://schemas.microsoft.com/office/drawing/2014/main" id="{174FB2A9-660F-4C06-90FA-D9E846C3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599245"/>
            <a:ext cx="5897361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Game designer con 6+ anni di esperienza e almeno</a:t>
            </a:r>
          </a:p>
        </p:txBody>
      </p:sp>
      <p:sp>
        <p:nvSpPr>
          <p:cNvPr id="17" name="$125.000 annui.">
            <a:extLst xmlns:a="http://schemas.openxmlformats.org/drawingml/2006/main">
              <a:ext uri="{FF2B5EF4-FFF2-40B4-BE49-F238E27FC236}">
                <a16:creationId xmlns:a16="http://schemas.microsoft.com/office/drawing/2014/main" id="{E0463430-3064-4E7A-8264-469BBC6C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920714"/>
            <a:ext cx="2060721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$125.000 annui.</a:t>
            </a:r>
          </a:p>
        </p:txBody>
      </p:sp>
      <p:sp>
        <p:nvSpPr>
          <p:cNvPr id="18" name="30 punti percentuali di distanza">
            <a:extLst xmlns:a="http://schemas.openxmlformats.org/drawingml/2006/main">
              <a:ext uri="{FF2B5EF4-FFF2-40B4-BE49-F238E27FC236}">
                <a16:creationId xmlns:a16="http://schemas.microsoft.com/office/drawing/2014/main" id="{C1487AF4-B162-42BF-AC47-9FC7EC9A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413632"/>
            <a:ext cx="3603129" cy="364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43F5E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800" b="0" i="0">
                <a:solidFill>
                  <a:srgbClr val="F43F5E"/>
                </a:solidFill>
                <a:latin typeface="Plus Jakarta Sans Medium"/>
                <a:ea typeface="Plus Jakarta Sans Medium"/>
                <a:cs typeface="Plus Jakarta Sans Medium"/>
              </a:rPr>
              <a:t>30 punti percentuali di distanza</a:t>
            </a:r>
          </a:p>
        </p:txBody>
      </p:sp>
      <p:sp>
        <p:nvSpPr>
          <p:cNvPr id="19" name="03 / COMPETIZIONE">
            <a:extLst xmlns:a="http://schemas.openxmlformats.org/drawingml/2006/main">
              <a:ext uri="{FF2B5EF4-FFF2-40B4-BE49-F238E27FC236}">
                <a16:creationId xmlns:a16="http://schemas.microsoft.com/office/drawing/2014/main" id="{DBAE590D-66FE-4037-84A6-CBCB851B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440" y="1905000"/>
            <a:ext cx="2444083" cy="365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03 / COMPETIZIONE</a:t>
            </a:r>
          </a:p>
        </p:txBody>
      </p:sp>
      <p:sp>
        <p:nvSpPr>
          <p:cNvPr id="20" name="33%">
            <a:extLst xmlns:a="http://schemas.openxmlformats.org/drawingml/2006/main">
              <a:ext uri="{FF2B5EF4-FFF2-40B4-BE49-F238E27FC236}">
                <a16:creationId xmlns:a16="http://schemas.microsoft.com/office/drawing/2014/main" id="{4E727B4E-154F-4860-8B11-6ACB08DA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440" y="2403732"/>
            <a:ext cx="2010003" cy="1132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1" i="0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6600" b="1" i="0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</a:rPr>
              <a:t>33%</a:t>
            </a:r>
          </a:p>
        </p:txBody>
      </p:sp>
      <p:sp>
        <p:nvSpPr>
          <p:cNvPr id="21" name="del pubblico esports è femminile.*">
            <a:extLst xmlns:a="http://schemas.openxmlformats.org/drawingml/2006/main">
              <a:ext uri="{FF2B5EF4-FFF2-40B4-BE49-F238E27FC236}">
                <a16:creationId xmlns:a16="http://schemas.microsoft.com/office/drawing/2014/main" id="{E4670CB7-6C0D-4E32-96B4-A7C5E321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440" y="3516252"/>
            <a:ext cx="4111665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8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del pubblico esports è femminile.*</a:t>
            </a:r>
          </a:p>
        </p:txBody>
      </p:sp>
      <p:sp>
        <p:nvSpPr>
          <p:cNvPr id="22" name="La presenza nei tornei aperti resta">
            <a:extLst xmlns:a="http://schemas.openxmlformats.org/drawingml/2006/main">
              <a:ext uri="{FF2B5EF4-FFF2-40B4-BE49-F238E27FC236}">
                <a16:creationId xmlns:a16="http://schemas.microsoft.com/office/drawing/2014/main" id="{A40BE0D8-EE96-4FDB-84A8-A1BBC6D9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440" y="4085371"/>
            <a:ext cx="4595999" cy="424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175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rPr>
              <a:t>La presenza nei tornei aperti resta</a:t>
            </a:r>
          </a:p>
        </p:txBody>
      </p:sp>
      <p:sp>
        <p:nvSpPr>
          <p:cNvPr id="23" name="molto più limitata.">
            <a:extLst xmlns:a="http://schemas.openxmlformats.org/drawingml/2006/main">
              <a:ext uri="{FF2B5EF4-FFF2-40B4-BE49-F238E27FC236}">
                <a16:creationId xmlns:a16="http://schemas.microsoft.com/office/drawing/2014/main" id="{317BF855-0DF1-428D-A758-863D4444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440" y="4458275"/>
            <a:ext cx="2565750" cy="424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175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rPr>
              <a:t>molto più limitata.</a:t>
            </a:r>
          </a:p>
        </p:txBody>
      </p:sp>
      <p:sp>
        <p:nvSpPr>
          <p:cNvPr id="24" name="Circuiti dedicati">
            <a:extLst xmlns:a="http://schemas.openxmlformats.org/drawingml/2006/main">
              <a:ext uri="{FF2B5EF4-FFF2-40B4-BE49-F238E27FC236}">
                <a16:creationId xmlns:a16="http://schemas.microsoft.com/office/drawing/2014/main" id="{05F22976-A436-4E64-8EE3-70E628D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05700"/>
            <a:ext cx="2348898" cy="424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Circuiti dedicati</a:t>
            </a:r>
          </a:p>
        </p:txBody>
      </p:sp>
      <p:sp>
        <p:nvSpPr>
          <p:cNvPr id="25" name="Esempi di accesso alla scena competitiva.">
            <a:extLst xmlns:a="http://schemas.openxmlformats.org/drawingml/2006/main">
              <a:ext uri="{FF2B5EF4-FFF2-40B4-BE49-F238E27FC236}">
                <a16:creationId xmlns:a16="http://schemas.microsoft.com/office/drawing/2014/main" id="{9037BF48-D45E-4DA5-8959-F7AF0A01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68044"/>
            <a:ext cx="4596064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Esempi di accesso alla scena competitiva.</a:t>
            </a:r>
          </a:p>
        </p:txBody>
      </p:sp>
      <p:sp>
        <p:nvSpPr>
          <p:cNvPr id="26" name="VCT Game Changers">
            <a:extLst xmlns:a="http://schemas.openxmlformats.org/drawingml/2006/main">
              <a:ext uri="{FF2B5EF4-FFF2-40B4-BE49-F238E27FC236}">
                <a16:creationId xmlns:a16="http://schemas.microsoft.com/office/drawing/2014/main" id="{3783FB49-96D2-4425-B2AF-D3A9E9F2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424" y="7505700"/>
            <a:ext cx="2962145" cy="424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VCT Game Changers</a:t>
            </a:r>
          </a:p>
        </p:txBody>
      </p:sp>
      <p:sp>
        <p:nvSpPr>
          <p:cNvPr id="27" name="Valorant · opportunità e visibilità per generi">
            <a:extLst xmlns:a="http://schemas.openxmlformats.org/drawingml/2006/main">
              <a:ext uri="{FF2B5EF4-FFF2-40B4-BE49-F238E27FC236}">
                <a16:creationId xmlns:a16="http://schemas.microsoft.com/office/drawing/2014/main" id="{409F2253-227C-422D-B354-147205A7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424" y="7968044"/>
            <a:ext cx="4650163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Valorant · opportunità e visibilità per generi</a:t>
            </a:r>
          </a:p>
        </p:txBody>
      </p:sp>
      <p:sp>
        <p:nvSpPr>
          <p:cNvPr id="28" name="marginalizzati.">
            <a:extLst xmlns:a="http://schemas.openxmlformats.org/drawingml/2006/main">
              <a:ext uri="{FF2B5EF4-FFF2-40B4-BE49-F238E27FC236}">
                <a16:creationId xmlns:a16="http://schemas.microsoft.com/office/drawing/2014/main" id="{604F9BE3-27A5-42CC-9245-FE58BE06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424" y="8263795"/>
            <a:ext cx="1698817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marginalizzati.</a:t>
            </a:r>
          </a:p>
        </p:txBody>
      </p:sp>
      <p:sp>
        <p:nvSpPr>
          <p:cNvPr id="29" name="ESL Impact">
            <a:extLst xmlns:a="http://schemas.openxmlformats.org/drawingml/2006/main">
              <a:ext uri="{FF2B5EF4-FFF2-40B4-BE49-F238E27FC236}">
                <a16:creationId xmlns:a16="http://schemas.microsoft.com/office/drawing/2014/main" id="{DC056635-3CA7-42EF-A81D-21F231E3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345" y="7505700"/>
            <a:ext cx="1711933" cy="424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ESL Impact</a:t>
            </a:r>
          </a:p>
        </p:txBody>
      </p:sp>
      <p:sp>
        <p:nvSpPr>
          <p:cNvPr id="30" name="Counter-Strike · circuito femminile">
            <a:extLst xmlns:a="http://schemas.openxmlformats.org/drawingml/2006/main">
              <a:ext uri="{FF2B5EF4-FFF2-40B4-BE49-F238E27FC236}">
                <a16:creationId xmlns:a16="http://schemas.microsoft.com/office/drawing/2014/main" id="{0946C093-9BA7-41FB-BC0A-19705EEE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345" y="7968044"/>
            <a:ext cx="3813116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Counter-Strike · circuito femminile</a:t>
            </a:r>
          </a:p>
        </p:txBody>
      </p:sp>
      <p:sp>
        <p:nvSpPr>
          <p:cNvPr id="31" name="avviato nel 2022.">
            <a:extLst xmlns:a="http://schemas.openxmlformats.org/drawingml/2006/main">
              <a:ext uri="{FF2B5EF4-FFF2-40B4-BE49-F238E27FC236}">
                <a16:creationId xmlns:a16="http://schemas.microsoft.com/office/drawing/2014/main" id="{89835C5E-4F0B-4777-8E58-2FC01914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345" y="8263795"/>
            <a:ext cx="1980326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avviato nel 2022.</a:t>
            </a:r>
          </a:p>
        </p:txBody>
      </p:sp>
      <p:sp>
        <p:nvSpPr>
          <p:cNvPr id="32" name="Indicatori diversi, non una scala numerica unica. ">
            <a:extLst xmlns:a="http://schemas.openxmlformats.org/drawingml/2006/main">
              <a:ext uri="{FF2B5EF4-FFF2-40B4-BE49-F238E27FC236}">
                <a16:creationId xmlns:a16="http://schemas.microsoft.com/office/drawing/2014/main" id="{8BE70C01-3FE4-4AD9-A94F-C48E8968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9096"/>
            <a:ext cx="11627914" cy="302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Indicatori diversi, non una scala numerica unica. *33%: stima del progetto, riferimento puntuale da completare.</a:t>
            </a:r>
          </a:p>
        </p:txBody>
      </p:sp>
      <p:sp>
        <p:nvSpPr>
          <p:cNvPr id="33" name="GDC SALARY REPORT 2025, P. 10 · RIOT GAMES · ESL">
            <a:extLst xmlns:a="http://schemas.openxmlformats.org/drawingml/2006/main">
              <a:ext uri="{FF2B5EF4-FFF2-40B4-BE49-F238E27FC236}">
                <a16:creationId xmlns:a16="http://schemas.microsoft.com/office/drawing/2014/main" id="{ED1656B9-62D2-4162-A2C1-BD116063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80231"/>
            <a:ext cx="56959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GDC SALARY REPORT 2025, P. 10 · RIOT GAMES · ESL</a:t>
            </a:r>
          </a:p>
        </p:txBody>
      </p:sp>
      <p:sp>
        <p:nvSpPr>
          <p:cNvPr id="34" name="SLIDE 07 / 09">
            <a:extLst xmlns:a="http://schemas.openxmlformats.org/drawingml/2006/main">
              <a:ext uri="{FF2B5EF4-FFF2-40B4-BE49-F238E27FC236}">
                <a16:creationId xmlns:a16="http://schemas.microsoft.com/office/drawing/2014/main" id="{12D9E77B-66FE-452B-B2D7-1DA2BB8E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9480231"/>
            <a:ext cx="16954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SLIDE 07 / 09</a:t>
            </a:r>
          </a:p>
        </p:txBody>
      </p:sp>
    </p:spTree>
    <p:extLst>
      <p:ext uri="{BB962C8B-B14F-4D97-AF65-F5344CB8AC3E}">
        <p14:creationId xmlns:p14="http://schemas.microsoft.com/office/powerpoint/2010/main" val="7882788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6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84a6fc5c843d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Dalla diversità all’inclusione">
            <a:extLst xmlns:a="http://schemas.openxmlformats.org/drawingml/2006/main">
              <a:ext uri="{FF2B5EF4-FFF2-40B4-BE49-F238E27FC236}">
                <a16:creationId xmlns:a16="http://schemas.microsoft.com/office/drawing/2014/main" id="{B2D5CC99-6ECC-4263-8886-947EE9D7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6291272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Dalla diversità all’inclusione</a:t>
            </a:r>
          </a:p>
        </p:txBody>
      </p:sp>
      <p:sp>
        <p:nvSpPr>
          <p:cNvPr id="3" name="Samuele De Santis">
            <a:extLst xmlns:a="http://schemas.openxmlformats.org/drawingml/2006/main">
              <a:ext uri="{FF2B5EF4-FFF2-40B4-BE49-F238E27FC236}">
                <a16:creationId xmlns:a16="http://schemas.microsoft.com/office/drawing/2014/main" id="{BF9DC419-CDBB-48BF-90DA-25EF267C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8558" y="752475"/>
            <a:ext cx="2346992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Samuele De Santis</a:t>
            </a:r>
          </a:p>
        </p:txBody>
      </p:sp>
      <p:sp>
        <p:nvSpPr>
          <p:cNvPr id="4" name="Diversità">
            <a:extLst xmlns:a="http://schemas.openxmlformats.org/drawingml/2006/main">
              <a:ext uri="{FF2B5EF4-FFF2-40B4-BE49-F238E27FC236}">
                <a16:creationId xmlns:a16="http://schemas.microsoft.com/office/drawing/2014/main" id="{926E352E-52A3-41B0-94A3-6FE35F3A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6063"/>
            <a:ext cx="2171384" cy="652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600" b="1" i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rPr>
              <a:t>Diversità</a:t>
            </a:r>
          </a:p>
        </p:txBody>
      </p:sp>
      <p:sp>
        <p:nvSpPr>
          <p:cNvPr id="5" name="Essere presenti.">
            <a:extLst xmlns:a="http://schemas.openxmlformats.org/drawingml/2006/main">
              <a:ext uri="{FF2B5EF4-FFF2-40B4-BE49-F238E27FC236}">
                <a16:creationId xmlns:a16="http://schemas.microsoft.com/office/drawing/2014/main" id="{F775933D-DFA7-4E94-BAF0-1DED0855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8543"/>
            <a:ext cx="2911590" cy="520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775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rPr>
              <a:t>Essere presenti.</a:t>
            </a:r>
          </a:p>
        </p:txBody>
      </p:sp>
      <p:sp>
        <p:nvSpPr>
          <p:cNvPr id="6" name="→">
            <a:extLst xmlns:a="http://schemas.openxmlformats.org/drawingml/2006/main">
              <a:ext uri="{FF2B5EF4-FFF2-40B4-BE49-F238E27FC236}">
                <a16:creationId xmlns:a16="http://schemas.microsoft.com/office/drawing/2014/main" id="{0AEF9503-C9E7-48A9-B5F5-5DACA481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433" y="3032872"/>
            <a:ext cx="530684" cy="697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defRPr>
            </a:pPr>
            <a:r>
              <a:rPr sz="4200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→</a:t>
            </a:r>
          </a:p>
        </p:txBody>
      </p:sp>
      <p:sp>
        <p:nvSpPr>
          <p:cNvPr id="7" name="Inclusione">
            <a:extLst xmlns:a="http://schemas.openxmlformats.org/drawingml/2006/main">
              <a:ext uri="{FF2B5EF4-FFF2-40B4-BE49-F238E27FC236}">
                <a16:creationId xmlns:a16="http://schemas.microsoft.com/office/drawing/2014/main" id="{A1A894B7-75E3-4889-B327-409593BF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600" y="2565797"/>
            <a:ext cx="2471756" cy="652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600" b="1" i="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rPr>
              <a:t>Inclusione</a:t>
            </a:r>
          </a:p>
        </p:txBody>
      </p:sp>
      <p:sp>
        <p:nvSpPr>
          <p:cNvPr id="8" name="Poter partecipare alle stesse">
            <a:extLst xmlns:a="http://schemas.openxmlformats.org/drawingml/2006/main">
              <a:ext uri="{FF2B5EF4-FFF2-40B4-BE49-F238E27FC236}">
                <a16:creationId xmlns:a16="http://schemas.microsoft.com/office/drawing/2014/main" id="{C51B12B8-ECF1-476B-8040-0B8AD8A3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600" y="3358277"/>
            <a:ext cx="4995500" cy="520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775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rPr>
              <a:t>Poter partecipare alle stesse</a:t>
            </a:r>
          </a:p>
        </p:txBody>
      </p:sp>
      <p:sp>
        <p:nvSpPr>
          <p:cNvPr id="9" name="condizioni.">
            <a:extLst xmlns:a="http://schemas.openxmlformats.org/drawingml/2006/main">
              <a:ext uri="{FF2B5EF4-FFF2-40B4-BE49-F238E27FC236}">
                <a16:creationId xmlns:a16="http://schemas.microsoft.com/office/drawing/2014/main" id="{509A9583-DAB3-4F15-804B-BBE1A158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600" y="3798808"/>
            <a:ext cx="2052005" cy="520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775" b="0" i="0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</a:rPr>
              <a:t>condizioni.</a:t>
            </a:r>
          </a:p>
        </p:txBody>
      </p:sp>
      <p:sp>
        <p:nvSpPr>
          <p:cNvPr id="10" name="Design inclusivo">
            <a:extLst xmlns:a="http://schemas.openxmlformats.org/drawingml/2006/main">
              <a:ext uri="{FF2B5EF4-FFF2-40B4-BE49-F238E27FC236}">
                <a16:creationId xmlns:a16="http://schemas.microsoft.com/office/drawing/2014/main" id="{427E14FE-70B1-434F-A0AE-02A16AB4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0122"/>
            <a:ext cx="3037480" cy="532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8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Design inclusivo</a:t>
            </a:r>
          </a:p>
        </p:txBody>
      </p:sp>
      <p:sp>
        <p:nvSpPr>
          <p:cNvPr id="11" name="Avatar e accessibilità pensati per">
            <a:extLst xmlns:a="http://schemas.openxmlformats.org/drawingml/2006/main">
              <a:ext uri="{FF2B5EF4-FFF2-40B4-BE49-F238E27FC236}">
                <a16:creationId xmlns:a16="http://schemas.microsoft.com/office/drawing/2014/main" id="{F9B83E80-4E1D-45A2-9038-59B3AF44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4778"/>
            <a:ext cx="4651009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Avatar e accessibilità pensati per</a:t>
            </a:r>
          </a:p>
        </p:txBody>
      </p:sp>
      <p:sp>
        <p:nvSpPr>
          <p:cNvPr id="12" name="persone diverse.">
            <a:extLst xmlns:a="http://schemas.openxmlformats.org/drawingml/2006/main">
              <a:ext uri="{FF2B5EF4-FFF2-40B4-BE49-F238E27FC236}">
                <a16:creationId xmlns:a16="http://schemas.microsoft.com/office/drawing/2014/main" id="{4DA0D455-C0B7-4959-B7EB-FDF01815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9116"/>
            <a:ext cx="2495569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persone diverse.</a:t>
            </a:r>
          </a:p>
        </p:txBody>
      </p:sp>
      <p:sp>
        <p:nvSpPr>
          <p:cNvPr id="13" name="Community sicure">
            <a:extLst xmlns:a="http://schemas.openxmlformats.org/drawingml/2006/main">
              <a:ext uri="{FF2B5EF4-FFF2-40B4-BE49-F238E27FC236}">
                <a16:creationId xmlns:a16="http://schemas.microsoft.com/office/drawing/2014/main" id="{A8332A38-0998-4081-9027-3B038EC5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5160122"/>
            <a:ext cx="3406304" cy="532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8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Community sicure</a:t>
            </a:r>
          </a:p>
        </p:txBody>
      </p:sp>
      <p:sp>
        <p:nvSpPr>
          <p:cNvPr id="14" name="Segnalazioni semplici e risposte">
            <a:extLst xmlns:a="http://schemas.openxmlformats.org/drawingml/2006/main">
              <a:ext uri="{FF2B5EF4-FFF2-40B4-BE49-F238E27FC236}">
                <a16:creationId xmlns:a16="http://schemas.microsoft.com/office/drawing/2014/main" id="{C1E4380E-F4FC-4774-9D26-C7068DFD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5844778"/>
            <a:ext cx="4534412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Segnalazioni semplici e risposte</a:t>
            </a:r>
          </a:p>
        </p:txBody>
      </p:sp>
      <p:sp>
        <p:nvSpPr>
          <p:cNvPr id="15" name="efficaci alle molestie.">
            <a:extLst xmlns:a="http://schemas.openxmlformats.org/drawingml/2006/main">
              <a:ext uri="{FF2B5EF4-FFF2-40B4-BE49-F238E27FC236}">
                <a16:creationId xmlns:a16="http://schemas.microsoft.com/office/drawing/2014/main" id="{C1E141EE-B259-42A2-AE2D-B1366113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6259116"/>
            <a:ext cx="3098499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efficaci alle molestie.</a:t>
            </a:r>
          </a:p>
        </p:txBody>
      </p:sp>
      <p:sp>
        <p:nvSpPr>
          <p:cNvPr id="16" name="Opportunità eque">
            <a:extLst xmlns:a="http://schemas.openxmlformats.org/drawingml/2006/main">
              <a:ext uri="{FF2B5EF4-FFF2-40B4-BE49-F238E27FC236}">
                <a16:creationId xmlns:a16="http://schemas.microsoft.com/office/drawing/2014/main" id="{557F25EC-8518-4F69-8F53-721560BC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000" y="5160122"/>
            <a:ext cx="3384593" cy="532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850" b="1" i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Opportunità eque</a:t>
            </a:r>
          </a:p>
        </p:txBody>
      </p:sp>
      <p:sp>
        <p:nvSpPr>
          <p:cNvPr id="17" name="Criteri trasparenti per selezione,">
            <a:extLst xmlns:a="http://schemas.openxmlformats.org/drawingml/2006/main">
              <a:ext uri="{FF2B5EF4-FFF2-40B4-BE49-F238E27FC236}">
                <a16:creationId xmlns:a16="http://schemas.microsoft.com/office/drawing/2014/main" id="{999A7719-9328-4C35-A1E4-CE970100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000" y="5844778"/>
            <a:ext cx="4545267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Criteri trasparenti per selezione,</a:t>
            </a:r>
          </a:p>
        </p:txBody>
      </p:sp>
      <p:sp>
        <p:nvSpPr>
          <p:cNvPr id="18" name="retribuzione e crescita.">
            <a:extLst xmlns:a="http://schemas.openxmlformats.org/drawingml/2006/main">
              <a:ext uri="{FF2B5EF4-FFF2-40B4-BE49-F238E27FC236}">
                <a16:creationId xmlns:a16="http://schemas.microsoft.com/office/drawing/2014/main" id="{568A346B-7039-4EB1-934B-4A949D9E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000" y="6259116"/>
            <a:ext cx="3324244" cy="43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250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retribuzione e crescita.</a:t>
            </a:r>
          </a:p>
        </p:txBody>
      </p:sp>
      <p:sp>
        <p:nvSpPr>
          <p:cNvPr id="19" name="«L'inclusione è un requisito di progettazione.»">
            <a:extLst xmlns:a="http://schemas.openxmlformats.org/drawingml/2006/main">
              <a:ext uri="{FF2B5EF4-FFF2-40B4-BE49-F238E27FC236}">
                <a16:creationId xmlns:a16="http://schemas.microsoft.com/office/drawing/2014/main" id="{4F10DA2C-73CC-44B5-81CB-D2214DFD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84833"/>
            <a:ext cx="1021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defRPr>
            </a:pPr>
            <a:r>
              <a:rPr sz="435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rPr>
              <a:t>«L'inclusione è un requisito di progettazione.»</a:t>
            </a:r>
          </a:p>
        </p:txBody>
      </p:sp>
      <p:sp>
        <p:nvSpPr>
          <p:cNvPr id="20" name="PROGETTAZIONE SOFTWARE E SPAZI DIGITALI">
            <a:extLst xmlns:a="http://schemas.openxmlformats.org/drawingml/2006/main">
              <a:ext uri="{FF2B5EF4-FFF2-40B4-BE49-F238E27FC236}">
                <a16:creationId xmlns:a16="http://schemas.microsoft.com/office/drawing/2014/main" id="{0E59310F-780E-4497-8541-910C811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80231"/>
            <a:ext cx="46672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PROGETTAZIONE SOFTWARE E SPAZI DIGITALI</a:t>
            </a:r>
          </a:p>
        </p:txBody>
      </p:sp>
      <p:sp>
        <p:nvSpPr>
          <p:cNvPr id="21" name="SLIDE 08 / 09">
            <a:extLst xmlns:a="http://schemas.openxmlformats.org/drawingml/2006/main">
              <a:ext uri="{FF2B5EF4-FFF2-40B4-BE49-F238E27FC236}">
                <a16:creationId xmlns:a16="http://schemas.microsoft.com/office/drawing/2014/main" id="{B85D67AE-8B90-4CF4-BB19-4095D77E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9480231"/>
            <a:ext cx="16954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SLIDE 08 / 09</a:t>
            </a:r>
          </a:p>
        </p:txBody>
      </p:sp>
    </p:spTree>
    <p:extLst>
      <p:ext uri="{BB962C8B-B14F-4D97-AF65-F5344CB8AC3E}">
        <p14:creationId xmlns:p14="http://schemas.microsoft.com/office/powerpoint/2010/main" val="18000286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6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1823da059480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 donne nel gaming ci sono già">
            <a:extLst xmlns:a="http://schemas.openxmlformats.org/drawingml/2006/main">
              <a:ext uri="{FF2B5EF4-FFF2-40B4-BE49-F238E27FC236}">
                <a16:creationId xmlns:a16="http://schemas.microsoft.com/office/drawing/2014/main" id="{FDE726E7-BC82-4465-AA07-1B40EC14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712043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defRPr>
            </a:pPr>
            <a:r>
              <a:rPr sz="3750" b="0" i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Le donne nel gaming ci sono già</a:t>
            </a:r>
          </a:p>
        </p:txBody>
      </p:sp>
      <p:sp>
        <p:nvSpPr>
          <p:cNvPr id="3" name="Luca · Valerio · Samuele">
            <a:extLst xmlns:a="http://schemas.openxmlformats.org/drawingml/2006/main">
              <a:ext uri="{FF2B5EF4-FFF2-40B4-BE49-F238E27FC236}">
                <a16:creationId xmlns:a16="http://schemas.microsoft.com/office/drawing/2014/main" id="{7E2528E0-322B-4969-8FCB-00F61DA7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9871" y="752475"/>
            <a:ext cx="2815679" cy="315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Luca · Valerio · Samuele</a:t>
            </a:r>
          </a:p>
        </p:txBody>
      </p:sp>
      <p:sp>
        <p:nvSpPr>
          <p:cNvPr id="4" name="La presenza delle donne non si traduce ancora in p">
            <a:extLst xmlns:a="http://schemas.openxmlformats.org/drawingml/2006/main">
              <a:ext uri="{FF2B5EF4-FFF2-40B4-BE49-F238E27FC236}">
                <a16:creationId xmlns:a16="http://schemas.microsoft.com/office/drawing/2014/main" id="{C55F7EE4-27F7-4C24-90A5-ECD0F737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9589703" cy="544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925" b="1" i="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rPr>
              <a:t>La presenza delle donne non si traduce ancora in pari</a:t>
            </a:r>
          </a:p>
        </p:txBody>
      </p:sp>
      <p:sp>
        <p:nvSpPr>
          <p:cNvPr id="5" name="riconoscimento e opportunità.">
            <a:extLst xmlns:a="http://schemas.openxmlformats.org/drawingml/2006/main">
              <a:ext uri="{FF2B5EF4-FFF2-40B4-BE49-F238E27FC236}">
                <a16:creationId xmlns:a16="http://schemas.microsoft.com/office/drawing/2014/main" id="{96A20975-B83B-4027-BC16-07A9805E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9344"/>
            <a:ext cx="5751593" cy="544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925" b="1" i="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rPr>
              <a:t>riconoscimento e opportunità.</a:t>
            </a:r>
          </a:p>
        </p:txBody>
      </p:sp>
      <p:sp>
        <p:nvSpPr>
          <p:cNvPr id="6" name="Nel videogioco scegliamo e agiamo attraverso un pe">
            <a:extLst xmlns:a="http://schemas.openxmlformats.org/drawingml/2006/main">
              <a:ext uri="{FF2B5EF4-FFF2-40B4-BE49-F238E27FC236}">
                <a16:creationId xmlns:a16="http://schemas.microsoft.com/office/drawing/2014/main" id="{FD4B1E02-80EC-4C87-BD55-1EE57050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2788"/>
            <a:ext cx="9672917" cy="47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4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Nel videogioco scegliamo e agiamo attraverso un personaggio.</a:t>
            </a:r>
          </a:p>
        </p:txBody>
      </p:sp>
      <p:sp>
        <p:nvSpPr>
          <p:cNvPr id="7" name="Questa esperienza può mettere in discussione gli s">
            <a:extLst xmlns:a="http://schemas.openxmlformats.org/drawingml/2006/main">
              <a:ext uri="{FF2B5EF4-FFF2-40B4-BE49-F238E27FC236}">
                <a16:creationId xmlns:a16="http://schemas.microsoft.com/office/drawing/2014/main" id="{EAE72F15-820A-4A00-B54E-CE2F827C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9991"/>
            <a:ext cx="9134484" cy="47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4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Questa esperienza può mettere in discussione gli stereotipi.</a:t>
            </a:r>
          </a:p>
        </p:txBody>
      </p:sp>
      <p:sp>
        <p:nvSpPr>
          <p:cNvPr id="8" name="Come informatici, contribuiamo a definirne le poss">
            <a:extLst xmlns:a="http://schemas.openxmlformats.org/drawingml/2006/main">
              <a:ext uri="{FF2B5EF4-FFF2-40B4-BE49-F238E27FC236}">
                <a16:creationId xmlns:a16="http://schemas.microsoft.com/office/drawing/2014/main" id="{F68B68ED-A895-43FD-8AF4-182CF4BD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7195"/>
            <a:ext cx="9769757" cy="47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247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Come informatici, contribuiamo a definirne le possibilità e i limiti.</a:t>
            </a:r>
          </a:p>
        </p:txBody>
      </p:sp>
      <p:sp>
        <p:nvSpPr>
          <p:cNvPr id="9" name="Sappiamo progettare spazi in cui tutte le persone ">
            <a:extLst xmlns:a="http://schemas.openxmlformats.org/drawingml/2006/main">
              <a:ext uri="{FF2B5EF4-FFF2-40B4-BE49-F238E27FC236}">
                <a16:creationId xmlns:a16="http://schemas.microsoft.com/office/drawing/2014/main" id="{E383EA98-C856-4329-9A5B-B5F141DF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658100"/>
            <a:ext cx="973544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defRPr>
            </a:pPr>
            <a:r>
              <a:rPr sz="330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rPr>
              <a:t>Sappiamo progettare spazi in cui tutte le persone possano</a:t>
            </a:r>
          </a:p>
        </p:txBody>
      </p:sp>
      <p:sp>
        <p:nvSpPr>
          <p:cNvPr id="10" name="partecipare alle stesse condizioni?">
            <a:extLst xmlns:a="http://schemas.openxmlformats.org/drawingml/2006/main">
              <a:ext uri="{FF2B5EF4-FFF2-40B4-BE49-F238E27FC236}">
                <a16:creationId xmlns:a16="http://schemas.microsoft.com/office/drawing/2014/main" id="{05107E8A-A65B-441D-9EEA-2BA8E87B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181975"/>
            <a:ext cx="581394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defRPr>
            </a:pPr>
            <a:r>
              <a:rPr sz="3300" b="0" i="1">
                <a:solidFill>
                  <a:srgbClr val="F8FAFC"/>
                </a:solidFill>
                <a:latin typeface="Newsreader"/>
                <a:ea typeface="Newsreader"/>
                <a:cs typeface="Newsreader"/>
              </a:rPr>
              <a:t>partecipare alle stesse condizioni?</a:t>
            </a:r>
          </a:p>
        </p:txBody>
      </p:sp>
      <p:sp>
        <p:nvSpPr>
          <p:cNvPr id="11" name="FONTI PRINCIPALI">
            <a:extLst xmlns:a="http://schemas.openxmlformats.org/drawingml/2006/main">
              <a:ext uri="{FF2B5EF4-FFF2-40B4-BE49-F238E27FC236}">
                <a16:creationId xmlns:a16="http://schemas.microsoft.com/office/drawing/2014/main" id="{F4F28749-87D0-410F-BD39-9EAA14A6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150" y="1905000"/>
            <a:ext cx="2769846" cy="377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FONTI PRINCIPALI</a:t>
            </a:r>
          </a:p>
        </p:txBody>
      </p:sp>
      <p:sp>
        <p:nvSpPr>
          <p:cNvPr id="12" name="ESA (2025)">
            <a:extLst xmlns:a="http://schemas.openxmlformats.org/drawingml/2006/main">
              <a:ext uri="{FF2B5EF4-FFF2-40B4-BE49-F238E27FC236}">
                <a16:creationId xmlns:a16="http://schemas.microsoft.com/office/drawing/2014/main" id="{344CD53C-C963-42E4-9507-069035BE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2700" y="2691765"/>
            <a:ext cx="1366056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ESA (2025)</a:t>
            </a:r>
          </a:p>
        </p:txBody>
      </p:sp>
      <p:sp>
        <p:nvSpPr>
          <p:cNvPr id="13" name="Video Games Europe · dati 2024">
            <a:extLst xmlns:a="http://schemas.openxmlformats.org/drawingml/2006/main">
              <a:ext uri="{FF2B5EF4-FFF2-40B4-BE49-F238E27FC236}">
                <a16:creationId xmlns:a16="http://schemas.microsoft.com/office/drawing/2014/main" id="{B4B2CEFE-578C-47EF-BD64-96C9CB70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2700" y="3227070"/>
            <a:ext cx="3570787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Video Games Europe · dati 2024</a:t>
            </a:r>
          </a:p>
        </p:txBody>
      </p:sp>
      <p:sp>
        <p:nvSpPr>
          <p:cNvPr id="14" name="IIDEA · dati 2024">
            <a:extLst xmlns:a="http://schemas.openxmlformats.org/drawingml/2006/main">
              <a:ext uri="{FF2B5EF4-FFF2-40B4-BE49-F238E27FC236}">
                <a16:creationId xmlns:a16="http://schemas.microsoft.com/office/drawing/2014/main" id="{86C31606-3272-4899-BB5E-E0F19632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2700" y="3762375"/>
            <a:ext cx="1918329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IIDEA · dati 2024</a:t>
            </a:r>
          </a:p>
        </p:txBody>
      </p:sp>
      <p:sp>
        <p:nvSpPr>
          <p:cNvPr id="15" name="ADL · indagine 2023">
            <a:extLst xmlns:a="http://schemas.openxmlformats.org/drawingml/2006/main">
              <a:ext uri="{FF2B5EF4-FFF2-40B4-BE49-F238E27FC236}">
                <a16:creationId xmlns:a16="http://schemas.microsoft.com/office/drawing/2014/main" id="{9AE2A5D3-6A69-43CA-AA1C-7E0DE607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2700" y="4297680"/>
            <a:ext cx="2283526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ADL · indagine 2023</a:t>
            </a:r>
          </a:p>
        </p:txBody>
      </p:sp>
      <p:sp>
        <p:nvSpPr>
          <p:cNvPr id="16" name="Wells et al. (2025)">
            <a:extLst xmlns:a="http://schemas.openxmlformats.org/drawingml/2006/main">
              <a:ext uri="{FF2B5EF4-FFF2-40B4-BE49-F238E27FC236}">
                <a16:creationId xmlns:a16="http://schemas.microsoft.com/office/drawing/2014/main" id="{ECBA35FE-55A6-4DD6-9AC4-529802EB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2700" y="4832985"/>
            <a:ext cx="2049782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Wells et al. (2025)</a:t>
            </a:r>
          </a:p>
        </p:txBody>
      </p:sp>
      <p:sp>
        <p:nvSpPr>
          <p:cNvPr id="17" name="GDC State of the Industry">
            <a:extLst xmlns:a="http://schemas.openxmlformats.org/drawingml/2006/main">
              <a:ext uri="{FF2B5EF4-FFF2-40B4-BE49-F238E27FC236}">
                <a16:creationId xmlns:a16="http://schemas.microsoft.com/office/drawing/2014/main" id="{70F7422D-F2B4-4A23-9B5D-5E49ADF1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2700" y="5368290"/>
            <a:ext cx="2871518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GDC State of the Industry</a:t>
            </a:r>
          </a:p>
        </p:txBody>
      </p:sp>
      <p:sp>
        <p:nvSpPr>
          <p:cNvPr id="18" name="Botto e Falzea · AboutGender (2025)">
            <a:extLst xmlns:a="http://schemas.openxmlformats.org/drawingml/2006/main">
              <a:ext uri="{FF2B5EF4-FFF2-40B4-BE49-F238E27FC236}">
                <a16:creationId xmlns:a16="http://schemas.microsoft.com/office/drawing/2014/main" id="{893C7907-CF3A-4309-86ED-D8EE6D72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2700" y="5903595"/>
            <a:ext cx="4015299" cy="35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defRPr>
            </a:pPr>
            <a:r>
              <a:rPr sz="1725" b="0" i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</a:rPr>
              <a:t>Botto e Falzea · AboutGender (2025)</a:t>
            </a:r>
          </a:p>
        </p:txBody>
      </p:sp>
      <p:sp>
        <p:nvSpPr>
          <p:cNvPr id="19" name="Università di Roma Tor Vergata">
            <a:extLst xmlns:a="http://schemas.openxmlformats.org/drawingml/2006/main">
              <a:ext uri="{FF2B5EF4-FFF2-40B4-BE49-F238E27FC236}">
                <a16:creationId xmlns:a16="http://schemas.microsoft.com/office/drawing/2014/main" id="{42A98AE9-FFC7-459E-BD1A-DE749438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9350" y="7620000"/>
            <a:ext cx="4152844" cy="365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Università di Roma Tor Vergata</a:t>
            </a:r>
          </a:p>
        </p:txBody>
      </p:sp>
      <p:sp>
        <p:nvSpPr>
          <p:cNvPr id="20" name="Corso di Gender &amp; Inclusion ·">
            <a:extLst xmlns:a="http://schemas.openxmlformats.org/drawingml/2006/main">
              <a:ext uri="{FF2B5EF4-FFF2-40B4-BE49-F238E27FC236}">
                <a16:creationId xmlns:a16="http://schemas.microsoft.com/office/drawing/2014/main" id="{3DA2156C-8493-4B05-B063-F29D29B7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9350" y="7948613"/>
            <a:ext cx="4021401" cy="365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Corso di Gender &amp; Inclusion ·</a:t>
            </a:r>
          </a:p>
        </p:txBody>
      </p:sp>
      <p:sp>
        <p:nvSpPr>
          <p:cNvPr id="21" name="Informatica">
            <a:extLst xmlns:a="http://schemas.openxmlformats.org/drawingml/2006/main">
              <a:ext uri="{FF2B5EF4-FFF2-40B4-BE49-F238E27FC236}">
                <a16:creationId xmlns:a16="http://schemas.microsoft.com/office/drawing/2014/main" id="{06C567EC-8AD4-4112-9A70-920D5D76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9350" y="8277225"/>
            <a:ext cx="1655425" cy="365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Informatica</a:t>
            </a:r>
          </a:p>
        </p:txBody>
      </p:sp>
      <p:sp>
        <p:nvSpPr>
          <p:cNvPr id="22" name="A.A. 2025–2026">
            <a:extLst xmlns:a="http://schemas.openxmlformats.org/drawingml/2006/main">
              <a:ext uri="{FF2B5EF4-FFF2-40B4-BE49-F238E27FC236}">
                <a16:creationId xmlns:a16="http://schemas.microsoft.com/office/drawing/2014/main" id="{A2683603-A193-433D-8B52-D755C6C7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9350" y="8605838"/>
            <a:ext cx="2049754" cy="365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A.A. 2025–2026</a:t>
            </a:r>
          </a:p>
        </p:txBody>
      </p:sp>
      <p:sp>
        <p:nvSpPr>
          <p:cNvPr id="23" name="GENDER &amp; INCLUSION · INFORMATICA · TOR VERGATA">
            <a:extLst xmlns:a="http://schemas.openxmlformats.org/drawingml/2006/main">
              <a:ext uri="{FF2B5EF4-FFF2-40B4-BE49-F238E27FC236}">
                <a16:creationId xmlns:a16="http://schemas.microsoft.com/office/drawing/2014/main" id="{D845B6BC-671B-471C-880B-7511380B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80231"/>
            <a:ext cx="54673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GENDER &amp; INCLUSION · INFORMATICA · TOR VERGATA</a:t>
            </a:r>
          </a:p>
        </p:txBody>
      </p:sp>
      <p:sp>
        <p:nvSpPr>
          <p:cNvPr id="24" name="SLIDE 09 / 09">
            <a:extLst xmlns:a="http://schemas.openxmlformats.org/drawingml/2006/main">
              <a:ext uri="{FF2B5EF4-FFF2-40B4-BE49-F238E27FC236}">
                <a16:creationId xmlns:a16="http://schemas.microsoft.com/office/drawing/2014/main" id="{243922CB-6D1F-436A-8BE8-D7A0347D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9480231"/>
            <a:ext cx="1695450" cy="327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SLIDE 09 / 09</a:t>
            </a:r>
          </a:p>
        </p:txBody>
      </p:sp>
    </p:spTree>
    <p:extLst>
      <p:ext uri="{BB962C8B-B14F-4D97-AF65-F5344CB8AC3E}">
        <p14:creationId xmlns:p14="http://schemas.microsoft.com/office/powerpoint/2010/main" val="1253376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2026-09-09T19:34:11.8560000Z</dcterms:created>
  <dcterms:modified xsi:type="dcterms:W3CDTF">2026-09-09T19:34:11.8570000Z</dcterms:modified>
</coreProperties>
</file>