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8"/>
  </p:notesMasterIdLst>
  <p:sldIdLst>
    <p:sldId id="300" r:id="rId3"/>
    <p:sldId id="301" r:id="rId4"/>
    <p:sldId id="273" r:id="rId5"/>
    <p:sldId id="264" r:id="rId6"/>
    <p:sldId id="267" r:id="rId7"/>
    <p:sldId id="268" r:id="rId8"/>
    <p:sldId id="270" r:id="rId9"/>
    <p:sldId id="269" r:id="rId10"/>
    <p:sldId id="271" r:id="rId11"/>
    <p:sldId id="266" r:id="rId12"/>
    <p:sldId id="261" r:id="rId13"/>
    <p:sldId id="258" r:id="rId14"/>
    <p:sldId id="262" r:id="rId15"/>
    <p:sldId id="263" r:id="rId16"/>
    <p:sldId id="272" r:id="rId17"/>
    <p:sldId id="274" r:id="rId18"/>
    <p:sldId id="275" r:id="rId19"/>
    <p:sldId id="277" r:id="rId20"/>
    <p:sldId id="278" r:id="rId21"/>
    <p:sldId id="279" r:id="rId22"/>
    <p:sldId id="280" r:id="rId23"/>
    <p:sldId id="281" r:id="rId24"/>
    <p:sldId id="282" r:id="rId25"/>
    <p:sldId id="283" r:id="rId26"/>
    <p:sldId id="286" r:id="rId27"/>
    <p:sldId id="288" r:id="rId28"/>
    <p:sldId id="290" r:id="rId29"/>
    <p:sldId id="293" r:id="rId30"/>
    <p:sldId id="294" r:id="rId31"/>
    <p:sldId id="292" r:id="rId32"/>
    <p:sldId id="295" r:id="rId33"/>
    <p:sldId id="296" r:id="rId34"/>
    <p:sldId id="297" r:id="rId35"/>
    <p:sldId id="298" r:id="rId36"/>
    <p:sldId id="29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40" autoAdjust="0"/>
    <p:restoredTop sz="94660"/>
  </p:normalViewPr>
  <p:slideViewPr>
    <p:cSldViewPr snapToGrid="0">
      <p:cViewPr varScale="1">
        <p:scale>
          <a:sx n="57" d="100"/>
          <a:sy n="57" d="100"/>
        </p:scale>
        <p:origin x="63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ustomXml" Target="../customXml/item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customXml" Target="../customXml/item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90653B-2A01-4041-9E4B-302560A1794B}"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A0FE8FC0-ED0D-4CE4-B9A2-D4CD0077EB12}">
      <dgm:prSet/>
      <dgm:spPr/>
      <dgm:t>
        <a:bodyPr/>
        <a:lstStyle/>
        <a:p>
          <a:r>
            <a:rPr lang="it-IT"/>
            <a:t>Dalla antica Grecia alla nascita del movimento femminista</a:t>
          </a:r>
          <a:endParaRPr lang="en-US"/>
        </a:p>
      </dgm:t>
    </dgm:pt>
    <dgm:pt modelId="{3F47C104-F55C-46BA-B433-D472319BC77A}" type="parTrans" cxnId="{AAFFBF4D-0572-4B14-B1E6-7742E69B249A}">
      <dgm:prSet/>
      <dgm:spPr/>
      <dgm:t>
        <a:bodyPr/>
        <a:lstStyle/>
        <a:p>
          <a:endParaRPr lang="en-US"/>
        </a:p>
      </dgm:t>
    </dgm:pt>
    <dgm:pt modelId="{96538513-A0F7-4379-8A1B-7FDA7D6C3EA0}" type="sibTrans" cxnId="{AAFFBF4D-0572-4B14-B1E6-7742E69B249A}">
      <dgm:prSet/>
      <dgm:spPr/>
      <dgm:t>
        <a:bodyPr/>
        <a:lstStyle/>
        <a:p>
          <a:endParaRPr lang="en-US"/>
        </a:p>
      </dgm:t>
    </dgm:pt>
    <dgm:pt modelId="{BF8774A2-BAC7-4DA0-BF08-913C79EC330B}">
      <dgm:prSet/>
      <dgm:spPr/>
      <dgm:t>
        <a:bodyPr/>
        <a:lstStyle/>
        <a:p>
          <a:r>
            <a:rPr lang="it-IT" dirty="0"/>
            <a:t>#da dove nascono gli stereotipi di genere</a:t>
          </a:r>
          <a:endParaRPr lang="en-US" dirty="0"/>
        </a:p>
      </dgm:t>
    </dgm:pt>
    <dgm:pt modelId="{867C8665-D337-4E98-9C8B-76C46093085D}" type="parTrans" cxnId="{DFAFF37E-7695-4F8D-B535-D30D3AB638AA}">
      <dgm:prSet/>
      <dgm:spPr/>
      <dgm:t>
        <a:bodyPr/>
        <a:lstStyle/>
        <a:p>
          <a:endParaRPr lang="en-US"/>
        </a:p>
      </dgm:t>
    </dgm:pt>
    <dgm:pt modelId="{5482DA20-4D15-4168-A4F2-F4C525432DE8}" type="sibTrans" cxnId="{DFAFF37E-7695-4F8D-B535-D30D3AB638AA}">
      <dgm:prSet/>
      <dgm:spPr/>
      <dgm:t>
        <a:bodyPr/>
        <a:lstStyle/>
        <a:p>
          <a:endParaRPr lang="en-US"/>
        </a:p>
      </dgm:t>
    </dgm:pt>
    <dgm:pt modelId="{0A4EFC92-B810-4A4B-879A-3D23628DF5D9}" type="pres">
      <dgm:prSet presAssocID="{9690653B-2A01-4041-9E4B-302560A1794B}" presName="vert0" presStyleCnt="0">
        <dgm:presLayoutVars>
          <dgm:dir/>
          <dgm:animOne val="branch"/>
          <dgm:animLvl val="lvl"/>
        </dgm:presLayoutVars>
      </dgm:prSet>
      <dgm:spPr/>
    </dgm:pt>
    <dgm:pt modelId="{25A2BE0E-48AB-4C35-A986-B3235481DD0C}" type="pres">
      <dgm:prSet presAssocID="{A0FE8FC0-ED0D-4CE4-B9A2-D4CD0077EB12}" presName="thickLine" presStyleLbl="alignNode1" presStyleIdx="0" presStyleCnt="2"/>
      <dgm:spPr/>
    </dgm:pt>
    <dgm:pt modelId="{99C97D57-8E17-4D55-9914-27F3FCAD8302}" type="pres">
      <dgm:prSet presAssocID="{A0FE8FC0-ED0D-4CE4-B9A2-D4CD0077EB12}" presName="horz1" presStyleCnt="0"/>
      <dgm:spPr/>
    </dgm:pt>
    <dgm:pt modelId="{C237F6B0-C279-429A-A0B9-01EB54BB43B3}" type="pres">
      <dgm:prSet presAssocID="{A0FE8FC0-ED0D-4CE4-B9A2-D4CD0077EB12}" presName="tx1" presStyleLbl="revTx" presStyleIdx="0" presStyleCnt="2"/>
      <dgm:spPr/>
    </dgm:pt>
    <dgm:pt modelId="{FD0F6F2B-5B7F-4F40-9F40-E202F9472BB6}" type="pres">
      <dgm:prSet presAssocID="{A0FE8FC0-ED0D-4CE4-B9A2-D4CD0077EB12}" presName="vert1" presStyleCnt="0"/>
      <dgm:spPr/>
    </dgm:pt>
    <dgm:pt modelId="{3D2B9321-9792-47C2-A15A-F1DDEB1829BA}" type="pres">
      <dgm:prSet presAssocID="{BF8774A2-BAC7-4DA0-BF08-913C79EC330B}" presName="thickLine" presStyleLbl="alignNode1" presStyleIdx="1" presStyleCnt="2"/>
      <dgm:spPr/>
    </dgm:pt>
    <dgm:pt modelId="{5DF4F991-3891-4E5C-8D72-F5972A7B15F1}" type="pres">
      <dgm:prSet presAssocID="{BF8774A2-BAC7-4DA0-BF08-913C79EC330B}" presName="horz1" presStyleCnt="0"/>
      <dgm:spPr/>
    </dgm:pt>
    <dgm:pt modelId="{4B45D7A2-02B0-458E-B9C3-7D73EA3BA2D4}" type="pres">
      <dgm:prSet presAssocID="{BF8774A2-BAC7-4DA0-BF08-913C79EC330B}" presName="tx1" presStyleLbl="revTx" presStyleIdx="1" presStyleCnt="2"/>
      <dgm:spPr/>
    </dgm:pt>
    <dgm:pt modelId="{A348B64A-4F64-4747-9742-FE71328ABD25}" type="pres">
      <dgm:prSet presAssocID="{BF8774A2-BAC7-4DA0-BF08-913C79EC330B}" presName="vert1" presStyleCnt="0"/>
      <dgm:spPr/>
    </dgm:pt>
  </dgm:ptLst>
  <dgm:cxnLst>
    <dgm:cxn modelId="{DCA97D3A-87BE-4FAF-B5BC-EDE82F9DAA2C}" type="presOf" srcId="{A0FE8FC0-ED0D-4CE4-B9A2-D4CD0077EB12}" destId="{C237F6B0-C279-429A-A0B9-01EB54BB43B3}" srcOrd="0" destOrd="0" presId="urn:microsoft.com/office/officeart/2008/layout/LinedList"/>
    <dgm:cxn modelId="{AAFFBF4D-0572-4B14-B1E6-7742E69B249A}" srcId="{9690653B-2A01-4041-9E4B-302560A1794B}" destId="{A0FE8FC0-ED0D-4CE4-B9A2-D4CD0077EB12}" srcOrd="0" destOrd="0" parTransId="{3F47C104-F55C-46BA-B433-D472319BC77A}" sibTransId="{96538513-A0F7-4379-8A1B-7FDA7D6C3EA0}"/>
    <dgm:cxn modelId="{048E8D7A-2D5C-484E-9B31-DB35C6D19ABB}" type="presOf" srcId="{BF8774A2-BAC7-4DA0-BF08-913C79EC330B}" destId="{4B45D7A2-02B0-458E-B9C3-7D73EA3BA2D4}" srcOrd="0" destOrd="0" presId="urn:microsoft.com/office/officeart/2008/layout/LinedList"/>
    <dgm:cxn modelId="{DFAFF37E-7695-4F8D-B535-D30D3AB638AA}" srcId="{9690653B-2A01-4041-9E4B-302560A1794B}" destId="{BF8774A2-BAC7-4DA0-BF08-913C79EC330B}" srcOrd="1" destOrd="0" parTransId="{867C8665-D337-4E98-9C8B-76C46093085D}" sibTransId="{5482DA20-4D15-4168-A4F2-F4C525432DE8}"/>
    <dgm:cxn modelId="{64ACDB9C-F8E1-42BF-BC19-711E15FA20ED}" type="presOf" srcId="{9690653B-2A01-4041-9E4B-302560A1794B}" destId="{0A4EFC92-B810-4A4B-879A-3D23628DF5D9}" srcOrd="0" destOrd="0" presId="urn:microsoft.com/office/officeart/2008/layout/LinedList"/>
    <dgm:cxn modelId="{BDEFA9D9-AA6D-449B-8CC9-F35512791F16}" type="presParOf" srcId="{0A4EFC92-B810-4A4B-879A-3D23628DF5D9}" destId="{25A2BE0E-48AB-4C35-A986-B3235481DD0C}" srcOrd="0" destOrd="0" presId="urn:microsoft.com/office/officeart/2008/layout/LinedList"/>
    <dgm:cxn modelId="{FDFAE287-157F-4294-94DD-3C4029117B4E}" type="presParOf" srcId="{0A4EFC92-B810-4A4B-879A-3D23628DF5D9}" destId="{99C97D57-8E17-4D55-9914-27F3FCAD8302}" srcOrd="1" destOrd="0" presId="urn:microsoft.com/office/officeart/2008/layout/LinedList"/>
    <dgm:cxn modelId="{DC0B54D3-22B5-42CB-9410-EA72314EEAD3}" type="presParOf" srcId="{99C97D57-8E17-4D55-9914-27F3FCAD8302}" destId="{C237F6B0-C279-429A-A0B9-01EB54BB43B3}" srcOrd="0" destOrd="0" presId="urn:microsoft.com/office/officeart/2008/layout/LinedList"/>
    <dgm:cxn modelId="{E54E5FB1-0C6F-417E-A7DE-B38372449C36}" type="presParOf" srcId="{99C97D57-8E17-4D55-9914-27F3FCAD8302}" destId="{FD0F6F2B-5B7F-4F40-9F40-E202F9472BB6}" srcOrd="1" destOrd="0" presId="urn:microsoft.com/office/officeart/2008/layout/LinedList"/>
    <dgm:cxn modelId="{855064AC-554A-4ABA-900F-1D310C23E1F2}" type="presParOf" srcId="{0A4EFC92-B810-4A4B-879A-3D23628DF5D9}" destId="{3D2B9321-9792-47C2-A15A-F1DDEB1829BA}" srcOrd="2" destOrd="0" presId="urn:microsoft.com/office/officeart/2008/layout/LinedList"/>
    <dgm:cxn modelId="{8E3D3D6D-BE35-409D-A325-76CC01ABA939}" type="presParOf" srcId="{0A4EFC92-B810-4A4B-879A-3D23628DF5D9}" destId="{5DF4F991-3891-4E5C-8D72-F5972A7B15F1}" srcOrd="3" destOrd="0" presId="urn:microsoft.com/office/officeart/2008/layout/LinedList"/>
    <dgm:cxn modelId="{E27E1248-01AC-4397-B889-E28A9734C83D}" type="presParOf" srcId="{5DF4F991-3891-4E5C-8D72-F5972A7B15F1}" destId="{4B45D7A2-02B0-458E-B9C3-7D73EA3BA2D4}" srcOrd="0" destOrd="0" presId="urn:microsoft.com/office/officeart/2008/layout/LinedList"/>
    <dgm:cxn modelId="{571C08A6-316D-4648-A54B-093CDEA4A8EB}" type="presParOf" srcId="{5DF4F991-3891-4E5C-8D72-F5972A7B15F1}" destId="{A348B64A-4F64-4747-9742-FE71328ABD2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A2BE0E-48AB-4C35-A986-B3235481DD0C}">
      <dsp:nvSpPr>
        <dsp:cNvPr id="0" name=""/>
        <dsp:cNvSpPr/>
      </dsp:nvSpPr>
      <dsp:spPr>
        <a:xfrm>
          <a:off x="0" y="0"/>
          <a:ext cx="6348501"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0000"/>
                <a:lumMod val="100000"/>
              </a:schemeClr>
            </a:gs>
            <a:gs pos="100000">
              <a:schemeClr val="accent2">
                <a:hueOff val="0"/>
                <a:satOff val="0"/>
                <a:lumOff val="0"/>
                <a:alphaOff val="0"/>
                <a:shade val="80000"/>
                <a:satMod val="100000"/>
                <a:lumMod val="99000"/>
              </a:schemeClr>
            </a:gs>
          </a:gsLst>
          <a:lin ang="2700000" scaled="0"/>
        </a:gra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C237F6B0-C279-429A-A0B9-01EB54BB43B3}">
      <dsp:nvSpPr>
        <dsp:cNvPr id="0" name=""/>
        <dsp:cNvSpPr/>
      </dsp:nvSpPr>
      <dsp:spPr>
        <a:xfrm>
          <a:off x="0" y="0"/>
          <a:ext cx="6348501" cy="2746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it-IT" sz="5100" kern="1200"/>
            <a:t>Dalla antica Grecia alla nascita del movimento femminista</a:t>
          </a:r>
          <a:endParaRPr lang="en-US" sz="5100" kern="1200"/>
        </a:p>
      </dsp:txBody>
      <dsp:txXfrm>
        <a:off x="0" y="0"/>
        <a:ext cx="6348501" cy="2746375"/>
      </dsp:txXfrm>
    </dsp:sp>
    <dsp:sp modelId="{3D2B9321-9792-47C2-A15A-F1DDEB1829BA}">
      <dsp:nvSpPr>
        <dsp:cNvPr id="0" name=""/>
        <dsp:cNvSpPr/>
      </dsp:nvSpPr>
      <dsp:spPr>
        <a:xfrm>
          <a:off x="0" y="2746375"/>
          <a:ext cx="6348501" cy="0"/>
        </a:xfrm>
        <a:prstGeom prst="line">
          <a:avLst/>
        </a:prstGeom>
        <a:gradFill rotWithShape="0">
          <a:gsLst>
            <a:gs pos="0">
              <a:schemeClr val="accent2">
                <a:hueOff val="978826"/>
                <a:satOff val="13192"/>
                <a:lumOff val="16078"/>
                <a:alphaOff val="0"/>
                <a:tint val="97000"/>
                <a:satMod val="100000"/>
                <a:lumMod val="102000"/>
              </a:schemeClr>
            </a:gs>
            <a:gs pos="50000">
              <a:schemeClr val="accent2">
                <a:hueOff val="978826"/>
                <a:satOff val="13192"/>
                <a:lumOff val="16078"/>
                <a:alphaOff val="0"/>
                <a:shade val="100000"/>
                <a:satMod val="100000"/>
                <a:lumMod val="100000"/>
              </a:schemeClr>
            </a:gs>
            <a:gs pos="100000">
              <a:schemeClr val="accent2">
                <a:hueOff val="978826"/>
                <a:satOff val="13192"/>
                <a:lumOff val="16078"/>
                <a:alphaOff val="0"/>
                <a:shade val="80000"/>
                <a:satMod val="100000"/>
                <a:lumMod val="99000"/>
              </a:schemeClr>
            </a:gs>
          </a:gsLst>
          <a:lin ang="2700000" scaled="0"/>
        </a:gradFill>
        <a:ln w="9525" cap="flat" cmpd="sng" algn="ctr">
          <a:solidFill>
            <a:schemeClr val="accent2">
              <a:hueOff val="978826"/>
              <a:satOff val="13192"/>
              <a:lumOff val="1607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B45D7A2-02B0-458E-B9C3-7D73EA3BA2D4}">
      <dsp:nvSpPr>
        <dsp:cNvPr id="0" name=""/>
        <dsp:cNvSpPr/>
      </dsp:nvSpPr>
      <dsp:spPr>
        <a:xfrm>
          <a:off x="0" y="2746375"/>
          <a:ext cx="6348501" cy="2746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it-IT" sz="5100" kern="1200" dirty="0"/>
            <a:t>#da dove nascono gli stereotipi di genere</a:t>
          </a:r>
          <a:endParaRPr lang="en-US" sz="5100" kern="1200" dirty="0"/>
        </a:p>
      </dsp:txBody>
      <dsp:txXfrm>
        <a:off x="0" y="2746375"/>
        <a:ext cx="6348501" cy="274637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7B61BC-C7E3-4AAA-A3AA-892447AE5ADE}" type="datetimeFigureOut">
              <a:rPr lang="it-IT" smtClean="0"/>
              <a:t>18/03/2026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31012D-60DD-42C1-B331-A9363A2B6D2B}" type="slidenum">
              <a:rPr lang="it-IT" smtClean="0"/>
              <a:t>‹N›</a:t>
            </a:fld>
            <a:endParaRPr lang="it-IT"/>
          </a:p>
        </p:txBody>
      </p:sp>
    </p:spTree>
    <p:extLst>
      <p:ext uri="{BB962C8B-B14F-4D97-AF65-F5344CB8AC3E}">
        <p14:creationId xmlns:p14="http://schemas.microsoft.com/office/powerpoint/2010/main" val="4036163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a:p>
            <a:endParaRPr lang="it-IT" dirty="0"/>
          </a:p>
          <a:p>
            <a:endParaRPr lang="it-IT" dirty="0"/>
          </a:p>
          <a:p>
            <a:endParaRPr lang="it-IT" dirty="0"/>
          </a:p>
        </p:txBody>
      </p:sp>
      <p:sp>
        <p:nvSpPr>
          <p:cNvPr id="4" name="Segnaposto numero diapositiva 3"/>
          <p:cNvSpPr>
            <a:spLocks noGrp="1"/>
          </p:cNvSpPr>
          <p:nvPr>
            <p:ph type="sldNum" sz="quarter" idx="5"/>
          </p:nvPr>
        </p:nvSpPr>
        <p:spPr/>
        <p:txBody>
          <a:bodyPr/>
          <a:lstStyle/>
          <a:p>
            <a:fld id="{7731012D-60DD-42C1-B331-A9363A2B6D2B}" type="slidenum">
              <a:rPr lang="it-IT" smtClean="0"/>
              <a:t>11</a:t>
            </a:fld>
            <a:endParaRPr lang="it-IT"/>
          </a:p>
        </p:txBody>
      </p:sp>
    </p:spTree>
    <p:extLst>
      <p:ext uri="{BB962C8B-B14F-4D97-AF65-F5344CB8AC3E}">
        <p14:creationId xmlns:p14="http://schemas.microsoft.com/office/powerpoint/2010/main" val="2283670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A494C-794B-4348-B1A4-400A51881C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7A8CFB-BADD-4753-963E-79C13ED481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916DD1-ADD2-4592-A881-87EF1F10F7E4}"/>
              </a:ext>
            </a:extLst>
          </p:cNvPr>
          <p:cNvSpPr>
            <a:spLocks noGrp="1"/>
          </p:cNvSpPr>
          <p:nvPr>
            <p:ph type="dt" sz="half" idx="10"/>
          </p:nvPr>
        </p:nvSpPr>
        <p:spPr/>
        <p:txBody>
          <a:bodyPr/>
          <a:lstStyle/>
          <a:p>
            <a:fld id="{75FD3AF9-066A-4545-AA61-3B4B33325C06}" type="datetimeFigureOut">
              <a:rPr lang="en-US" smtClean="0"/>
              <a:t>3/18/2026</a:t>
            </a:fld>
            <a:endParaRPr lang="en-US"/>
          </a:p>
        </p:txBody>
      </p:sp>
      <p:sp>
        <p:nvSpPr>
          <p:cNvPr id="5" name="Footer Placeholder 4">
            <a:extLst>
              <a:ext uri="{FF2B5EF4-FFF2-40B4-BE49-F238E27FC236}">
                <a16:creationId xmlns:a16="http://schemas.microsoft.com/office/drawing/2014/main" id="{A96DC418-076F-47D5-B526-7A2796CDBF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5A86B8-4ED1-41BC-9E69-DDC20E5372CE}"/>
              </a:ext>
            </a:extLst>
          </p:cNvPr>
          <p:cNvSpPr>
            <a:spLocks noGrp="1"/>
          </p:cNvSpPr>
          <p:nvPr>
            <p:ph type="sldNum" sz="quarter" idx="12"/>
          </p:nvPr>
        </p:nvSpPr>
        <p:spPr/>
        <p:txBody>
          <a:bodyPr/>
          <a:lstStyle/>
          <a:p>
            <a:fld id="{AE18D363-1563-43C6-BAF0-C28CE76012DF}" type="slidenum">
              <a:rPr lang="en-US" smtClean="0"/>
              <a:t>‹N›</a:t>
            </a:fld>
            <a:endParaRPr lang="en-US"/>
          </a:p>
        </p:txBody>
      </p:sp>
    </p:spTree>
    <p:extLst>
      <p:ext uri="{BB962C8B-B14F-4D97-AF65-F5344CB8AC3E}">
        <p14:creationId xmlns:p14="http://schemas.microsoft.com/office/powerpoint/2010/main" val="1206934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B2551-E6C8-4B1C-8D92-3979DF0DDE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E3BF91-F508-4664-96B3-F263565D5F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EA1F50-8D07-480A-898A-4B9D3D52FAED}"/>
              </a:ext>
            </a:extLst>
          </p:cNvPr>
          <p:cNvSpPr>
            <a:spLocks noGrp="1"/>
          </p:cNvSpPr>
          <p:nvPr>
            <p:ph type="dt" sz="half" idx="10"/>
          </p:nvPr>
        </p:nvSpPr>
        <p:spPr/>
        <p:txBody>
          <a:bodyPr/>
          <a:lstStyle/>
          <a:p>
            <a:fld id="{75FD3AF9-066A-4545-AA61-3B4B33325C06}" type="datetimeFigureOut">
              <a:rPr lang="en-US" smtClean="0"/>
              <a:t>3/18/2026</a:t>
            </a:fld>
            <a:endParaRPr lang="en-US"/>
          </a:p>
        </p:txBody>
      </p:sp>
      <p:sp>
        <p:nvSpPr>
          <p:cNvPr id="5" name="Footer Placeholder 4">
            <a:extLst>
              <a:ext uri="{FF2B5EF4-FFF2-40B4-BE49-F238E27FC236}">
                <a16:creationId xmlns:a16="http://schemas.microsoft.com/office/drawing/2014/main" id="{A26191C0-8527-48EB-B281-900F47DCE7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29A4AF-E795-40CD-966B-672710392BB7}"/>
              </a:ext>
            </a:extLst>
          </p:cNvPr>
          <p:cNvSpPr>
            <a:spLocks noGrp="1"/>
          </p:cNvSpPr>
          <p:nvPr>
            <p:ph type="sldNum" sz="quarter" idx="12"/>
          </p:nvPr>
        </p:nvSpPr>
        <p:spPr/>
        <p:txBody>
          <a:bodyPr/>
          <a:lstStyle/>
          <a:p>
            <a:fld id="{AE18D363-1563-43C6-BAF0-C28CE76012DF}" type="slidenum">
              <a:rPr lang="en-US" smtClean="0"/>
              <a:t>‹N›</a:t>
            </a:fld>
            <a:endParaRPr lang="en-US"/>
          </a:p>
        </p:txBody>
      </p:sp>
    </p:spTree>
    <p:extLst>
      <p:ext uri="{BB962C8B-B14F-4D97-AF65-F5344CB8AC3E}">
        <p14:creationId xmlns:p14="http://schemas.microsoft.com/office/powerpoint/2010/main" val="4181385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7FEB0-35AA-4EE7-92CD-19BA20C245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2650AE-2130-4C02-9BB4-FC5FB92E04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4AACCD-0B24-4FFA-817E-9CAB2630F8F2}"/>
              </a:ext>
            </a:extLst>
          </p:cNvPr>
          <p:cNvSpPr>
            <a:spLocks noGrp="1"/>
          </p:cNvSpPr>
          <p:nvPr>
            <p:ph type="dt" sz="half" idx="10"/>
          </p:nvPr>
        </p:nvSpPr>
        <p:spPr/>
        <p:txBody>
          <a:bodyPr/>
          <a:lstStyle/>
          <a:p>
            <a:fld id="{75FD3AF9-066A-4545-AA61-3B4B33325C06}" type="datetimeFigureOut">
              <a:rPr lang="en-US" smtClean="0"/>
              <a:t>3/18/2026</a:t>
            </a:fld>
            <a:endParaRPr lang="en-US"/>
          </a:p>
        </p:txBody>
      </p:sp>
      <p:sp>
        <p:nvSpPr>
          <p:cNvPr id="5" name="Footer Placeholder 4">
            <a:extLst>
              <a:ext uri="{FF2B5EF4-FFF2-40B4-BE49-F238E27FC236}">
                <a16:creationId xmlns:a16="http://schemas.microsoft.com/office/drawing/2014/main" id="{0DE9B548-1717-49A9-B6D1-EA745C4FAB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4008B9-9035-40E4-93D0-ECD9E22AA07F}"/>
              </a:ext>
            </a:extLst>
          </p:cNvPr>
          <p:cNvSpPr>
            <a:spLocks noGrp="1"/>
          </p:cNvSpPr>
          <p:nvPr>
            <p:ph type="sldNum" sz="quarter" idx="12"/>
          </p:nvPr>
        </p:nvSpPr>
        <p:spPr/>
        <p:txBody>
          <a:bodyPr/>
          <a:lstStyle/>
          <a:p>
            <a:fld id="{AE18D363-1563-43C6-BAF0-C28CE76012DF}" type="slidenum">
              <a:rPr lang="en-US" smtClean="0"/>
              <a:t>‹N›</a:t>
            </a:fld>
            <a:endParaRPr lang="en-US"/>
          </a:p>
        </p:txBody>
      </p:sp>
    </p:spTree>
    <p:extLst>
      <p:ext uri="{BB962C8B-B14F-4D97-AF65-F5344CB8AC3E}">
        <p14:creationId xmlns:p14="http://schemas.microsoft.com/office/powerpoint/2010/main" val="41218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F868-0E48-4EE5-AF9E-8A6374142A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2C309B-B9BC-48DD-8D4C-ECFC4D73BF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1C09AE-4D29-4792-BD19-F97F768A64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0C09E5-1E08-45BB-A524-E12F401924D6}"/>
              </a:ext>
            </a:extLst>
          </p:cNvPr>
          <p:cNvSpPr>
            <a:spLocks noGrp="1"/>
          </p:cNvSpPr>
          <p:nvPr>
            <p:ph type="dt" sz="half" idx="10"/>
          </p:nvPr>
        </p:nvSpPr>
        <p:spPr/>
        <p:txBody>
          <a:bodyPr/>
          <a:lstStyle/>
          <a:p>
            <a:fld id="{75FD3AF9-066A-4545-AA61-3B4B33325C06}" type="datetimeFigureOut">
              <a:rPr lang="en-US" smtClean="0"/>
              <a:t>3/18/2026</a:t>
            </a:fld>
            <a:endParaRPr lang="en-US"/>
          </a:p>
        </p:txBody>
      </p:sp>
      <p:sp>
        <p:nvSpPr>
          <p:cNvPr id="6" name="Footer Placeholder 5">
            <a:extLst>
              <a:ext uri="{FF2B5EF4-FFF2-40B4-BE49-F238E27FC236}">
                <a16:creationId xmlns:a16="http://schemas.microsoft.com/office/drawing/2014/main" id="{74E4F940-2ED1-44F0-B7B0-A6941F93AC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11E721-F1A4-44DE-B7A9-4C7850DE1E96}"/>
              </a:ext>
            </a:extLst>
          </p:cNvPr>
          <p:cNvSpPr>
            <a:spLocks noGrp="1"/>
          </p:cNvSpPr>
          <p:nvPr>
            <p:ph type="sldNum" sz="quarter" idx="12"/>
          </p:nvPr>
        </p:nvSpPr>
        <p:spPr/>
        <p:txBody>
          <a:bodyPr/>
          <a:lstStyle/>
          <a:p>
            <a:fld id="{AE18D363-1563-43C6-BAF0-C28CE76012DF}" type="slidenum">
              <a:rPr lang="en-US" smtClean="0"/>
              <a:t>‹N›</a:t>
            </a:fld>
            <a:endParaRPr lang="en-US"/>
          </a:p>
        </p:txBody>
      </p:sp>
    </p:spTree>
    <p:extLst>
      <p:ext uri="{BB962C8B-B14F-4D97-AF65-F5344CB8AC3E}">
        <p14:creationId xmlns:p14="http://schemas.microsoft.com/office/powerpoint/2010/main" val="30345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586F6-8057-4919-AD6C-522A624FC2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E871B5-4FCB-4C50-A982-CDB06CD757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8FDD48-03BC-4487-85F5-925AD2F998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EBA262-A5CA-4A82-B7A0-9A7C561191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28979D-137A-4AB2-A1B9-2C511F58E9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FD65A6-D632-4048-9F0D-2F4F37C83601}"/>
              </a:ext>
            </a:extLst>
          </p:cNvPr>
          <p:cNvSpPr>
            <a:spLocks noGrp="1"/>
          </p:cNvSpPr>
          <p:nvPr>
            <p:ph type="dt" sz="half" idx="10"/>
          </p:nvPr>
        </p:nvSpPr>
        <p:spPr/>
        <p:txBody>
          <a:bodyPr/>
          <a:lstStyle/>
          <a:p>
            <a:fld id="{75FD3AF9-066A-4545-AA61-3B4B33325C06}" type="datetimeFigureOut">
              <a:rPr lang="en-US" smtClean="0"/>
              <a:t>3/18/2026</a:t>
            </a:fld>
            <a:endParaRPr lang="en-US"/>
          </a:p>
        </p:txBody>
      </p:sp>
      <p:sp>
        <p:nvSpPr>
          <p:cNvPr id="8" name="Footer Placeholder 7">
            <a:extLst>
              <a:ext uri="{FF2B5EF4-FFF2-40B4-BE49-F238E27FC236}">
                <a16:creationId xmlns:a16="http://schemas.microsoft.com/office/drawing/2014/main" id="{F041924C-88E9-4A3D-9AB6-ED0E719D5A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6F23A9-AA1A-409F-8EBD-8819DF638F7D}"/>
              </a:ext>
            </a:extLst>
          </p:cNvPr>
          <p:cNvSpPr>
            <a:spLocks noGrp="1"/>
          </p:cNvSpPr>
          <p:nvPr>
            <p:ph type="sldNum" sz="quarter" idx="12"/>
          </p:nvPr>
        </p:nvSpPr>
        <p:spPr/>
        <p:txBody>
          <a:bodyPr/>
          <a:lstStyle/>
          <a:p>
            <a:fld id="{AE18D363-1563-43C6-BAF0-C28CE76012DF}" type="slidenum">
              <a:rPr lang="en-US" smtClean="0"/>
              <a:t>‹N›</a:t>
            </a:fld>
            <a:endParaRPr lang="en-US"/>
          </a:p>
        </p:txBody>
      </p:sp>
    </p:spTree>
    <p:extLst>
      <p:ext uri="{BB962C8B-B14F-4D97-AF65-F5344CB8AC3E}">
        <p14:creationId xmlns:p14="http://schemas.microsoft.com/office/powerpoint/2010/main" val="3843918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86E97-DC3A-4CE5-98D7-E737911D64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748344-C6B6-45D3-BFFB-FF4EF61AF6E9}"/>
              </a:ext>
            </a:extLst>
          </p:cNvPr>
          <p:cNvSpPr>
            <a:spLocks noGrp="1"/>
          </p:cNvSpPr>
          <p:nvPr>
            <p:ph type="dt" sz="half" idx="10"/>
          </p:nvPr>
        </p:nvSpPr>
        <p:spPr/>
        <p:txBody>
          <a:bodyPr/>
          <a:lstStyle/>
          <a:p>
            <a:fld id="{75FD3AF9-066A-4545-AA61-3B4B33325C06}" type="datetimeFigureOut">
              <a:rPr lang="en-US" smtClean="0"/>
              <a:t>3/18/2026</a:t>
            </a:fld>
            <a:endParaRPr lang="en-US"/>
          </a:p>
        </p:txBody>
      </p:sp>
      <p:sp>
        <p:nvSpPr>
          <p:cNvPr id="4" name="Footer Placeholder 3">
            <a:extLst>
              <a:ext uri="{FF2B5EF4-FFF2-40B4-BE49-F238E27FC236}">
                <a16:creationId xmlns:a16="http://schemas.microsoft.com/office/drawing/2014/main" id="{0D6DA999-EE30-415B-B8EF-1EBCBCD738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65D739-527F-4963-8EA3-930F5F451ACF}"/>
              </a:ext>
            </a:extLst>
          </p:cNvPr>
          <p:cNvSpPr>
            <a:spLocks noGrp="1"/>
          </p:cNvSpPr>
          <p:nvPr>
            <p:ph type="sldNum" sz="quarter" idx="12"/>
          </p:nvPr>
        </p:nvSpPr>
        <p:spPr/>
        <p:txBody>
          <a:bodyPr/>
          <a:lstStyle/>
          <a:p>
            <a:fld id="{AE18D363-1563-43C6-BAF0-C28CE76012DF}" type="slidenum">
              <a:rPr lang="en-US" smtClean="0"/>
              <a:t>‹N›</a:t>
            </a:fld>
            <a:endParaRPr lang="en-US"/>
          </a:p>
        </p:txBody>
      </p:sp>
    </p:spTree>
    <p:extLst>
      <p:ext uri="{BB962C8B-B14F-4D97-AF65-F5344CB8AC3E}">
        <p14:creationId xmlns:p14="http://schemas.microsoft.com/office/powerpoint/2010/main" val="302649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FB66EC-F802-486C-BBBC-3B096531F14E}"/>
              </a:ext>
            </a:extLst>
          </p:cNvPr>
          <p:cNvSpPr>
            <a:spLocks noGrp="1"/>
          </p:cNvSpPr>
          <p:nvPr>
            <p:ph type="dt" sz="half" idx="10"/>
          </p:nvPr>
        </p:nvSpPr>
        <p:spPr/>
        <p:txBody>
          <a:bodyPr/>
          <a:lstStyle/>
          <a:p>
            <a:fld id="{75FD3AF9-066A-4545-AA61-3B4B33325C06}" type="datetimeFigureOut">
              <a:rPr lang="en-US" smtClean="0"/>
              <a:t>3/18/2026</a:t>
            </a:fld>
            <a:endParaRPr lang="en-US"/>
          </a:p>
        </p:txBody>
      </p:sp>
      <p:sp>
        <p:nvSpPr>
          <p:cNvPr id="3" name="Footer Placeholder 2">
            <a:extLst>
              <a:ext uri="{FF2B5EF4-FFF2-40B4-BE49-F238E27FC236}">
                <a16:creationId xmlns:a16="http://schemas.microsoft.com/office/drawing/2014/main" id="{0637ACFC-1863-485B-8FFB-3D889BDCAB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7C6069-85F1-4380-BD26-E4674FFE9DD9}"/>
              </a:ext>
            </a:extLst>
          </p:cNvPr>
          <p:cNvSpPr>
            <a:spLocks noGrp="1"/>
          </p:cNvSpPr>
          <p:nvPr>
            <p:ph type="sldNum" sz="quarter" idx="12"/>
          </p:nvPr>
        </p:nvSpPr>
        <p:spPr/>
        <p:txBody>
          <a:bodyPr/>
          <a:lstStyle/>
          <a:p>
            <a:fld id="{AE18D363-1563-43C6-BAF0-C28CE76012DF}" type="slidenum">
              <a:rPr lang="en-US" smtClean="0"/>
              <a:t>‹N›</a:t>
            </a:fld>
            <a:endParaRPr lang="en-US"/>
          </a:p>
        </p:txBody>
      </p:sp>
    </p:spTree>
    <p:extLst>
      <p:ext uri="{BB962C8B-B14F-4D97-AF65-F5344CB8AC3E}">
        <p14:creationId xmlns:p14="http://schemas.microsoft.com/office/powerpoint/2010/main" val="2084483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AEF9D-9B50-475B-BB78-0FCB957E16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6A3D68-42BD-451B-A0D4-7FE85FD3DF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383E2B-0F40-4A39-BB69-6294C4E7DB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968333-BBA9-4C55-8EC2-62E5CEAB2717}"/>
              </a:ext>
            </a:extLst>
          </p:cNvPr>
          <p:cNvSpPr>
            <a:spLocks noGrp="1"/>
          </p:cNvSpPr>
          <p:nvPr>
            <p:ph type="dt" sz="half" idx="10"/>
          </p:nvPr>
        </p:nvSpPr>
        <p:spPr/>
        <p:txBody>
          <a:bodyPr/>
          <a:lstStyle/>
          <a:p>
            <a:fld id="{75FD3AF9-066A-4545-AA61-3B4B33325C06}" type="datetimeFigureOut">
              <a:rPr lang="en-US" smtClean="0"/>
              <a:t>3/18/2026</a:t>
            </a:fld>
            <a:endParaRPr lang="en-US"/>
          </a:p>
        </p:txBody>
      </p:sp>
      <p:sp>
        <p:nvSpPr>
          <p:cNvPr id="6" name="Footer Placeholder 5">
            <a:extLst>
              <a:ext uri="{FF2B5EF4-FFF2-40B4-BE49-F238E27FC236}">
                <a16:creationId xmlns:a16="http://schemas.microsoft.com/office/drawing/2014/main" id="{38C6F4E0-8ED8-409B-92FB-F96CED173C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E7A2D9-D841-49DF-8566-47284DACC6C7}"/>
              </a:ext>
            </a:extLst>
          </p:cNvPr>
          <p:cNvSpPr>
            <a:spLocks noGrp="1"/>
          </p:cNvSpPr>
          <p:nvPr>
            <p:ph type="sldNum" sz="quarter" idx="12"/>
          </p:nvPr>
        </p:nvSpPr>
        <p:spPr/>
        <p:txBody>
          <a:bodyPr/>
          <a:lstStyle/>
          <a:p>
            <a:fld id="{AE18D363-1563-43C6-BAF0-C28CE76012DF}" type="slidenum">
              <a:rPr lang="en-US" smtClean="0"/>
              <a:t>‹N›</a:t>
            </a:fld>
            <a:endParaRPr lang="en-US"/>
          </a:p>
        </p:txBody>
      </p:sp>
    </p:spTree>
    <p:extLst>
      <p:ext uri="{BB962C8B-B14F-4D97-AF65-F5344CB8AC3E}">
        <p14:creationId xmlns:p14="http://schemas.microsoft.com/office/powerpoint/2010/main" val="3889625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C5837-6FA2-4F1E-8043-DCBB956CD5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B300BD-92BA-43B4-A3A9-95BA437E41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B717D7-670F-4834-80BC-37590A081A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F89A2A-ADFB-41EA-A460-E90C9359E9E9}"/>
              </a:ext>
            </a:extLst>
          </p:cNvPr>
          <p:cNvSpPr>
            <a:spLocks noGrp="1"/>
          </p:cNvSpPr>
          <p:nvPr>
            <p:ph type="dt" sz="half" idx="10"/>
          </p:nvPr>
        </p:nvSpPr>
        <p:spPr/>
        <p:txBody>
          <a:bodyPr/>
          <a:lstStyle/>
          <a:p>
            <a:fld id="{75FD3AF9-066A-4545-AA61-3B4B33325C06}" type="datetimeFigureOut">
              <a:rPr lang="en-US" smtClean="0"/>
              <a:t>3/18/2026</a:t>
            </a:fld>
            <a:endParaRPr lang="en-US"/>
          </a:p>
        </p:txBody>
      </p:sp>
      <p:sp>
        <p:nvSpPr>
          <p:cNvPr id="6" name="Footer Placeholder 5">
            <a:extLst>
              <a:ext uri="{FF2B5EF4-FFF2-40B4-BE49-F238E27FC236}">
                <a16:creationId xmlns:a16="http://schemas.microsoft.com/office/drawing/2014/main" id="{1085F861-AF0E-46BA-B580-ACA7ECE7A1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639CCD-C1F2-4FFA-BC57-7BDE8AD490CF}"/>
              </a:ext>
            </a:extLst>
          </p:cNvPr>
          <p:cNvSpPr>
            <a:spLocks noGrp="1"/>
          </p:cNvSpPr>
          <p:nvPr>
            <p:ph type="sldNum" sz="quarter" idx="12"/>
          </p:nvPr>
        </p:nvSpPr>
        <p:spPr/>
        <p:txBody>
          <a:bodyPr/>
          <a:lstStyle/>
          <a:p>
            <a:fld id="{AE18D363-1563-43C6-BAF0-C28CE76012DF}" type="slidenum">
              <a:rPr lang="en-US" smtClean="0"/>
              <a:t>‹N›</a:t>
            </a:fld>
            <a:endParaRPr lang="en-US"/>
          </a:p>
        </p:txBody>
      </p:sp>
    </p:spTree>
    <p:extLst>
      <p:ext uri="{BB962C8B-B14F-4D97-AF65-F5344CB8AC3E}">
        <p14:creationId xmlns:p14="http://schemas.microsoft.com/office/powerpoint/2010/main" val="3427664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E667C-B765-4778-8507-EB29CE8064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444D19-6B4E-4DBB-9964-B1C6F03BB6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925A45-8EBE-4D33-8293-37AD9E46AAA9}"/>
              </a:ext>
            </a:extLst>
          </p:cNvPr>
          <p:cNvSpPr>
            <a:spLocks noGrp="1"/>
          </p:cNvSpPr>
          <p:nvPr>
            <p:ph type="dt" sz="half" idx="10"/>
          </p:nvPr>
        </p:nvSpPr>
        <p:spPr/>
        <p:txBody>
          <a:bodyPr/>
          <a:lstStyle/>
          <a:p>
            <a:fld id="{75FD3AF9-066A-4545-AA61-3B4B33325C06}" type="datetimeFigureOut">
              <a:rPr lang="en-US" smtClean="0"/>
              <a:t>3/18/2026</a:t>
            </a:fld>
            <a:endParaRPr lang="en-US"/>
          </a:p>
        </p:txBody>
      </p:sp>
      <p:sp>
        <p:nvSpPr>
          <p:cNvPr id="5" name="Footer Placeholder 4">
            <a:extLst>
              <a:ext uri="{FF2B5EF4-FFF2-40B4-BE49-F238E27FC236}">
                <a16:creationId xmlns:a16="http://schemas.microsoft.com/office/drawing/2014/main" id="{4845EF91-2A5D-4AA7-855E-8C92FA696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F77157-09CF-4A89-8CAE-5137E53D40A1}"/>
              </a:ext>
            </a:extLst>
          </p:cNvPr>
          <p:cNvSpPr>
            <a:spLocks noGrp="1"/>
          </p:cNvSpPr>
          <p:nvPr>
            <p:ph type="sldNum" sz="quarter" idx="12"/>
          </p:nvPr>
        </p:nvSpPr>
        <p:spPr/>
        <p:txBody>
          <a:bodyPr/>
          <a:lstStyle/>
          <a:p>
            <a:fld id="{AE18D363-1563-43C6-BAF0-C28CE76012DF}" type="slidenum">
              <a:rPr lang="en-US" smtClean="0"/>
              <a:t>‹N›</a:t>
            </a:fld>
            <a:endParaRPr lang="en-US"/>
          </a:p>
        </p:txBody>
      </p:sp>
    </p:spTree>
    <p:extLst>
      <p:ext uri="{BB962C8B-B14F-4D97-AF65-F5344CB8AC3E}">
        <p14:creationId xmlns:p14="http://schemas.microsoft.com/office/powerpoint/2010/main" val="3902408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66D8E7-2F1C-4741-BFC2-1979D68238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F7BB08-2098-4BAA-AA0D-1072A45D31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41412-B9BD-46D7-B116-05E38918F2A9}"/>
              </a:ext>
            </a:extLst>
          </p:cNvPr>
          <p:cNvSpPr>
            <a:spLocks noGrp="1"/>
          </p:cNvSpPr>
          <p:nvPr>
            <p:ph type="dt" sz="half" idx="10"/>
          </p:nvPr>
        </p:nvSpPr>
        <p:spPr/>
        <p:txBody>
          <a:bodyPr/>
          <a:lstStyle/>
          <a:p>
            <a:fld id="{75FD3AF9-066A-4545-AA61-3B4B33325C06}" type="datetimeFigureOut">
              <a:rPr lang="en-US" smtClean="0"/>
              <a:t>3/18/2026</a:t>
            </a:fld>
            <a:endParaRPr lang="en-US"/>
          </a:p>
        </p:txBody>
      </p:sp>
      <p:sp>
        <p:nvSpPr>
          <p:cNvPr id="5" name="Footer Placeholder 4">
            <a:extLst>
              <a:ext uri="{FF2B5EF4-FFF2-40B4-BE49-F238E27FC236}">
                <a16:creationId xmlns:a16="http://schemas.microsoft.com/office/drawing/2014/main" id="{4C02DED4-B3FD-4F26-8CF7-57D79A5FA4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84D2E3-879A-46CF-A4A8-D766205EBD4D}"/>
              </a:ext>
            </a:extLst>
          </p:cNvPr>
          <p:cNvSpPr>
            <a:spLocks noGrp="1"/>
          </p:cNvSpPr>
          <p:nvPr>
            <p:ph type="sldNum" sz="quarter" idx="12"/>
          </p:nvPr>
        </p:nvSpPr>
        <p:spPr/>
        <p:txBody>
          <a:bodyPr/>
          <a:lstStyle/>
          <a:p>
            <a:fld id="{AE18D363-1563-43C6-BAF0-C28CE76012DF}" type="slidenum">
              <a:rPr lang="en-US" smtClean="0"/>
              <a:t>‹N›</a:t>
            </a:fld>
            <a:endParaRPr lang="en-US"/>
          </a:p>
        </p:txBody>
      </p:sp>
    </p:spTree>
    <p:extLst>
      <p:ext uri="{BB962C8B-B14F-4D97-AF65-F5344CB8AC3E}">
        <p14:creationId xmlns:p14="http://schemas.microsoft.com/office/powerpoint/2010/main" val="2962523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tx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E100A8E-1C47-42E5-AA21-036D6B47BC1C}" type="datetimeFigureOut">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3730458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100A8E-1C47-42E5-AA21-036D6B47BC1C}"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12928684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100A8E-1C47-42E5-AA21-036D6B47BC1C}"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33093569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100A8E-1C47-42E5-AA21-036D6B47BC1C}"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37028579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2">
                    <a:lumMod val="7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100A8E-1C47-42E5-AA21-036D6B47BC1C}" type="datetimeFigureOut">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21829965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100A8E-1C47-42E5-AA21-036D6B47BC1C}" type="datetimeFigureOut">
              <a:rPr lang="en-US" smtClean="0"/>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2098722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100A8E-1C47-42E5-AA21-036D6B47BC1C}" type="datetimeFigureOut">
              <a:rPr lang="en-US" smtClean="0"/>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5770300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5E100A8E-1C47-42E5-AA21-036D6B47BC1C}"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A6DDA4A2-2747-40BF-B089-F7428C6A68D1}" type="slidenum">
              <a:rPr lang="en-US" smtClean="0"/>
              <a:t>‹N›</a:t>
            </a:fld>
            <a:endParaRPr lang="en-US"/>
          </a:p>
        </p:txBody>
      </p:sp>
    </p:spTree>
    <p:extLst>
      <p:ext uri="{BB962C8B-B14F-4D97-AF65-F5344CB8AC3E}">
        <p14:creationId xmlns:p14="http://schemas.microsoft.com/office/powerpoint/2010/main" val="761355960"/>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tx2"/>
          </a:solidFill>
        </p:spPr>
        <p:txBody>
          <a:bodyPr anchor="t"/>
          <a:lstStyle>
            <a:lvl1pPr marL="0" indent="0" algn="ctr">
              <a:spcBef>
                <a:spcPts val="800"/>
              </a:spcBef>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Date Placeholder 8"/>
          <p:cNvSpPr>
            <a:spLocks noGrp="1"/>
          </p:cNvSpPr>
          <p:nvPr>
            <p:ph type="dt" sz="half" idx="10"/>
          </p:nvPr>
        </p:nvSpPr>
        <p:spPr/>
        <p:txBody>
          <a:bodyPr/>
          <a:lstStyle/>
          <a:p>
            <a:fld id="{5E100A8E-1C47-42E5-AA21-036D6B47BC1C}" type="datetimeFigureOut">
              <a:rPr lang="en-US" smtClean="0"/>
              <a:t>3/18/2026</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23026541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100A8E-1C47-42E5-AA21-036D6B47BC1C}"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34036554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100A8E-1C47-42E5-AA21-036D6B47BC1C}"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DDA4A2-2747-40BF-B089-F7428C6A68D1}" type="slidenum">
              <a:rPr lang="en-US" smtClean="0"/>
              <a:t>‹N›</a:t>
            </a:fld>
            <a:endParaRPr lang="en-US"/>
          </a:p>
        </p:txBody>
      </p:sp>
    </p:spTree>
    <p:extLst>
      <p:ext uri="{BB962C8B-B14F-4D97-AF65-F5344CB8AC3E}">
        <p14:creationId xmlns:p14="http://schemas.microsoft.com/office/powerpoint/2010/main" val="810096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C294ED-79B2-40A8-97AE-28F8C50FC8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099934-F1B9-44BA-A8D7-2C3D99104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2CAD20-73A7-40A0-B88B-5BB40AFC48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FD3AF9-066A-4545-AA61-3B4B33325C06}" type="datetimeFigureOut">
              <a:rPr lang="en-US" smtClean="0"/>
              <a:t>3/18/2026</a:t>
            </a:fld>
            <a:endParaRPr lang="en-US"/>
          </a:p>
        </p:txBody>
      </p:sp>
      <p:sp>
        <p:nvSpPr>
          <p:cNvPr id="5" name="Footer Placeholder 4">
            <a:extLst>
              <a:ext uri="{FF2B5EF4-FFF2-40B4-BE49-F238E27FC236}">
                <a16:creationId xmlns:a16="http://schemas.microsoft.com/office/drawing/2014/main" id="{18FC85A3-A0CE-47A3-985B-1EE388F78B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12F2D2-E3B5-4920-9B23-C2D855DE3A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18D363-1563-43C6-BAF0-C28CE76012DF}" type="slidenum">
              <a:rPr lang="en-US" smtClean="0"/>
              <a:t>‹N›</a:t>
            </a:fld>
            <a:endParaRPr lang="en-US"/>
          </a:p>
        </p:txBody>
      </p:sp>
    </p:spTree>
    <p:extLst>
      <p:ext uri="{BB962C8B-B14F-4D97-AF65-F5344CB8AC3E}">
        <p14:creationId xmlns:p14="http://schemas.microsoft.com/office/powerpoint/2010/main" val="2275850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5E100A8E-1C47-42E5-AA21-036D6B47BC1C}" type="datetimeFigureOut">
              <a:rPr lang="en-US" smtClean="0"/>
              <a:t>3/18/2026</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tx1">
                    <a:alpha val="20000"/>
                  </a:schemeClr>
                </a:solidFill>
                <a:latin typeface="+mj-lt"/>
              </a:defRPr>
            </a:lvl1pPr>
          </a:lstStyle>
          <a:p>
            <a:fld id="{A6DDA4A2-2747-40BF-B089-F7428C6A68D1}" type="slidenum">
              <a:rPr lang="en-US" smtClean="0"/>
              <a:t>‹N›</a:t>
            </a:fld>
            <a:endParaRPr lang="en-US"/>
          </a:p>
        </p:txBody>
      </p:sp>
    </p:spTree>
    <p:extLst>
      <p:ext uri="{BB962C8B-B14F-4D97-AF65-F5344CB8AC3E}">
        <p14:creationId xmlns:p14="http://schemas.microsoft.com/office/powerpoint/2010/main" val="143103986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5400" kern="1200" spc="-12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2">
              <a:lumMod val="7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2">
              <a:lumMod val="7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2">
              <a:lumMod val="7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26607-3804-416B-AEE5-4EBF7D37A264}"/>
              </a:ext>
            </a:extLst>
          </p:cNvPr>
          <p:cNvSpPr>
            <a:spLocks noGrp="1"/>
          </p:cNvSpPr>
          <p:nvPr>
            <p:ph type="ctrTitle"/>
          </p:nvPr>
        </p:nvSpPr>
        <p:spPr/>
        <p:txBody>
          <a:bodyPr/>
          <a:lstStyle/>
          <a:p>
            <a:pPr algn="ctr"/>
            <a:r>
              <a:rPr lang="it-IT" dirty="0">
                <a:latin typeface="Palatino Linotype" panose="02040502050505030304" pitchFamily="18" charset="0"/>
              </a:rPr>
              <a:t>Gender &amp; Inclusion</a:t>
            </a:r>
            <a:endParaRPr lang="en-US" dirty="0">
              <a:latin typeface="Palatino Linotype" panose="02040502050505030304" pitchFamily="18" charset="0"/>
            </a:endParaRPr>
          </a:p>
        </p:txBody>
      </p:sp>
      <p:sp>
        <p:nvSpPr>
          <p:cNvPr id="3" name="Subtitle 2">
            <a:extLst>
              <a:ext uri="{FF2B5EF4-FFF2-40B4-BE49-F238E27FC236}">
                <a16:creationId xmlns:a16="http://schemas.microsoft.com/office/drawing/2014/main" id="{5445AB41-0175-4BD6-9CCA-8F84529B4571}"/>
              </a:ext>
            </a:extLst>
          </p:cNvPr>
          <p:cNvSpPr>
            <a:spLocks noGrp="1"/>
          </p:cNvSpPr>
          <p:nvPr>
            <p:ph type="subTitle" idx="1"/>
          </p:nvPr>
        </p:nvSpPr>
        <p:spPr>
          <a:xfrm>
            <a:off x="974911" y="4746812"/>
            <a:ext cx="8914078" cy="1132878"/>
          </a:xfrm>
        </p:spPr>
        <p:txBody>
          <a:bodyPr/>
          <a:lstStyle/>
          <a:p>
            <a:r>
              <a:rPr lang="it-IT" dirty="0">
                <a:latin typeface="Palatino Linotype" panose="02040502050505030304" pitchFamily="18" charset="0"/>
              </a:rPr>
              <a:t>Lezione 3</a:t>
            </a:r>
          </a:p>
          <a:p>
            <a:r>
              <a:rPr lang="it-IT" dirty="0">
                <a:latin typeface="Palatino Linotype" panose="02040502050505030304" pitchFamily="18" charset="0"/>
              </a:rPr>
              <a:t>Barbara Martini</a:t>
            </a:r>
            <a:endParaRPr lang="en-US" dirty="0">
              <a:latin typeface="Palatino Linotype" panose="02040502050505030304" pitchFamily="18" charset="0"/>
            </a:endParaRPr>
          </a:p>
        </p:txBody>
      </p:sp>
      <p:pic>
        <p:nvPicPr>
          <p:cNvPr id="5" name="Picture 4" descr="Icon&#10;&#10;Description automatically generated">
            <a:extLst>
              <a:ext uri="{FF2B5EF4-FFF2-40B4-BE49-F238E27FC236}">
                <a16:creationId xmlns:a16="http://schemas.microsoft.com/office/drawing/2014/main" id="{E71C4589-30D1-4BBE-8AAC-8C2B4888D2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722120" cy="1813718"/>
          </a:xfrm>
          <a:prstGeom prst="rect">
            <a:avLst/>
          </a:prstGeom>
        </p:spPr>
      </p:pic>
      <p:pic>
        <p:nvPicPr>
          <p:cNvPr id="6" name="Picture 5">
            <a:extLst>
              <a:ext uri="{FF2B5EF4-FFF2-40B4-BE49-F238E27FC236}">
                <a16:creationId xmlns:a16="http://schemas.microsoft.com/office/drawing/2014/main" id="{98357865-003A-40F2-B99C-19297F151384}"/>
              </a:ext>
            </a:extLst>
          </p:cNvPr>
          <p:cNvPicPr>
            <a:picLocks noChangeAspect="1"/>
          </p:cNvPicPr>
          <p:nvPr/>
        </p:nvPicPr>
        <p:blipFill>
          <a:blip r:embed="rId3"/>
          <a:stretch>
            <a:fillRect/>
          </a:stretch>
        </p:blipFill>
        <p:spPr>
          <a:xfrm>
            <a:off x="10378281" y="0"/>
            <a:ext cx="1813719" cy="1813719"/>
          </a:xfrm>
          <a:prstGeom prst="rect">
            <a:avLst/>
          </a:prstGeom>
        </p:spPr>
      </p:pic>
      <p:pic>
        <p:nvPicPr>
          <p:cNvPr id="7" name="Picture 6">
            <a:extLst>
              <a:ext uri="{FF2B5EF4-FFF2-40B4-BE49-F238E27FC236}">
                <a16:creationId xmlns:a16="http://schemas.microsoft.com/office/drawing/2014/main" id="{AED7A1C5-FC28-4DDA-8AC0-2931C9150446}"/>
              </a:ext>
            </a:extLst>
          </p:cNvPr>
          <p:cNvPicPr>
            <a:picLocks noChangeAspect="1"/>
          </p:cNvPicPr>
          <p:nvPr/>
        </p:nvPicPr>
        <p:blipFill>
          <a:blip r:embed="rId4"/>
          <a:stretch>
            <a:fillRect/>
          </a:stretch>
        </p:blipFill>
        <p:spPr>
          <a:xfrm>
            <a:off x="4786312" y="0"/>
            <a:ext cx="2619375" cy="1743075"/>
          </a:xfrm>
          <a:prstGeom prst="rect">
            <a:avLst/>
          </a:prstGeom>
        </p:spPr>
      </p:pic>
    </p:spTree>
    <p:extLst>
      <p:ext uri="{BB962C8B-B14F-4D97-AF65-F5344CB8AC3E}">
        <p14:creationId xmlns:p14="http://schemas.microsoft.com/office/powerpoint/2010/main" val="2007009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D884152-7CD5-44A9-AC99-E84A84E22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90C624-5F0A-4C57-BB09-A080336962E1}"/>
              </a:ext>
            </a:extLst>
          </p:cNvPr>
          <p:cNvSpPr>
            <a:spLocks noGrp="1"/>
          </p:cNvSpPr>
          <p:nvPr>
            <p:ph type="title"/>
          </p:nvPr>
        </p:nvSpPr>
        <p:spPr>
          <a:xfrm>
            <a:off x="706299" y="639763"/>
            <a:ext cx="3573872" cy="5492750"/>
          </a:xfrm>
        </p:spPr>
        <p:txBody>
          <a:bodyPr>
            <a:normAutofit/>
          </a:bodyPr>
          <a:lstStyle/>
          <a:p>
            <a:r>
              <a:rPr lang="it-IT">
                <a:solidFill>
                  <a:schemeClr val="bg1"/>
                </a:solidFill>
              </a:rPr>
              <a:t>La storia delle donne</a:t>
            </a:r>
            <a:endParaRPr lang="en-US">
              <a:solidFill>
                <a:schemeClr val="bg1"/>
              </a:solidFill>
            </a:endParaRPr>
          </a:p>
        </p:txBody>
      </p:sp>
      <p:graphicFrame>
        <p:nvGraphicFramePr>
          <p:cNvPr id="5" name="Content Placeholder 2">
            <a:extLst>
              <a:ext uri="{FF2B5EF4-FFF2-40B4-BE49-F238E27FC236}">
                <a16:creationId xmlns:a16="http://schemas.microsoft.com/office/drawing/2014/main" id="{862CD1F4-EE21-5D6F-4A06-E6A0488BE74B}"/>
              </a:ext>
            </a:extLst>
          </p:cNvPr>
          <p:cNvGraphicFramePr>
            <a:graphicFrameLocks noGrp="1"/>
          </p:cNvGraphicFramePr>
          <p:nvPr>
            <p:ph idx="1"/>
            <p:extLst>
              <p:ext uri="{D42A27DB-BD31-4B8C-83A1-F6EECF244321}">
                <p14:modId xmlns:p14="http://schemas.microsoft.com/office/powerpoint/2010/main" val="1541229784"/>
              </p:ext>
            </p:extLst>
          </p:nvPr>
        </p:nvGraphicFramePr>
        <p:xfrm>
          <a:off x="5194570" y="639763"/>
          <a:ext cx="6348501" cy="5492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2444535"/>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9F03-4368-4857-A50C-8EC6BA3704A6}"/>
              </a:ext>
            </a:extLst>
          </p:cNvPr>
          <p:cNvSpPr>
            <a:spLocks noGrp="1"/>
          </p:cNvSpPr>
          <p:nvPr>
            <p:ph type="title"/>
          </p:nvPr>
        </p:nvSpPr>
        <p:spPr>
          <a:xfrm>
            <a:off x="5069940" y="365124"/>
            <a:ext cx="6172200" cy="1828800"/>
          </a:xfrm>
        </p:spPr>
        <p:txBody>
          <a:bodyPr>
            <a:normAutofit/>
          </a:bodyPr>
          <a:lstStyle/>
          <a:p>
            <a:r>
              <a:rPr lang="it-IT" dirty="0"/>
              <a:t>LE DONNE NELLA GRECIA ANTICA</a:t>
            </a:r>
            <a:endParaRPr lang="en-US" dirty="0"/>
          </a:p>
        </p:txBody>
      </p:sp>
      <p:pic>
        <p:nvPicPr>
          <p:cNvPr id="5" name="Picture 4">
            <a:extLst>
              <a:ext uri="{FF2B5EF4-FFF2-40B4-BE49-F238E27FC236}">
                <a16:creationId xmlns:a16="http://schemas.microsoft.com/office/drawing/2014/main" id="{3CC92420-13BC-4378-965F-376927B400A6}"/>
              </a:ext>
            </a:extLst>
          </p:cNvPr>
          <p:cNvPicPr>
            <a:picLocks noChangeAspect="1"/>
          </p:cNvPicPr>
          <p:nvPr/>
        </p:nvPicPr>
        <p:blipFill rotWithShape="1">
          <a:blip r:embed="rId2"/>
          <a:srcRect r="3" b="1709"/>
          <a:stretch/>
        </p:blipFill>
        <p:spPr>
          <a:xfrm>
            <a:off x="20" y="10"/>
            <a:ext cx="4639713" cy="6857990"/>
          </a:xfrm>
          <a:prstGeom prst="rect">
            <a:avLst/>
          </a:prstGeom>
        </p:spPr>
      </p:pic>
      <p:sp>
        <p:nvSpPr>
          <p:cNvPr id="3" name="Content Placeholder 2">
            <a:extLst>
              <a:ext uri="{FF2B5EF4-FFF2-40B4-BE49-F238E27FC236}">
                <a16:creationId xmlns:a16="http://schemas.microsoft.com/office/drawing/2014/main" id="{82317CD7-1F8E-40E2-8FD3-29A7F9898820}"/>
              </a:ext>
            </a:extLst>
          </p:cNvPr>
          <p:cNvSpPr>
            <a:spLocks noGrp="1"/>
          </p:cNvSpPr>
          <p:nvPr>
            <p:ph idx="1"/>
          </p:nvPr>
        </p:nvSpPr>
        <p:spPr>
          <a:xfrm>
            <a:off x="5069940" y="2322576"/>
            <a:ext cx="6172200" cy="3858768"/>
          </a:xfrm>
        </p:spPr>
        <p:txBody>
          <a:bodyPr>
            <a:normAutofit/>
          </a:bodyPr>
          <a:lstStyle/>
          <a:p>
            <a:pPr fontAlgn="base"/>
            <a:r>
              <a:rPr lang="en-US" sz="1700">
                <a:effectLst/>
                <a:latin typeface="Times New Roman" panose="02020603050405020304" pitchFamily="18" charset="0"/>
                <a:ea typeface="Times New Roman" panose="02020603050405020304" pitchFamily="18" charset="0"/>
              </a:rPr>
              <a:t>Per Aristotele solo l’uomo è un essere umano “completo” che, grazie alla superiore intelligenza, può dominare nella società e per questo il filoso considera la donna un essere umano “imperfetto”.</a:t>
            </a:r>
          </a:p>
          <a:p>
            <a:pPr fontAlgn="base"/>
            <a:r>
              <a:rPr lang="en-US" sz="1700" i="1">
                <a:effectLst/>
                <a:latin typeface="Times New Roman" panose="02020603050405020304" pitchFamily="18" charset="0"/>
                <a:ea typeface="Times New Roman" panose="02020603050405020304" pitchFamily="18" charset="0"/>
              </a:rPr>
              <a:t>“Nella relazione del maschio verso la femmina l’uno è per natura superiore, l’altra (inferiore) è comandata, ed è necessario che fra tutti gli uomini sia proprio in questo modo”</a:t>
            </a:r>
            <a:r>
              <a:rPr lang="en-US" sz="1700">
                <a:effectLst/>
                <a:latin typeface="Times New Roman" panose="02020603050405020304" pitchFamily="18" charset="0"/>
                <a:ea typeface="Times New Roman" panose="02020603050405020304" pitchFamily="18" charset="0"/>
              </a:rPr>
              <a:t> Secondo un “conservatore” come Aristotele la donna era stata concepita dalla natura solamente per due funzioni, la procreazione e la cura della casa, ma sempre in funzione ancillare dato che non doveva avere alcun ruolo decisionale. La subordinazione politica della donna rispecchia il ruolo passivo da lei svolto nell’ambito del processo riproduttivo, in cui è il maschio a imprimere la forma, il movimento, l’anima, mentre la femmina fornisce la materia inerte, paragonabile alla cera, o al legno, che tocca all’artigiano plasmare.</a:t>
            </a:r>
          </a:p>
          <a:p>
            <a:endParaRPr lang="en-US" sz="1700"/>
          </a:p>
        </p:txBody>
      </p:sp>
    </p:spTree>
    <p:extLst>
      <p:ext uri="{BB962C8B-B14F-4D97-AF65-F5344CB8AC3E}">
        <p14:creationId xmlns:p14="http://schemas.microsoft.com/office/powerpoint/2010/main" val="1353909485"/>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cultura di un testa">
            <a:extLst>
              <a:ext uri="{FF2B5EF4-FFF2-40B4-BE49-F238E27FC236}">
                <a16:creationId xmlns:a16="http://schemas.microsoft.com/office/drawing/2014/main" id="{CC6FC976-ABB1-6C75-512E-C75C57BF43B3}"/>
              </a:ext>
            </a:extLst>
          </p:cNvPr>
          <p:cNvPicPr>
            <a:picLocks noChangeAspect="1"/>
          </p:cNvPicPr>
          <p:nvPr/>
        </p:nvPicPr>
        <p:blipFill rotWithShape="1">
          <a:blip r:embed="rId2"/>
          <a:srcRect r="5882" b="-1"/>
          <a:stretch/>
        </p:blipFill>
        <p:spPr>
          <a:xfrm>
            <a:off x="1" y="10"/>
            <a:ext cx="9669642" cy="6857990"/>
          </a:xfrm>
          <a:prstGeom prst="rect">
            <a:avLst/>
          </a:prstGeom>
        </p:spPr>
      </p:pic>
      <p:sp>
        <p:nvSpPr>
          <p:cNvPr id="26" name="Rectangle 2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AFD55DA-4811-414E-8354-1D2562718D04}"/>
              </a:ext>
            </a:extLst>
          </p:cNvPr>
          <p:cNvSpPr>
            <a:spLocks noGrp="1"/>
          </p:cNvSpPr>
          <p:nvPr>
            <p:ph idx="1"/>
          </p:nvPr>
        </p:nvSpPr>
        <p:spPr>
          <a:xfrm>
            <a:off x="7531610" y="2434201"/>
            <a:ext cx="3822189" cy="3742762"/>
          </a:xfrm>
        </p:spPr>
        <p:txBody>
          <a:bodyPr>
            <a:normAutofit/>
          </a:bodyPr>
          <a:lstStyle/>
          <a:p>
            <a:r>
              <a:rPr lang="it-IT" sz="4800" dirty="0"/>
              <a:t>Le donne nella antica Roma</a:t>
            </a:r>
            <a:endParaRPr lang="en-US" sz="4800" dirty="0"/>
          </a:p>
        </p:txBody>
      </p:sp>
    </p:spTree>
    <p:extLst>
      <p:ext uri="{BB962C8B-B14F-4D97-AF65-F5344CB8AC3E}">
        <p14:creationId xmlns:p14="http://schemas.microsoft.com/office/powerpoint/2010/main" val="3051871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Freeform: Shape 7">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764099"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9">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12191999"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1">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971654"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97DC10A-330B-4AC4-946E-6325B81EE117}"/>
              </a:ext>
            </a:extLst>
          </p:cNvPr>
          <p:cNvSpPr>
            <a:spLocks noGrp="1"/>
          </p:cNvSpPr>
          <p:nvPr>
            <p:ph idx="1"/>
          </p:nvPr>
        </p:nvSpPr>
        <p:spPr>
          <a:xfrm>
            <a:off x="1544320" y="1691639"/>
            <a:ext cx="9476247" cy="4526281"/>
          </a:xfrm>
        </p:spPr>
        <p:txBody>
          <a:bodyPr anchor="t">
            <a:normAutofit/>
          </a:bodyPr>
          <a:lstStyle/>
          <a:p>
            <a:r>
              <a:rPr lang="it-IT" sz="2400" b="0" i="0" dirty="0">
                <a:effectLst/>
                <a:latin typeface="+mj-lt"/>
              </a:rPr>
              <a:t>Le donne romane erano sottoposte a vita alla tutela maschile per l'esercizio di qualunque atto giuridico</a:t>
            </a:r>
          </a:p>
          <a:p>
            <a:r>
              <a:rPr lang="it-IT" sz="2400" b="0" i="0" dirty="0">
                <a:effectLst/>
                <a:latin typeface="+mj-lt"/>
              </a:rPr>
              <a:t>erano </a:t>
            </a:r>
            <a:r>
              <a:rPr lang="it-IT" sz="2400" b="1" i="0" dirty="0">
                <a:effectLst/>
                <a:latin typeface="+mj-lt"/>
              </a:rPr>
              <a:t>escluse dalla vita politica</a:t>
            </a:r>
            <a:r>
              <a:rPr lang="it-IT" sz="2400" b="0" i="0" dirty="0">
                <a:effectLst/>
                <a:latin typeface="+mj-lt"/>
              </a:rPr>
              <a:t>. Non potevano votare nei comizi dove si sceglievano i magistrati e gli era precluso l’accesso ai compiti considerati esclusivamente maschili, gli officia </a:t>
            </a:r>
            <a:r>
              <a:rPr lang="it-IT" sz="2400" b="0" i="0" dirty="0" err="1">
                <a:effectLst/>
                <a:latin typeface="+mj-lt"/>
              </a:rPr>
              <a:t>virilia</a:t>
            </a:r>
            <a:r>
              <a:rPr lang="it-IT" sz="2400" b="0" i="0" dirty="0">
                <a:effectLst/>
                <a:latin typeface="+mj-lt"/>
              </a:rPr>
              <a:t>. Questa emarginazione si mantenne per tutta la storia di Roma, come sottolinea nel III secolo d.C. il giurista Ulpiano: «Le donne sono escluse da tutte le funzioni </a:t>
            </a:r>
            <a:r>
              <a:rPr lang="it-IT" sz="2400" b="1" i="0" dirty="0">
                <a:effectLst/>
                <a:latin typeface="+mj-lt"/>
              </a:rPr>
              <a:t>civili e pubbliche</a:t>
            </a:r>
            <a:r>
              <a:rPr lang="it-IT" sz="2400" b="0" i="0" dirty="0">
                <a:effectLst/>
                <a:latin typeface="+mj-lt"/>
              </a:rPr>
              <a:t> e per questo </a:t>
            </a:r>
            <a:r>
              <a:rPr lang="it-IT" sz="2400" b="1" i="0" dirty="0">
                <a:solidFill>
                  <a:srgbClr val="FF0000"/>
                </a:solidFill>
                <a:effectLst/>
                <a:latin typeface="+mj-lt"/>
              </a:rPr>
              <a:t>non possono essere giudici, né ottenere una magistratura, </a:t>
            </a:r>
            <a:r>
              <a:rPr lang="it-IT" sz="2400" b="0" i="0" dirty="0">
                <a:effectLst/>
                <a:latin typeface="+mj-lt"/>
              </a:rPr>
              <a:t>né esercitare come avvocate, né intervenire in rappresentanza di alcuno, né essere procuratrici».</a:t>
            </a:r>
          </a:p>
          <a:p>
            <a:r>
              <a:rPr lang="it-IT" sz="2400" dirty="0">
                <a:latin typeface="+mj-lt"/>
              </a:rPr>
              <a:t>Perchè?.. Erano umorali!</a:t>
            </a:r>
            <a:endParaRPr lang="en-US" sz="2400" dirty="0">
              <a:latin typeface="+mj-lt"/>
            </a:endParaRPr>
          </a:p>
        </p:txBody>
      </p:sp>
    </p:spTree>
    <p:extLst>
      <p:ext uri="{BB962C8B-B14F-4D97-AF65-F5344CB8AC3E}">
        <p14:creationId xmlns:p14="http://schemas.microsoft.com/office/powerpoint/2010/main" val="2017729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C79162D-381F-4211-9117-F3D15989ADD5}"/>
              </a:ext>
            </a:extLst>
          </p:cNvPr>
          <p:cNvSpPr>
            <a:spLocks noGrp="1"/>
          </p:cNvSpPr>
          <p:nvPr>
            <p:ph type="title"/>
          </p:nvPr>
        </p:nvSpPr>
        <p:spPr>
          <a:xfrm>
            <a:off x="2311147" y="365760"/>
            <a:ext cx="7569706" cy="1288238"/>
          </a:xfrm>
        </p:spPr>
        <p:txBody>
          <a:bodyPr anchor="ctr">
            <a:normAutofit/>
          </a:bodyPr>
          <a:lstStyle/>
          <a:p>
            <a:pPr algn="ctr"/>
            <a:r>
              <a:rPr lang="it-IT" sz="4100" b="1" dirty="0">
                <a:solidFill>
                  <a:srgbClr val="FF0000"/>
                </a:solidFill>
              </a:rPr>
              <a:t>Occorre aspettare il 1963 per avere una donna magistrato</a:t>
            </a:r>
            <a:endParaRPr lang="en-US" sz="4100" b="1" dirty="0">
              <a:solidFill>
                <a:srgbClr val="FF0000"/>
              </a:solidFill>
            </a:endParaRPr>
          </a:p>
        </p:txBody>
      </p:sp>
      <p:sp>
        <p:nvSpPr>
          <p:cNvPr id="3" name="Content Placeholder 2">
            <a:extLst>
              <a:ext uri="{FF2B5EF4-FFF2-40B4-BE49-F238E27FC236}">
                <a16:creationId xmlns:a16="http://schemas.microsoft.com/office/drawing/2014/main" id="{B754BD8C-2E17-43A2-B24D-2DB6DE463E9C}"/>
              </a:ext>
            </a:extLst>
          </p:cNvPr>
          <p:cNvSpPr>
            <a:spLocks noGrp="1"/>
          </p:cNvSpPr>
          <p:nvPr>
            <p:ph idx="1"/>
          </p:nvPr>
        </p:nvSpPr>
        <p:spPr>
          <a:xfrm>
            <a:off x="2165569" y="1956816"/>
            <a:ext cx="7860863" cy="4024884"/>
          </a:xfrm>
        </p:spPr>
        <p:txBody>
          <a:bodyPr anchor="t">
            <a:normAutofit lnSpcReduction="10000"/>
          </a:bodyPr>
          <a:lstStyle/>
          <a:p>
            <a:pPr marL="0" indent="0">
              <a:buNone/>
            </a:pPr>
            <a:r>
              <a:rPr lang="it-IT" sz="2400" b="0" i="0" dirty="0">
                <a:effectLst/>
                <a:latin typeface="Open Sans" panose="020B0606030504020204" pitchFamily="34" charset="0"/>
              </a:rPr>
              <a:t>NONOSTANTE  l’art. 51 della Costituzione (1 gennaio 1948)</a:t>
            </a:r>
          </a:p>
          <a:p>
            <a:pPr marL="0" indent="0">
              <a:buNone/>
            </a:pPr>
            <a:r>
              <a:rPr lang="it-IT" sz="2400" dirty="0">
                <a:latin typeface="Open Sans" panose="020B0606030504020204" pitchFamily="34" charset="0"/>
              </a:rPr>
              <a:t>Afferma</a:t>
            </a:r>
          </a:p>
          <a:p>
            <a:pPr marL="0" indent="0">
              <a:buNone/>
            </a:pPr>
            <a:r>
              <a:rPr lang="it-IT" sz="2400" b="0" i="0" dirty="0">
                <a:effectLst/>
                <a:latin typeface="Open Sans" panose="020B0606030504020204" pitchFamily="34" charset="0"/>
              </a:rPr>
              <a:t> </a:t>
            </a:r>
            <a:r>
              <a:rPr lang="it-IT" sz="4000" b="0" i="0" dirty="0">
                <a:effectLst/>
                <a:latin typeface="Open Sans" panose="020B0606030504020204" pitchFamily="34" charset="0"/>
              </a:rPr>
              <a:t>“</a:t>
            </a:r>
            <a:r>
              <a:rPr lang="it-IT" sz="4000" b="0" i="1" dirty="0">
                <a:effectLst/>
                <a:latin typeface="Open Sans" panose="020B0606030504020204" pitchFamily="34" charset="0"/>
              </a:rPr>
              <a:t>tutti i cittadini dell’uno e dell’altro sesso possono accedere agli uffici pubblici in condizioni di eguaglianza, secondo i requisiti stabiliti dalla legge”.</a:t>
            </a:r>
          </a:p>
        </p:txBody>
      </p:sp>
    </p:spTree>
    <p:extLst>
      <p:ext uri="{BB962C8B-B14F-4D97-AF65-F5344CB8AC3E}">
        <p14:creationId xmlns:p14="http://schemas.microsoft.com/office/powerpoint/2010/main" val="557004653"/>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79162D-381F-4211-9117-F3D15989ADD5}"/>
              </a:ext>
            </a:extLst>
          </p:cNvPr>
          <p:cNvSpPr>
            <a:spLocks noGrp="1"/>
          </p:cNvSpPr>
          <p:nvPr>
            <p:ph type="title"/>
          </p:nvPr>
        </p:nvSpPr>
        <p:spPr>
          <a:xfrm>
            <a:off x="804672" y="640080"/>
            <a:ext cx="3282696" cy="5257800"/>
          </a:xfrm>
        </p:spPr>
        <p:txBody>
          <a:bodyPr>
            <a:normAutofit/>
          </a:bodyPr>
          <a:lstStyle/>
          <a:p>
            <a:r>
              <a:rPr lang="it-IT">
                <a:solidFill>
                  <a:schemeClr val="bg1"/>
                </a:solidFill>
              </a:rPr>
              <a:t>Occorre aspettare il 1963 per avere una donna magistrato</a:t>
            </a:r>
            <a:endParaRPr lang="en-US">
              <a:solidFill>
                <a:schemeClr val="bg1"/>
              </a:solidFill>
            </a:endParaRPr>
          </a:p>
        </p:txBody>
      </p:sp>
      <p:sp>
        <p:nvSpPr>
          <p:cNvPr id="3" name="Content Placeholder 2">
            <a:extLst>
              <a:ext uri="{FF2B5EF4-FFF2-40B4-BE49-F238E27FC236}">
                <a16:creationId xmlns:a16="http://schemas.microsoft.com/office/drawing/2014/main" id="{B754BD8C-2E17-43A2-B24D-2DB6DE463E9C}"/>
              </a:ext>
            </a:extLst>
          </p:cNvPr>
          <p:cNvSpPr>
            <a:spLocks noGrp="1"/>
          </p:cNvSpPr>
          <p:nvPr>
            <p:ph idx="1"/>
          </p:nvPr>
        </p:nvSpPr>
        <p:spPr>
          <a:xfrm>
            <a:off x="5358384" y="640081"/>
            <a:ext cx="6024654" cy="5257800"/>
          </a:xfrm>
        </p:spPr>
        <p:txBody>
          <a:bodyPr anchor="ctr">
            <a:normAutofit/>
          </a:bodyPr>
          <a:lstStyle/>
          <a:p>
            <a:pPr marL="0" indent="0">
              <a:buNone/>
            </a:pPr>
            <a:endParaRPr lang="it-IT" sz="2000"/>
          </a:p>
          <a:p>
            <a:r>
              <a:rPr lang="it-IT" sz="2000"/>
              <a:t>La proposta venne approvata con la legge 9 febbraio 1963 n. 66 che ha sancito l’Ammissione della donna ai pubblici uffici ed alle libere professioni. La legge era composta di soli due articoli: Art. 1. La donna può accedere a tutte le cariche, professioni ed impieghi pubblici, compresa la Magistratura, nei vari ruoli, carriere e categorie, senza limitazione di mansioni e di svolgimento della carriera, salvi i requisiti stabiliti dalla legge. L’arruolamento della donna nelle forze armate e nei corpi speciali è regolato da leggi particolari. Art. 2. La legge 17 luglio 1919, n. 1176, il successivo regolamento approvato con regio decreto 4 gennaio 1920, n. 39 ed ogni altra disposizione incompatibile con la presente legge sono abrogati. </a:t>
            </a:r>
            <a:endParaRPr lang="en-US" sz="2000"/>
          </a:p>
        </p:txBody>
      </p:sp>
    </p:spTree>
    <p:extLst>
      <p:ext uri="{BB962C8B-B14F-4D97-AF65-F5344CB8AC3E}">
        <p14:creationId xmlns:p14="http://schemas.microsoft.com/office/powerpoint/2010/main" val="3014919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14CFC7-D75F-41F4-9729-E8D10FE7F4DE}"/>
              </a:ext>
            </a:extLst>
          </p:cNvPr>
          <p:cNvSpPr>
            <a:spLocks noGrp="1"/>
          </p:cNvSpPr>
          <p:nvPr>
            <p:ph type="title"/>
          </p:nvPr>
        </p:nvSpPr>
        <p:spPr>
          <a:xfrm>
            <a:off x="804672" y="640080"/>
            <a:ext cx="3282696" cy="5257800"/>
          </a:xfrm>
        </p:spPr>
        <p:txBody>
          <a:bodyPr>
            <a:normAutofit/>
          </a:bodyPr>
          <a:lstStyle/>
          <a:p>
            <a:r>
              <a:rPr lang="it-IT" sz="3700">
                <a:solidFill>
                  <a:schemeClr val="bg1"/>
                </a:solidFill>
              </a:rPr>
              <a:t>Per far accedere le donne in magistratura occorre attendere l’abrogazione dell’art.7 della legge 17 luglio 1919, n. 1176 </a:t>
            </a:r>
            <a:endParaRPr lang="en-US" sz="3700">
              <a:solidFill>
                <a:schemeClr val="bg1"/>
              </a:solidFill>
            </a:endParaRPr>
          </a:p>
        </p:txBody>
      </p:sp>
      <p:sp>
        <p:nvSpPr>
          <p:cNvPr id="3" name="Content Placeholder 2">
            <a:extLst>
              <a:ext uri="{FF2B5EF4-FFF2-40B4-BE49-F238E27FC236}">
                <a16:creationId xmlns:a16="http://schemas.microsoft.com/office/drawing/2014/main" id="{45FB7C29-74AA-413C-8803-78EFA4D3EDB9}"/>
              </a:ext>
            </a:extLst>
          </p:cNvPr>
          <p:cNvSpPr>
            <a:spLocks noGrp="1"/>
          </p:cNvSpPr>
          <p:nvPr>
            <p:ph idx="1"/>
          </p:nvPr>
        </p:nvSpPr>
        <p:spPr>
          <a:xfrm>
            <a:off x="5358384" y="640081"/>
            <a:ext cx="6024654" cy="5257800"/>
          </a:xfrm>
        </p:spPr>
        <p:txBody>
          <a:bodyPr anchor="ctr">
            <a:normAutofit/>
          </a:bodyPr>
          <a:lstStyle/>
          <a:p>
            <a:r>
              <a:rPr lang="it-IT" sz="2400" b="1" i="1" dirty="0">
                <a:effectLst/>
                <a:latin typeface="Georgia" panose="02040502050405020303" pitchFamily="18" charset="0"/>
              </a:rPr>
              <a:t>Le donne sono ammesse, a pari titolo degli uomini, ad esercitare tutte le professioni ed a coprire tutti gli impieghi pubblici, esclusi soltanto, se non vi siano ammesse espresse espressamente dalle leggi, quelli che implicano poteri pubblici </a:t>
            </a:r>
            <a:r>
              <a:rPr lang="it-IT" sz="2400" b="1" i="1">
                <a:effectLst/>
                <a:latin typeface="Georgia" panose="02040502050405020303" pitchFamily="18" charset="0"/>
              </a:rPr>
              <a:t>giurisdizionari</a:t>
            </a:r>
            <a:r>
              <a:rPr lang="it-IT" sz="2400" b="1" i="1" dirty="0">
                <a:effectLst/>
                <a:latin typeface="Georgia" panose="02040502050405020303" pitchFamily="18" charset="0"/>
              </a:rPr>
              <a:t> o l’esercizio di diritti e di potestà politiche, o che attengono alla difesa militare dello Stato secondo la specificazione che sarà fatta con apposito regolamento.</a:t>
            </a:r>
          </a:p>
          <a:p>
            <a:endParaRPr lang="en-US" sz="2400" dirty="0"/>
          </a:p>
        </p:txBody>
      </p:sp>
    </p:spTree>
    <p:extLst>
      <p:ext uri="{BB962C8B-B14F-4D97-AF65-F5344CB8AC3E}">
        <p14:creationId xmlns:p14="http://schemas.microsoft.com/office/powerpoint/2010/main" val="1351683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2C0244-F441-4684-A2F5-FE6E6CA2DCA4}"/>
              </a:ext>
            </a:extLst>
          </p:cNvPr>
          <p:cNvSpPr>
            <a:spLocks noGrp="1"/>
          </p:cNvSpPr>
          <p:nvPr>
            <p:ph type="title"/>
          </p:nvPr>
        </p:nvSpPr>
        <p:spPr>
          <a:xfrm>
            <a:off x="2311147" y="365760"/>
            <a:ext cx="7569706" cy="1288238"/>
          </a:xfrm>
        </p:spPr>
        <p:txBody>
          <a:bodyPr anchor="ctr">
            <a:normAutofit/>
          </a:bodyPr>
          <a:lstStyle/>
          <a:p>
            <a:pPr algn="ctr"/>
            <a:r>
              <a:rPr lang="it-IT" dirty="0"/>
              <a:t>DONNE NELLE FORZE ARMATE</a:t>
            </a:r>
            <a:endParaRPr lang="en-US"/>
          </a:p>
        </p:txBody>
      </p:sp>
      <p:sp>
        <p:nvSpPr>
          <p:cNvPr id="3" name="Content Placeholder 2">
            <a:extLst>
              <a:ext uri="{FF2B5EF4-FFF2-40B4-BE49-F238E27FC236}">
                <a16:creationId xmlns:a16="http://schemas.microsoft.com/office/drawing/2014/main" id="{A5369741-65CF-4699-B4A8-6DE653BB7BA6}"/>
              </a:ext>
            </a:extLst>
          </p:cNvPr>
          <p:cNvSpPr>
            <a:spLocks noGrp="1"/>
          </p:cNvSpPr>
          <p:nvPr>
            <p:ph idx="1"/>
          </p:nvPr>
        </p:nvSpPr>
        <p:spPr>
          <a:xfrm>
            <a:off x="2062481" y="1910080"/>
            <a:ext cx="7963952" cy="4071620"/>
          </a:xfrm>
        </p:spPr>
        <p:txBody>
          <a:bodyPr anchor="t">
            <a:normAutofit/>
          </a:bodyPr>
          <a:lstStyle/>
          <a:p>
            <a:pPr marL="0" indent="0">
              <a:buNone/>
            </a:pPr>
            <a:r>
              <a:rPr lang="it-IT" sz="4400" b="0" i="0" dirty="0">
                <a:effectLst/>
                <a:latin typeface="TitilliumWeb"/>
              </a:rPr>
              <a:t>Il 20 ottobre del 1999 con la legge numero 380 l’Italia si allineava ai Paesi della NATO aprendo le Forze armate al reclutamento femminile. </a:t>
            </a:r>
            <a:endParaRPr lang="en-US" sz="4400" dirty="0"/>
          </a:p>
        </p:txBody>
      </p:sp>
    </p:spTree>
    <p:extLst>
      <p:ext uri="{BB962C8B-B14F-4D97-AF65-F5344CB8AC3E}">
        <p14:creationId xmlns:p14="http://schemas.microsoft.com/office/powerpoint/2010/main" val="921446256"/>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CB5DFCDA-694D-4637-8E9B-038575194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9952075" cy="6858000"/>
          </a:xfrm>
          <a:custGeom>
            <a:avLst/>
            <a:gdLst>
              <a:gd name="connsiteX0" fmla="*/ 9952075 w 9952075"/>
              <a:gd name="connsiteY0" fmla="*/ 6858000 h 6858000"/>
              <a:gd name="connsiteX1" fmla="*/ 108694 w 9952075"/>
              <a:gd name="connsiteY1" fmla="*/ 6858000 h 6858000"/>
              <a:gd name="connsiteX2" fmla="*/ 79127 w 9952075"/>
              <a:gd name="connsiteY2" fmla="*/ 6681235 h 6858000"/>
              <a:gd name="connsiteX3" fmla="*/ 0 w 9952075"/>
              <a:gd name="connsiteY3" fmla="*/ 5565888 h 6858000"/>
              <a:gd name="connsiteX4" fmla="*/ 2190696 w 9952075"/>
              <a:gd name="connsiteY4" fmla="*/ 145339 h 6858000"/>
              <a:gd name="connsiteX5" fmla="*/ 2339431 w 9952075"/>
              <a:gd name="connsiteY5" fmla="*/ 0 h 6858000"/>
              <a:gd name="connsiteX6" fmla="*/ 9952075 w 9952075"/>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52075" h="6858000">
                <a:moveTo>
                  <a:pt x="9952075"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9952075"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Freeform: Shape 35">
            <a:extLst>
              <a:ext uri="{FF2B5EF4-FFF2-40B4-BE49-F238E27FC236}">
                <a16:creationId xmlns:a16="http://schemas.microsoft.com/office/drawing/2014/main" id="{E4DB276E-BFF1-43F5-AB90-7ABA4B9A9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9652017" cy="6858000"/>
          </a:xfrm>
          <a:custGeom>
            <a:avLst/>
            <a:gdLst>
              <a:gd name="connsiteX0" fmla="*/ 9652017 w 9652017"/>
              <a:gd name="connsiteY0" fmla="*/ 6858000 h 6858000"/>
              <a:gd name="connsiteX1" fmla="*/ 112827 w 9652017"/>
              <a:gd name="connsiteY1" fmla="*/ 6858000 h 6858000"/>
              <a:gd name="connsiteX2" fmla="*/ 76084 w 9652017"/>
              <a:gd name="connsiteY2" fmla="*/ 6638337 h 6858000"/>
              <a:gd name="connsiteX3" fmla="*/ 0 w 9652017"/>
              <a:gd name="connsiteY3" fmla="*/ 5565888 h 6858000"/>
              <a:gd name="connsiteX4" fmla="*/ 2157501 w 9652017"/>
              <a:gd name="connsiteY4" fmla="*/ 301488 h 6858000"/>
              <a:gd name="connsiteX5" fmla="*/ 2472310 w 9652017"/>
              <a:gd name="connsiteY5" fmla="*/ 0 h 6858000"/>
              <a:gd name="connsiteX6" fmla="*/ 9652017 w 965201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52017" h="6858000">
                <a:moveTo>
                  <a:pt x="9652017" y="6858000"/>
                </a:moveTo>
                <a:lnTo>
                  <a:pt x="112827" y="6858000"/>
                </a:lnTo>
                <a:lnTo>
                  <a:pt x="76084" y="6638337"/>
                </a:lnTo>
                <a:cubicBezTo>
                  <a:pt x="25944" y="6288079"/>
                  <a:pt x="0" y="5930014"/>
                  <a:pt x="0" y="5565888"/>
                </a:cubicBezTo>
                <a:cubicBezTo>
                  <a:pt x="0" y="3514654"/>
                  <a:pt x="823309" y="1655711"/>
                  <a:pt x="2157501" y="301488"/>
                </a:cubicBezTo>
                <a:lnTo>
                  <a:pt x="2472310" y="0"/>
                </a:lnTo>
                <a:lnTo>
                  <a:pt x="9652017" y="0"/>
                </a:ln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B02EE7F-487F-40AE-A9CC-BEFEB82D728D}"/>
              </a:ext>
            </a:extLst>
          </p:cNvPr>
          <p:cNvSpPr>
            <a:spLocks noGrp="1"/>
          </p:cNvSpPr>
          <p:nvPr>
            <p:ph idx="1"/>
          </p:nvPr>
        </p:nvSpPr>
        <p:spPr>
          <a:xfrm>
            <a:off x="838198" y="1956390"/>
            <a:ext cx="7322290" cy="3907465"/>
          </a:xfrm>
        </p:spPr>
        <p:txBody>
          <a:bodyPr anchor="t">
            <a:normAutofit/>
          </a:bodyPr>
          <a:lstStyle/>
          <a:p>
            <a:r>
              <a:rPr lang="it-IT" sz="6000" dirty="0"/>
              <a:t>Le donne nel cristianesimo</a:t>
            </a:r>
            <a:endParaRPr lang="en-US" sz="6000" dirty="0"/>
          </a:p>
        </p:txBody>
      </p:sp>
    </p:spTree>
    <p:extLst>
      <p:ext uri="{BB962C8B-B14F-4D97-AF65-F5344CB8AC3E}">
        <p14:creationId xmlns:p14="http://schemas.microsoft.com/office/powerpoint/2010/main" val="4190791419"/>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7703A-1117-4B07-B87E-397ACA76045E}"/>
              </a:ext>
            </a:extLst>
          </p:cNvPr>
          <p:cNvSpPr>
            <a:spLocks noGrp="1"/>
          </p:cNvSpPr>
          <p:nvPr>
            <p:ph type="title"/>
          </p:nvPr>
        </p:nvSpPr>
        <p:spPr>
          <a:xfrm>
            <a:off x="4965430" y="629268"/>
            <a:ext cx="6586491" cy="1286160"/>
          </a:xfrm>
        </p:spPr>
        <p:txBody>
          <a:bodyPr anchor="b">
            <a:normAutofit/>
          </a:bodyPr>
          <a:lstStyle/>
          <a:p>
            <a:r>
              <a:rPr lang="it-IT" dirty="0"/>
              <a:t>Genesi 2, 21-24</a:t>
            </a:r>
            <a:endParaRPr lang="en-US" dirty="0"/>
          </a:p>
        </p:txBody>
      </p:sp>
      <p:sp>
        <p:nvSpPr>
          <p:cNvPr id="3" name="Content Placeholder 2">
            <a:extLst>
              <a:ext uri="{FF2B5EF4-FFF2-40B4-BE49-F238E27FC236}">
                <a16:creationId xmlns:a16="http://schemas.microsoft.com/office/drawing/2014/main" id="{FF1568E4-1A8F-40BB-8A49-FB84D35E2804}"/>
              </a:ext>
            </a:extLst>
          </p:cNvPr>
          <p:cNvSpPr>
            <a:spLocks noGrp="1"/>
          </p:cNvSpPr>
          <p:nvPr>
            <p:ph idx="1"/>
          </p:nvPr>
        </p:nvSpPr>
        <p:spPr>
          <a:xfrm>
            <a:off x="4965431" y="2438400"/>
            <a:ext cx="6586489" cy="3785419"/>
          </a:xfrm>
        </p:spPr>
        <p:txBody>
          <a:bodyPr>
            <a:normAutofit/>
          </a:bodyPr>
          <a:lstStyle/>
          <a:p>
            <a:pPr marL="0" indent="0">
              <a:buNone/>
            </a:pPr>
            <a:r>
              <a:rPr lang="it-IT" sz="2000"/>
              <a:t>21 Allora il Signore Dio fece scendere un torpore sull'uomo, che si addormentò; gli tolse una delle costole e rinchiuse la carne al suo posto.</a:t>
            </a:r>
            <a:br>
              <a:rPr lang="it-IT" sz="2000"/>
            </a:br>
            <a:r>
              <a:rPr lang="it-IT" sz="2000"/>
              <a:t>22 Il Signore Dio plasmò con la costola, che aveva tolta all'uomo, una donna e la condusse all'uomo.</a:t>
            </a:r>
            <a:br>
              <a:rPr lang="it-IT" sz="2000"/>
            </a:br>
            <a:r>
              <a:rPr lang="it-IT" sz="2000"/>
              <a:t>23 Allora l'uomo disse: è carne dalla mia carne e osso dalle mie ossa. La si chiamerà donna perché dall'uomo è stata tolta».</a:t>
            </a:r>
            <a:br>
              <a:rPr lang="it-IT" sz="2000"/>
            </a:br>
            <a:r>
              <a:rPr lang="it-IT" sz="2000"/>
              <a:t>24 Per questo l'uomo abbandonerà suo padre e sua madre e si unirà a sua moglie e i due saranno una sola carne. </a:t>
            </a:r>
          </a:p>
          <a:p>
            <a:pPr marL="0" indent="0">
              <a:buNone/>
            </a:pPr>
            <a:endParaRPr lang="en-US" sz="2000"/>
          </a:p>
        </p:txBody>
      </p:sp>
      <p:pic>
        <p:nvPicPr>
          <p:cNvPr id="4" name="Picture 3">
            <a:extLst>
              <a:ext uri="{FF2B5EF4-FFF2-40B4-BE49-F238E27FC236}">
                <a16:creationId xmlns:a16="http://schemas.microsoft.com/office/drawing/2014/main" id="{42F9FAF0-7D82-400E-93A6-7FB7AB0DA294}"/>
              </a:ext>
            </a:extLst>
          </p:cNvPr>
          <p:cNvPicPr>
            <a:picLocks noChangeAspect="1"/>
          </p:cNvPicPr>
          <p:nvPr/>
        </p:nvPicPr>
        <p:blipFill rotWithShape="1">
          <a:blip r:embed="rId3"/>
          <a:srcRect l="5073" r="14219"/>
          <a:stretch/>
        </p:blipFill>
        <p:spPr>
          <a:xfrm>
            <a:off x="20" y="10"/>
            <a:ext cx="4635571"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957B5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2341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516ECFD-D194-4597-98E1-76364505D2C2}"/>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Genesi 3, 16</a:t>
            </a:r>
          </a:p>
        </p:txBody>
      </p:sp>
      <p:graphicFrame>
        <p:nvGraphicFramePr>
          <p:cNvPr id="4" name="Content Placeholder 3">
            <a:extLst>
              <a:ext uri="{FF2B5EF4-FFF2-40B4-BE49-F238E27FC236}">
                <a16:creationId xmlns:a16="http://schemas.microsoft.com/office/drawing/2014/main" id="{414A9531-4FC6-4BB5-82FD-A84006C9A6AD}"/>
              </a:ext>
            </a:extLst>
          </p:cNvPr>
          <p:cNvGraphicFramePr>
            <a:graphicFrameLocks noGrp="1"/>
          </p:cNvGraphicFramePr>
          <p:nvPr>
            <p:ph idx="1"/>
          </p:nvPr>
        </p:nvGraphicFramePr>
        <p:xfrm>
          <a:off x="4777316" y="1150379"/>
          <a:ext cx="6780700" cy="4556618"/>
        </p:xfrm>
        <a:graphic>
          <a:graphicData uri="http://schemas.openxmlformats.org/drawingml/2006/table">
            <a:tbl>
              <a:tblPr>
                <a:noFill/>
              </a:tblPr>
              <a:tblGrid>
                <a:gridCol w="6780700">
                  <a:extLst>
                    <a:ext uri="{9D8B030D-6E8A-4147-A177-3AD203B41FA5}">
                      <a16:colId xmlns:a16="http://schemas.microsoft.com/office/drawing/2014/main" val="903684713"/>
                    </a:ext>
                  </a:extLst>
                </a:gridCol>
              </a:tblGrid>
              <a:tr h="4554913">
                <a:tc>
                  <a:txBody>
                    <a:bodyPr/>
                    <a:lstStyle/>
                    <a:p>
                      <a:pPr algn="l"/>
                      <a:r>
                        <a:rPr lang="it-IT" sz="2300" cap="none" spc="0" dirty="0">
                          <a:solidFill>
                            <a:schemeClr val="tx1"/>
                          </a:solidFill>
                        </a:rPr>
                        <a:t>16 Alla donna disse: i tuoi dolori e le tue gravidanze, </a:t>
                      </a:r>
                      <a:r>
                        <a:rPr lang="it-IT" sz="2300" b="1" cap="none" spc="0" dirty="0">
                          <a:solidFill>
                            <a:srgbClr val="FF0000"/>
                          </a:solidFill>
                        </a:rPr>
                        <a:t>con dolore partorirai figli. Verso tuo marito sarà il tuo istinto, ma egli ti dominerà».</a:t>
                      </a:r>
                    </a:p>
                    <a:p>
                      <a:pPr algn="l"/>
                      <a:r>
                        <a:rPr lang="it-IT" sz="2300" b="1" i="0" kern="1200" cap="none" spc="0" dirty="0">
                          <a:solidFill>
                            <a:schemeClr val="tx1"/>
                          </a:solidFill>
                          <a:effectLst/>
                          <a:latin typeface="+mn-lt"/>
                          <a:ea typeface="+mn-ea"/>
                          <a:cs typeface="+mn-cs"/>
                        </a:rPr>
                        <a:t>17</a:t>
                      </a:r>
                      <a:r>
                        <a:rPr lang="it-IT" sz="2300" b="0" i="0" kern="1200" cap="none" spc="0" dirty="0">
                          <a:solidFill>
                            <a:schemeClr val="tx1"/>
                          </a:solidFill>
                          <a:effectLst/>
                          <a:latin typeface="+mn-lt"/>
                          <a:ea typeface="+mn-ea"/>
                          <a:cs typeface="+mn-cs"/>
                        </a:rPr>
                        <a:t> Ad Adamo disse: «Poiché hai dato ascolto alla voce di tua moglie e hai mangiato del frutto dall'albero circa il quale io ti avevo ordinato di non mangiarne, il suolo sarà maledetto per causa tua; ne mangerai il frutto con affanno, tutti i giorni della tua vita. </a:t>
                      </a:r>
                      <a:r>
                        <a:rPr lang="it-IT" sz="2300" b="1" i="0" kern="1200" cap="none" spc="0" dirty="0">
                          <a:solidFill>
                            <a:schemeClr val="tx1"/>
                          </a:solidFill>
                          <a:effectLst/>
                          <a:latin typeface="+mn-lt"/>
                          <a:ea typeface="+mn-ea"/>
                          <a:cs typeface="+mn-cs"/>
                        </a:rPr>
                        <a:t>18</a:t>
                      </a:r>
                      <a:r>
                        <a:rPr lang="it-IT" sz="2300" b="0" i="0" kern="1200" cap="none" spc="0" dirty="0">
                          <a:solidFill>
                            <a:schemeClr val="tx1"/>
                          </a:solidFill>
                          <a:effectLst/>
                          <a:latin typeface="+mn-lt"/>
                          <a:ea typeface="+mn-ea"/>
                          <a:cs typeface="+mn-cs"/>
                        </a:rPr>
                        <a:t> Esso ti produrrà spine e rovi, e tu mangerai l'erba dei campi; </a:t>
                      </a:r>
                      <a:r>
                        <a:rPr lang="it-IT" sz="2300" b="1" i="0" kern="1200" cap="none" spc="0" dirty="0">
                          <a:solidFill>
                            <a:schemeClr val="tx1"/>
                          </a:solidFill>
                          <a:effectLst/>
                          <a:latin typeface="+mn-lt"/>
                          <a:ea typeface="+mn-ea"/>
                          <a:cs typeface="+mn-cs"/>
                        </a:rPr>
                        <a:t>19</a:t>
                      </a:r>
                      <a:r>
                        <a:rPr lang="it-IT" sz="2300" b="0" i="0" kern="1200" cap="none" spc="0" dirty="0">
                          <a:solidFill>
                            <a:schemeClr val="tx1"/>
                          </a:solidFill>
                          <a:effectLst/>
                          <a:latin typeface="+mn-lt"/>
                          <a:ea typeface="+mn-ea"/>
                          <a:cs typeface="+mn-cs"/>
                        </a:rPr>
                        <a:t> mangerai il pane con il sudore del tuo volto, finché tu ritorni nella terra da cui fosti tratto; perché sei polvere e in polvere ritornerai».</a:t>
                      </a:r>
                      <a:endParaRPr lang="it-IT" sz="2300" cap="none" spc="0" dirty="0">
                        <a:solidFill>
                          <a:schemeClr val="tx1"/>
                        </a:solidFill>
                      </a:endParaRPr>
                    </a:p>
                  </a:txBody>
                  <a:tcPr marL="0" marR="103052" marT="41221" marB="309157">
                    <a:lnL w="12700" cmpd="sng">
                      <a:noFill/>
                      <a:prstDash val="solid"/>
                    </a:lnL>
                    <a:lnR w="12700" cmpd="sng">
                      <a:noFill/>
                      <a:prstDash val="solid"/>
                    </a:lnR>
                    <a:lnT w="6350" cap="flat" cmpd="sng" algn="ctr">
                      <a:solidFill>
                        <a:schemeClr val="tx1"/>
                      </a:solidFill>
                      <a:prstDash val="solid"/>
                    </a:lnT>
                    <a:lnB w="12700" cmpd="sng">
                      <a:noFill/>
                      <a:prstDash val="solid"/>
                    </a:lnB>
                    <a:noFill/>
                  </a:tcPr>
                </a:tc>
                <a:extLst>
                  <a:ext uri="{0D108BD9-81ED-4DB2-BD59-A6C34878D82A}">
                    <a16:rowId xmlns:a16="http://schemas.microsoft.com/office/drawing/2014/main" val="951603143"/>
                  </a:ext>
                </a:extLst>
              </a:tr>
            </a:tbl>
          </a:graphicData>
        </a:graphic>
      </p:graphicFrame>
      <p:sp>
        <p:nvSpPr>
          <p:cNvPr id="5" name="Rectangle 1">
            <a:extLst>
              <a:ext uri="{FF2B5EF4-FFF2-40B4-BE49-F238E27FC236}">
                <a16:creationId xmlns:a16="http://schemas.microsoft.com/office/drawing/2014/main" id="{2C915877-C63A-4108-8102-D5EB462AB79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2272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6A09-FD34-46AE-82A4-F2FDC5B54828}"/>
              </a:ext>
            </a:extLst>
          </p:cNvPr>
          <p:cNvSpPr>
            <a:spLocks noGrp="1"/>
          </p:cNvSpPr>
          <p:nvPr>
            <p:ph type="title"/>
          </p:nvPr>
        </p:nvSpPr>
        <p:spPr>
          <a:xfrm>
            <a:off x="7464614" y="1783959"/>
            <a:ext cx="4087306" cy="2889114"/>
          </a:xfrm>
        </p:spPr>
        <p:txBody>
          <a:bodyPr vert="horz" lIns="91440" tIns="45720" rIns="91440" bIns="45720" rtlCol="0" anchor="b">
            <a:normAutofit/>
          </a:bodyPr>
          <a:lstStyle/>
          <a:p>
            <a:r>
              <a:rPr lang="en-US" sz="4200" dirty="0"/>
              <a:t>I </a:t>
            </a:r>
            <a:r>
              <a:rPr lang="en-US" sz="4200" dirty="0" err="1"/>
              <a:t>vangeli</a:t>
            </a:r>
            <a:r>
              <a:rPr lang="en-US" sz="4200" dirty="0"/>
              <a:t>….dove le </a:t>
            </a:r>
            <a:r>
              <a:rPr lang="en-US" sz="4200" dirty="0" err="1"/>
              <a:t>donne</a:t>
            </a:r>
            <a:r>
              <a:rPr lang="en-US" sz="4200" dirty="0"/>
              <a:t> </a:t>
            </a:r>
            <a:r>
              <a:rPr lang="en-US" sz="4200" dirty="0" err="1"/>
              <a:t>hanno</a:t>
            </a:r>
            <a:r>
              <a:rPr lang="en-US" sz="4200" dirty="0"/>
              <a:t> un </a:t>
            </a:r>
            <a:r>
              <a:rPr lang="en-US" sz="4200" dirty="0" err="1"/>
              <a:t>ruolo</a:t>
            </a:r>
            <a:r>
              <a:rPr lang="en-US" sz="4200" dirty="0"/>
              <a:t> </a:t>
            </a:r>
            <a:r>
              <a:rPr lang="en-US" sz="4200" dirty="0" err="1"/>
              <a:t>importante</a:t>
            </a:r>
            <a:r>
              <a:rPr lang="en-US" sz="4200" dirty="0"/>
              <a:t> e non </a:t>
            </a:r>
            <a:r>
              <a:rPr lang="en-US" sz="4200" dirty="0" err="1"/>
              <a:t>secondario</a:t>
            </a:r>
            <a:endParaRPr lang="en-US" sz="4200" dirty="0"/>
          </a:p>
        </p:txBody>
      </p:sp>
      <p:sp>
        <p:nvSpPr>
          <p:cNvPr id="9" name="Freeform: Shape 8">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descr="A group of people in clothing&#10;&#10;Description automatically generated with low confidence">
            <a:extLst>
              <a:ext uri="{FF2B5EF4-FFF2-40B4-BE49-F238E27FC236}">
                <a16:creationId xmlns:a16="http://schemas.microsoft.com/office/drawing/2014/main" id="{19553145-6C7C-4995-BB41-AA0DF8BD8020}"/>
              </a:ext>
            </a:extLst>
          </p:cNvPr>
          <p:cNvPicPr>
            <a:picLocks noGrp="1" noChangeAspect="1"/>
          </p:cNvPicPr>
          <p:nvPr>
            <p:ph idx="1"/>
          </p:nvPr>
        </p:nvPicPr>
        <p:blipFill rotWithShape="1">
          <a:blip r:embed="rId2"/>
          <a:srcRect t="10959" b="4396"/>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1076726553"/>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5AC69F-0880-499C-95CF-C43AB9CC44C7}"/>
              </a:ext>
            </a:extLst>
          </p:cNvPr>
          <p:cNvSpPr>
            <a:spLocks noGrp="1"/>
          </p:cNvSpPr>
          <p:nvPr>
            <p:ph type="title"/>
          </p:nvPr>
        </p:nvSpPr>
        <p:spPr>
          <a:xfrm>
            <a:off x="2311147" y="365760"/>
            <a:ext cx="7569706" cy="1288238"/>
          </a:xfrm>
        </p:spPr>
        <p:txBody>
          <a:bodyPr anchor="ctr">
            <a:normAutofit/>
          </a:bodyPr>
          <a:lstStyle/>
          <a:p>
            <a:pPr algn="ctr"/>
            <a:r>
              <a:rPr lang="it-IT" sz="4100"/>
              <a:t>Poi arriva SAN PAOLO </a:t>
            </a:r>
            <a:br>
              <a:rPr lang="it-IT" sz="4100"/>
            </a:br>
            <a:r>
              <a:rPr lang="it-IT" sz="4100"/>
              <a:t>Prima lettera a Timoteo 2:11-15</a:t>
            </a:r>
            <a:endParaRPr lang="en-US" sz="4100"/>
          </a:p>
        </p:txBody>
      </p:sp>
      <p:sp>
        <p:nvSpPr>
          <p:cNvPr id="3" name="Content Placeholder 2">
            <a:extLst>
              <a:ext uri="{FF2B5EF4-FFF2-40B4-BE49-F238E27FC236}">
                <a16:creationId xmlns:a16="http://schemas.microsoft.com/office/drawing/2014/main" id="{CBBA2684-8795-418B-BF8F-BB49652F872A}"/>
              </a:ext>
            </a:extLst>
          </p:cNvPr>
          <p:cNvSpPr>
            <a:spLocks noGrp="1"/>
          </p:cNvSpPr>
          <p:nvPr>
            <p:ph idx="1"/>
          </p:nvPr>
        </p:nvSpPr>
        <p:spPr>
          <a:xfrm>
            <a:off x="2165569" y="1956816"/>
            <a:ext cx="7860863" cy="4024884"/>
          </a:xfrm>
        </p:spPr>
        <p:txBody>
          <a:bodyPr anchor="t">
            <a:normAutofit/>
          </a:bodyPr>
          <a:lstStyle/>
          <a:p>
            <a:r>
              <a:rPr lang="it-IT" sz="2400" b="1" i="0" baseline="30000" dirty="0">
                <a:effectLst/>
                <a:latin typeface="Alegreya Sans"/>
              </a:rPr>
              <a:t>11</a:t>
            </a:r>
            <a:r>
              <a:rPr lang="it-IT" sz="2400" b="1" i="0" dirty="0">
                <a:effectLst/>
                <a:latin typeface="Alegreya Sans"/>
              </a:rPr>
              <a:t>La donna impari in silenzio, con tutta sottomissione. </a:t>
            </a:r>
            <a:r>
              <a:rPr lang="it-IT" sz="2400" b="1" i="0" baseline="30000" dirty="0">
                <a:effectLst/>
                <a:latin typeface="Alegreya Sans"/>
              </a:rPr>
              <a:t>12</a:t>
            </a:r>
            <a:r>
              <a:rPr lang="it-IT" sz="2400" b="1" i="0" dirty="0">
                <a:effectLst/>
                <a:latin typeface="Alegreya Sans"/>
              </a:rPr>
              <a:t>Non concedo a nessuna donna di insegnare, né di dettare legge all’uomo; piuttosto se ne stia in atteggiamento tranquillo. </a:t>
            </a:r>
            <a:r>
              <a:rPr lang="it-IT" sz="2400" b="1" i="0" baseline="30000" dirty="0">
                <a:effectLst/>
                <a:latin typeface="Alegreya Sans"/>
              </a:rPr>
              <a:t>13</a:t>
            </a:r>
            <a:r>
              <a:rPr lang="it-IT" sz="2400" b="1" i="0" dirty="0">
                <a:effectLst/>
                <a:latin typeface="Alegreya Sans"/>
              </a:rPr>
              <a:t>Perché prima è stato formato Adamo e poi Eva; </a:t>
            </a:r>
            <a:r>
              <a:rPr lang="it-IT" sz="2400" b="1" i="0" baseline="30000" dirty="0">
                <a:effectLst/>
                <a:latin typeface="Alegreya Sans"/>
              </a:rPr>
              <a:t>14</a:t>
            </a:r>
            <a:r>
              <a:rPr lang="it-IT" sz="2400" b="1" i="0" dirty="0">
                <a:effectLst/>
                <a:latin typeface="Alegreya Sans"/>
              </a:rPr>
              <a:t>e non fu Adamo ad essere ingannato, ma fu la donna che, ingannata, si rese colpevole di trasgressione. </a:t>
            </a:r>
            <a:r>
              <a:rPr lang="it-IT" sz="2400" b="1" i="0" baseline="30000" dirty="0">
                <a:effectLst/>
                <a:latin typeface="Alegreya Sans"/>
              </a:rPr>
              <a:t>15</a:t>
            </a:r>
            <a:r>
              <a:rPr lang="it-IT" sz="2400" b="1" i="0" dirty="0">
                <a:effectLst/>
                <a:latin typeface="Alegreya Sans"/>
              </a:rPr>
              <a:t>Essa potrà essere salvata partorendo figli, a condizione di perseverare nella fede, nella carità e nella santificazione, con modestia.</a:t>
            </a:r>
            <a:endParaRPr lang="en-US" sz="2400" dirty="0"/>
          </a:p>
        </p:txBody>
      </p:sp>
    </p:spTree>
    <p:extLst>
      <p:ext uri="{BB962C8B-B14F-4D97-AF65-F5344CB8AC3E}">
        <p14:creationId xmlns:p14="http://schemas.microsoft.com/office/powerpoint/2010/main" val="1030692998"/>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A1F7-F9A9-4B0D-A4BF-0D961F8D68A1}"/>
              </a:ext>
            </a:extLst>
          </p:cNvPr>
          <p:cNvSpPr>
            <a:spLocks noGrp="1"/>
          </p:cNvSpPr>
          <p:nvPr>
            <p:ph type="title"/>
          </p:nvPr>
        </p:nvSpPr>
        <p:spPr>
          <a:xfrm>
            <a:off x="6746628" y="1783959"/>
            <a:ext cx="4645250" cy="2889114"/>
          </a:xfrm>
        </p:spPr>
        <p:txBody>
          <a:bodyPr vert="horz" lIns="91440" tIns="45720" rIns="91440" bIns="45720" rtlCol="0" anchor="b">
            <a:normAutofit/>
          </a:bodyPr>
          <a:lstStyle/>
          <a:p>
            <a:r>
              <a:rPr lang="en-US" sz="3800"/>
              <a:t>PER IL CRISTIANESIMO IL MODELLO DI DONNA E’ LA VERGINE MARIA</a:t>
            </a:r>
          </a:p>
        </p:txBody>
      </p:sp>
      <p:sp>
        <p:nvSpPr>
          <p:cNvPr id="9" name="Freeform: Shape 8">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descr="A painting of a person holding a baby&#10;&#10;Description automatically generated with medium confidence">
            <a:extLst>
              <a:ext uri="{FF2B5EF4-FFF2-40B4-BE49-F238E27FC236}">
                <a16:creationId xmlns:a16="http://schemas.microsoft.com/office/drawing/2014/main" id="{E21DAC03-5D99-4FB6-AB05-9C711D8DA29A}"/>
              </a:ext>
            </a:extLst>
          </p:cNvPr>
          <p:cNvPicPr>
            <a:picLocks noGrp="1" noChangeAspect="1"/>
          </p:cNvPicPr>
          <p:nvPr>
            <p:ph idx="1"/>
          </p:nvPr>
        </p:nvPicPr>
        <p:blipFill rotWithShape="1">
          <a:blip r:embed="rId2"/>
          <a:srcRect l="905" r="6841" b="-1"/>
          <a:stretch/>
        </p:blipFill>
        <p:spPr>
          <a:xfrm>
            <a:off x="20"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Tree>
    <p:extLst>
      <p:ext uri="{BB962C8B-B14F-4D97-AF65-F5344CB8AC3E}">
        <p14:creationId xmlns:p14="http://schemas.microsoft.com/office/powerpoint/2010/main" val="2928693851"/>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615BD-6CEC-4BF2-8284-756BEE92FE0E}"/>
              </a:ext>
            </a:extLst>
          </p:cNvPr>
          <p:cNvSpPr>
            <a:spLocks noGrp="1"/>
          </p:cNvSpPr>
          <p:nvPr>
            <p:ph type="title"/>
          </p:nvPr>
        </p:nvSpPr>
        <p:spPr>
          <a:xfrm>
            <a:off x="4965430" y="629268"/>
            <a:ext cx="6586491" cy="1286160"/>
          </a:xfrm>
        </p:spPr>
        <p:txBody>
          <a:bodyPr anchor="b">
            <a:normAutofit/>
          </a:bodyPr>
          <a:lstStyle/>
          <a:p>
            <a:r>
              <a:rPr lang="it-IT" sz="4100" dirty="0"/>
              <a:t>LA CONDIZIONE DELLA DONNA NEL MEDIOEVO</a:t>
            </a:r>
            <a:endParaRPr lang="en-US" sz="4100" dirty="0"/>
          </a:p>
        </p:txBody>
      </p:sp>
      <p:sp>
        <p:nvSpPr>
          <p:cNvPr id="3" name="Content Placeholder 2">
            <a:extLst>
              <a:ext uri="{FF2B5EF4-FFF2-40B4-BE49-F238E27FC236}">
                <a16:creationId xmlns:a16="http://schemas.microsoft.com/office/drawing/2014/main" id="{B8520AC1-D5EF-435C-ACF9-0EF1A2A54D72}"/>
              </a:ext>
            </a:extLst>
          </p:cNvPr>
          <p:cNvSpPr>
            <a:spLocks noGrp="1"/>
          </p:cNvSpPr>
          <p:nvPr>
            <p:ph idx="1"/>
          </p:nvPr>
        </p:nvSpPr>
        <p:spPr>
          <a:xfrm>
            <a:off x="4965431" y="2438400"/>
            <a:ext cx="6586489" cy="3785419"/>
          </a:xfrm>
        </p:spPr>
        <p:txBody>
          <a:bodyPr>
            <a:normAutofit/>
          </a:bodyPr>
          <a:lstStyle/>
          <a:p>
            <a:r>
              <a:rPr lang="it-IT" sz="2000" dirty="0"/>
              <a:t>La visione della donna nel Medio Evo è molto ancorata alla visione della donna fornita da Tommaso d’Aquino </a:t>
            </a:r>
          </a:p>
          <a:p>
            <a:r>
              <a:rPr lang="it-IT" sz="2000" b="0" i="0" dirty="0">
                <a:effectLst/>
                <a:latin typeface="-apple-system"/>
              </a:rPr>
              <a:t>Per Tommaso, l'anima delle donne si svilupperebbe dopo quella degli uomini ed, inoltre, proprio l'inferiorità qualitativa di un seme sarebbe la causa del sesso femminile rispetto al sesso maschile:</a:t>
            </a:r>
            <a:br>
              <a:rPr lang="it-IT" sz="2000"/>
            </a:br>
            <a:br>
              <a:rPr lang="it-IT" sz="2000"/>
            </a:br>
            <a:r>
              <a:rPr lang="it-IT" sz="2000" b="0" i="0">
                <a:effectLst/>
                <a:latin typeface="-apple-system"/>
              </a:rPr>
              <a:t>«[...] Un feto maschile diviene un essere umano dopo 40 giorni, uno femminile dopo 80 giorni. </a:t>
            </a:r>
            <a:r>
              <a:rPr lang="it-IT" sz="2000" b="0" i="0" dirty="0">
                <a:effectLst/>
                <a:latin typeface="-apple-system"/>
              </a:rPr>
              <a:t>Le femmine nascono a causa di un seme guasto o di venti umidi. [...]»</a:t>
            </a:r>
            <a:br>
              <a:rPr lang="it-IT" sz="2000" dirty="0"/>
            </a:br>
            <a:endParaRPr lang="en-US" sz="2000" dirty="0"/>
          </a:p>
        </p:txBody>
      </p:sp>
      <p:pic>
        <p:nvPicPr>
          <p:cNvPr id="4" name="Picture 3">
            <a:extLst>
              <a:ext uri="{FF2B5EF4-FFF2-40B4-BE49-F238E27FC236}">
                <a16:creationId xmlns:a16="http://schemas.microsoft.com/office/drawing/2014/main" id="{FB983B9B-8C80-4133-9019-8495258F7888}"/>
              </a:ext>
            </a:extLst>
          </p:cNvPr>
          <p:cNvPicPr>
            <a:picLocks noChangeAspect="1"/>
          </p:cNvPicPr>
          <p:nvPr/>
        </p:nvPicPr>
        <p:blipFill rotWithShape="1">
          <a:blip r:embed="rId2"/>
          <a:srcRect r="-2" b="10123"/>
          <a:stretch/>
        </p:blipFill>
        <p:spPr>
          <a:xfrm>
            <a:off x="20" y="10"/>
            <a:ext cx="4635571"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CFD52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660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06904-4988-47B9-9175-1087D44B49D2}"/>
              </a:ext>
            </a:extLst>
          </p:cNvPr>
          <p:cNvSpPr>
            <a:spLocks noGrp="1"/>
          </p:cNvSpPr>
          <p:nvPr>
            <p:ph type="title"/>
          </p:nvPr>
        </p:nvSpPr>
        <p:spPr>
          <a:xfrm>
            <a:off x="6634134" y="1396289"/>
            <a:ext cx="5006336" cy="1325563"/>
          </a:xfrm>
        </p:spPr>
        <p:txBody>
          <a:bodyPr>
            <a:normAutofit/>
          </a:bodyPr>
          <a:lstStyle/>
          <a:p>
            <a:r>
              <a:rPr lang="it-IT" sz="3400"/>
              <a:t>Il ruolo delle donne nel medioevo: LE CONTADINE</a:t>
            </a:r>
            <a:endParaRPr lang="en-US" sz="3400"/>
          </a:p>
        </p:txBody>
      </p:sp>
      <p:sp>
        <p:nvSpPr>
          <p:cNvPr id="9" name="Freeform: Shape 8">
            <a:extLst>
              <a:ext uri="{FF2B5EF4-FFF2-40B4-BE49-F238E27FC236}">
                <a16:creationId xmlns:a16="http://schemas.microsoft.com/office/drawing/2014/main" id="{4F74D28C-3268-4E35-8EE1-D92CB4A85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2E3D3961-814C-4887-A66B-9DD7FBE3D4D3}"/>
              </a:ext>
            </a:extLst>
          </p:cNvPr>
          <p:cNvPicPr>
            <a:picLocks noChangeAspect="1"/>
          </p:cNvPicPr>
          <p:nvPr/>
        </p:nvPicPr>
        <p:blipFill rotWithShape="1">
          <a:blip r:embed="rId2"/>
          <a:srcRect t="1527" r="1" b="1"/>
          <a:stretch/>
        </p:blipFill>
        <p:spPr>
          <a:xfrm>
            <a:off x="20"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3" name="Content Placeholder 2">
            <a:extLst>
              <a:ext uri="{FF2B5EF4-FFF2-40B4-BE49-F238E27FC236}">
                <a16:creationId xmlns:a16="http://schemas.microsoft.com/office/drawing/2014/main" id="{91495905-26F2-41A2-A070-2997D18E14DD}"/>
              </a:ext>
            </a:extLst>
          </p:cNvPr>
          <p:cNvSpPr>
            <a:spLocks noGrp="1"/>
          </p:cNvSpPr>
          <p:nvPr>
            <p:ph idx="1"/>
          </p:nvPr>
        </p:nvSpPr>
        <p:spPr>
          <a:xfrm>
            <a:off x="6638578" y="2871982"/>
            <a:ext cx="5004073" cy="3181684"/>
          </a:xfrm>
        </p:spPr>
        <p:txBody>
          <a:bodyPr anchor="t">
            <a:normAutofit/>
          </a:bodyPr>
          <a:lstStyle/>
          <a:p>
            <a:r>
              <a:rPr lang="it-IT" sz="3200" dirty="0"/>
              <a:t>LE CONTADINE LAVORAVANO NEI CAMPI FUORI DI CASA ED IN PIU’ OTTEMPERAVANO A TUTTI I LAVORI DOMESTICI FAMILIARI</a:t>
            </a:r>
            <a:endParaRPr lang="en-US" sz="3200" dirty="0"/>
          </a:p>
        </p:txBody>
      </p:sp>
    </p:spTree>
    <p:extLst>
      <p:ext uri="{BB962C8B-B14F-4D97-AF65-F5344CB8AC3E}">
        <p14:creationId xmlns:p14="http://schemas.microsoft.com/office/powerpoint/2010/main" val="3006837310"/>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334A7C-C25A-42CB-A21D-864B2A347987}"/>
              </a:ext>
            </a:extLst>
          </p:cNvPr>
          <p:cNvSpPr>
            <a:spLocks noGrp="1"/>
          </p:cNvSpPr>
          <p:nvPr>
            <p:ph type="title"/>
          </p:nvPr>
        </p:nvSpPr>
        <p:spPr>
          <a:xfrm>
            <a:off x="2311147" y="365760"/>
            <a:ext cx="7569706" cy="1288238"/>
          </a:xfrm>
        </p:spPr>
        <p:txBody>
          <a:bodyPr anchor="ctr">
            <a:normAutofit/>
          </a:bodyPr>
          <a:lstStyle/>
          <a:p>
            <a:pPr algn="ctr"/>
            <a:r>
              <a:rPr lang="it-IT" sz="4100"/>
              <a:t>QUESTA SITUAZIONE CONTINUA FINO ALL’UNITA’ DI ITALIA</a:t>
            </a:r>
            <a:endParaRPr lang="en-US" sz="4100"/>
          </a:p>
        </p:txBody>
      </p:sp>
      <p:sp>
        <p:nvSpPr>
          <p:cNvPr id="3" name="Content Placeholder 2">
            <a:extLst>
              <a:ext uri="{FF2B5EF4-FFF2-40B4-BE49-F238E27FC236}">
                <a16:creationId xmlns:a16="http://schemas.microsoft.com/office/drawing/2014/main" id="{BE88751B-5BF3-404F-8358-F0860C42F0F4}"/>
              </a:ext>
            </a:extLst>
          </p:cNvPr>
          <p:cNvSpPr>
            <a:spLocks noGrp="1"/>
          </p:cNvSpPr>
          <p:nvPr>
            <p:ph idx="1"/>
          </p:nvPr>
        </p:nvSpPr>
        <p:spPr>
          <a:xfrm>
            <a:off x="2165569" y="1956816"/>
            <a:ext cx="7860863" cy="4024884"/>
          </a:xfrm>
        </p:spPr>
        <p:txBody>
          <a:bodyPr anchor="t">
            <a:normAutofit/>
          </a:bodyPr>
          <a:lstStyle/>
          <a:p>
            <a:r>
              <a:rPr lang="it-IT" sz="2400"/>
              <a:t>NEL CENSIMENTO DEL 1860 MOLTE DONNE NON ERANO IN GRADO DI DEFINIRE LORO STESSE COME:</a:t>
            </a:r>
          </a:p>
          <a:p>
            <a:r>
              <a:rPr lang="it-IT" sz="2400"/>
              <a:t>CASALINGHE;</a:t>
            </a:r>
          </a:p>
          <a:p>
            <a:r>
              <a:rPr lang="it-IT" sz="2400"/>
              <a:t>CONTADINE;</a:t>
            </a:r>
          </a:p>
          <a:p>
            <a:r>
              <a:rPr lang="it-IT" sz="2400"/>
              <a:t>TESSITRICI</a:t>
            </a:r>
          </a:p>
          <a:p>
            <a:pPr marL="0" indent="0">
              <a:buNone/>
            </a:pPr>
            <a:r>
              <a:rPr lang="it-IT" sz="2400"/>
              <a:t>POICHE’ LE DONNE FACEVANO 3 LAVORI CONTEMPORANEAMENTE</a:t>
            </a:r>
            <a:endParaRPr lang="en-US" sz="2400"/>
          </a:p>
        </p:txBody>
      </p:sp>
    </p:spTree>
    <p:extLst>
      <p:ext uri="{BB962C8B-B14F-4D97-AF65-F5344CB8AC3E}">
        <p14:creationId xmlns:p14="http://schemas.microsoft.com/office/powerpoint/2010/main" val="1457243104"/>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833C1-DBD8-4511-8D2F-31359B97C1EF}"/>
              </a:ext>
            </a:extLst>
          </p:cNvPr>
          <p:cNvSpPr>
            <a:spLocks noGrp="1"/>
          </p:cNvSpPr>
          <p:nvPr>
            <p:ph type="title"/>
          </p:nvPr>
        </p:nvSpPr>
        <p:spPr>
          <a:xfrm>
            <a:off x="762001" y="803325"/>
            <a:ext cx="5314536" cy="1325563"/>
          </a:xfrm>
        </p:spPr>
        <p:txBody>
          <a:bodyPr>
            <a:normAutofit/>
          </a:bodyPr>
          <a:lstStyle/>
          <a:p>
            <a:r>
              <a:rPr lang="it-IT" dirty="0"/>
              <a:t>NOBILI</a:t>
            </a:r>
            <a:endParaRPr lang="en-US" dirty="0"/>
          </a:p>
        </p:txBody>
      </p:sp>
      <p:sp>
        <p:nvSpPr>
          <p:cNvPr id="3" name="Content Placeholder 2">
            <a:extLst>
              <a:ext uri="{FF2B5EF4-FFF2-40B4-BE49-F238E27FC236}">
                <a16:creationId xmlns:a16="http://schemas.microsoft.com/office/drawing/2014/main" id="{2CD03A38-C85B-4B0A-A864-FAB8267D58B0}"/>
              </a:ext>
            </a:extLst>
          </p:cNvPr>
          <p:cNvSpPr>
            <a:spLocks noGrp="1"/>
          </p:cNvSpPr>
          <p:nvPr>
            <p:ph idx="1"/>
          </p:nvPr>
        </p:nvSpPr>
        <p:spPr>
          <a:xfrm>
            <a:off x="762000" y="2279018"/>
            <a:ext cx="5314543" cy="3375920"/>
          </a:xfrm>
        </p:spPr>
        <p:txBody>
          <a:bodyPr anchor="t">
            <a:normAutofit/>
          </a:bodyPr>
          <a:lstStyle/>
          <a:p>
            <a:pPr marL="0" indent="0">
              <a:buNone/>
            </a:pPr>
            <a:r>
              <a:rPr lang="it-IT" sz="2400" b="0" i="0" dirty="0">
                <a:effectLst/>
                <a:latin typeface="arial" panose="020B0604020202020204" pitchFamily="34" charset="0"/>
              </a:rPr>
              <a:t>In generale, le </a:t>
            </a:r>
            <a:r>
              <a:rPr lang="it-IT" sz="2400" b="1" i="0" dirty="0">
                <a:effectLst/>
                <a:latin typeface="arial" panose="020B0604020202020204" pitchFamily="34" charset="0"/>
              </a:rPr>
              <a:t>donne nobili</a:t>
            </a:r>
            <a:r>
              <a:rPr lang="it-IT" sz="2400" b="0" i="0" dirty="0">
                <a:effectLst/>
                <a:latin typeface="arial" panose="020B0604020202020204" pitchFamily="34" charset="0"/>
              </a:rPr>
              <a:t> si trattenevano nei loro castelli, nei quali si occupavano di tutta la sfera riguardante l'economia </a:t>
            </a:r>
            <a:r>
              <a:rPr lang="it-IT" sz="2400" b="1" i="0" dirty="0">
                <a:effectLst/>
                <a:latin typeface="arial" panose="020B0604020202020204" pitchFamily="34" charset="0"/>
              </a:rPr>
              <a:t>della</a:t>
            </a:r>
            <a:r>
              <a:rPr lang="it-IT" sz="2400" b="0" i="0" dirty="0">
                <a:effectLst/>
                <a:latin typeface="arial" panose="020B0604020202020204" pitchFamily="34" charset="0"/>
              </a:rPr>
              <a:t> casa e si dedicavano a tempo pieno al lavoro di tessitura e ricamo di stoffe pregiate.</a:t>
            </a:r>
            <a:endParaRPr lang="en-US" sz="2400" dirty="0"/>
          </a:p>
        </p:txBody>
      </p:sp>
      <p:sp>
        <p:nvSpPr>
          <p:cNvPr id="9" name="Freeform: Shape 8">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24D013AE-9105-40AA-AB7D-2A1310ED4341}"/>
              </a:ext>
            </a:extLst>
          </p:cNvPr>
          <p:cNvPicPr>
            <a:picLocks noChangeAspect="1"/>
          </p:cNvPicPr>
          <p:nvPr/>
        </p:nvPicPr>
        <p:blipFill rotWithShape="1">
          <a:blip r:embed="rId2"/>
          <a:srcRect l="33526" r="2435" b="-1"/>
          <a:stretch/>
        </p:blipFill>
        <p:spPr>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p:spPr>
      </p:pic>
    </p:spTree>
    <p:extLst>
      <p:ext uri="{BB962C8B-B14F-4D97-AF65-F5344CB8AC3E}">
        <p14:creationId xmlns:p14="http://schemas.microsoft.com/office/powerpoint/2010/main" val="243467028"/>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4A59C-8939-4957-A74E-D95EAD72B5D4}"/>
              </a:ext>
            </a:extLst>
          </p:cNvPr>
          <p:cNvSpPr>
            <a:spLocks noGrp="1"/>
          </p:cNvSpPr>
          <p:nvPr>
            <p:ph type="title"/>
          </p:nvPr>
        </p:nvSpPr>
        <p:spPr>
          <a:xfrm>
            <a:off x="5069940" y="365124"/>
            <a:ext cx="6172200" cy="1828800"/>
          </a:xfrm>
        </p:spPr>
        <p:txBody>
          <a:bodyPr>
            <a:normAutofit/>
          </a:bodyPr>
          <a:lstStyle/>
          <a:p>
            <a:r>
              <a:rPr lang="it-IT" dirty="0"/>
              <a:t>LE DONNE BORGHESI E MERCANTI</a:t>
            </a:r>
            <a:endParaRPr lang="en-US" dirty="0"/>
          </a:p>
        </p:txBody>
      </p:sp>
      <p:pic>
        <p:nvPicPr>
          <p:cNvPr id="4" name="Picture 3">
            <a:extLst>
              <a:ext uri="{FF2B5EF4-FFF2-40B4-BE49-F238E27FC236}">
                <a16:creationId xmlns:a16="http://schemas.microsoft.com/office/drawing/2014/main" id="{C825A252-164F-4023-B0E4-75F41C9EA7C3}"/>
              </a:ext>
            </a:extLst>
          </p:cNvPr>
          <p:cNvPicPr>
            <a:picLocks noChangeAspect="1"/>
          </p:cNvPicPr>
          <p:nvPr/>
        </p:nvPicPr>
        <p:blipFill rotWithShape="1">
          <a:blip r:embed="rId2"/>
          <a:srcRect r="-1" b="8726"/>
          <a:stretch/>
        </p:blipFill>
        <p:spPr>
          <a:xfrm>
            <a:off x="20" y="10"/>
            <a:ext cx="4639713" cy="6857990"/>
          </a:xfrm>
          <a:prstGeom prst="rect">
            <a:avLst/>
          </a:prstGeom>
        </p:spPr>
      </p:pic>
      <p:sp>
        <p:nvSpPr>
          <p:cNvPr id="3" name="Content Placeholder 2">
            <a:extLst>
              <a:ext uri="{FF2B5EF4-FFF2-40B4-BE49-F238E27FC236}">
                <a16:creationId xmlns:a16="http://schemas.microsoft.com/office/drawing/2014/main" id="{C2352701-B173-4952-8BF7-59D6262487E7}"/>
              </a:ext>
            </a:extLst>
          </p:cNvPr>
          <p:cNvSpPr>
            <a:spLocks noGrp="1"/>
          </p:cNvSpPr>
          <p:nvPr>
            <p:ph idx="1"/>
          </p:nvPr>
        </p:nvSpPr>
        <p:spPr>
          <a:xfrm>
            <a:off x="5069940" y="2322576"/>
            <a:ext cx="6172200" cy="3858768"/>
          </a:xfrm>
        </p:spPr>
        <p:txBody>
          <a:bodyPr>
            <a:normAutofit/>
          </a:bodyPr>
          <a:lstStyle/>
          <a:p>
            <a:pPr marL="0" indent="0">
              <a:buNone/>
            </a:pPr>
            <a:r>
              <a:rPr lang="it-IT" sz="2400" dirty="0"/>
              <a:t>LE DONNE COMANDAVANO I SERVITORI, GESTIVANO LA CASA, AFFIANCAVANO IL MARITO NEL COMMERCIO, SI OCCUPAVANO DELLA TESSITURA</a:t>
            </a:r>
            <a:endParaRPr lang="en-US" sz="2400" dirty="0"/>
          </a:p>
        </p:txBody>
      </p:sp>
    </p:spTree>
    <p:extLst>
      <p:ext uri="{BB962C8B-B14F-4D97-AF65-F5344CB8AC3E}">
        <p14:creationId xmlns:p14="http://schemas.microsoft.com/office/powerpoint/2010/main" val="543376218"/>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B6ECB93-D7FF-4F09-A8ED-D4588EE7C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19110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01C615-EAB6-4CE5-803B-1BD95922793B}"/>
              </a:ext>
            </a:extLst>
          </p:cNvPr>
          <p:cNvSpPr>
            <a:spLocks noGrp="1"/>
          </p:cNvSpPr>
          <p:nvPr>
            <p:ph type="title"/>
          </p:nvPr>
        </p:nvSpPr>
        <p:spPr>
          <a:xfrm>
            <a:off x="838200" y="365760"/>
            <a:ext cx="10515600" cy="1325563"/>
          </a:xfrm>
        </p:spPr>
        <p:txBody>
          <a:bodyPr>
            <a:normAutofit/>
          </a:bodyPr>
          <a:lstStyle/>
          <a:p>
            <a:r>
              <a:rPr lang="it-IT">
                <a:solidFill>
                  <a:schemeClr val="bg1"/>
                </a:solidFill>
              </a:rPr>
              <a:t>LE DONNE NELL’ETA’ MODERNA</a:t>
            </a:r>
            <a:endParaRPr lang="en-US">
              <a:solidFill>
                <a:schemeClr val="bg1"/>
              </a:solidFill>
            </a:endParaRPr>
          </a:p>
        </p:txBody>
      </p:sp>
      <p:sp>
        <p:nvSpPr>
          <p:cNvPr id="3" name="Content Placeholder 2">
            <a:extLst>
              <a:ext uri="{FF2B5EF4-FFF2-40B4-BE49-F238E27FC236}">
                <a16:creationId xmlns:a16="http://schemas.microsoft.com/office/drawing/2014/main" id="{B396FD33-05E9-40AD-8BA6-8CC0A165438A}"/>
              </a:ext>
            </a:extLst>
          </p:cNvPr>
          <p:cNvSpPr>
            <a:spLocks noGrp="1"/>
          </p:cNvSpPr>
          <p:nvPr>
            <p:ph idx="1"/>
          </p:nvPr>
        </p:nvSpPr>
        <p:spPr>
          <a:xfrm>
            <a:off x="841248" y="2276857"/>
            <a:ext cx="5015484" cy="3900106"/>
          </a:xfrm>
        </p:spPr>
        <p:txBody>
          <a:bodyPr anchor="ctr">
            <a:normAutofit/>
          </a:bodyPr>
          <a:lstStyle/>
          <a:p>
            <a:r>
              <a:rPr lang="it-IT" sz="1500" b="0" i="0">
                <a:effectLst/>
                <a:latin typeface="Roboto" panose="02000000000000000000" pitchFamily="2" charset="0"/>
              </a:rPr>
              <a:t>Si assistette innanzi tutto alla nascita di un rapporto, prima inesistente, fra le donne e la letteratura: nacquero cioè le prime famose poetesse e scrittrici. La pressoché totale assenza di donne in campo scientifico fu dovuta proprio al diffondersi di uno stereotipo femminile ben  preciso: la donna doveva possedere come qualità fondamentale la bellezza, doveva essere in grado di governare la casa, il marito e i figli e doveva sapere intrattenere delle conversazioni colte. Per tale motivo le donne che potevano avvicinarsi agli studi erano costrette a scegliere le lettere e l’arte.</a:t>
            </a:r>
            <a:br>
              <a:rPr lang="it-IT" sz="1500"/>
            </a:br>
            <a:r>
              <a:rPr lang="it-IT" sz="1500" b="0" i="0">
                <a:effectLst/>
                <a:latin typeface="Roboto" panose="02000000000000000000" pitchFamily="2" charset="0"/>
              </a:rPr>
              <a:t>Tuttavia va registrata nel Cinquecento la nascita di istituzioni scolastiche riservate alle donne, soprattutto quelle appartenenti alla media borghesia, in cui esse imparavano a governare la casa, a leggere e a scrivere.</a:t>
            </a:r>
            <a:endParaRPr lang="en-US" sz="1500"/>
          </a:p>
        </p:txBody>
      </p:sp>
      <p:pic>
        <p:nvPicPr>
          <p:cNvPr id="4" name="Picture 3">
            <a:extLst>
              <a:ext uri="{FF2B5EF4-FFF2-40B4-BE49-F238E27FC236}">
                <a16:creationId xmlns:a16="http://schemas.microsoft.com/office/drawing/2014/main" id="{B2BF3D3D-ED9B-4757-AF30-0C7BD37DC1BF}"/>
              </a:ext>
            </a:extLst>
          </p:cNvPr>
          <p:cNvPicPr>
            <a:picLocks noChangeAspect="1"/>
          </p:cNvPicPr>
          <p:nvPr/>
        </p:nvPicPr>
        <p:blipFill rotWithShape="1">
          <a:blip r:embed="rId2"/>
          <a:srcRect l="36683" r="9627"/>
          <a:stretch/>
        </p:blipFill>
        <p:spPr>
          <a:xfrm>
            <a:off x="6335270" y="2276857"/>
            <a:ext cx="5015484" cy="3900106"/>
          </a:xfrm>
          <a:prstGeom prst="rect">
            <a:avLst/>
          </a:prstGeom>
        </p:spPr>
      </p:pic>
    </p:spTree>
    <p:extLst>
      <p:ext uri="{BB962C8B-B14F-4D97-AF65-F5344CB8AC3E}">
        <p14:creationId xmlns:p14="http://schemas.microsoft.com/office/powerpoint/2010/main" val="2172791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in a space suit&#10;&#10;Description automatically generated with medium confidence">
            <a:extLst>
              <a:ext uri="{FF2B5EF4-FFF2-40B4-BE49-F238E27FC236}">
                <a16:creationId xmlns:a16="http://schemas.microsoft.com/office/drawing/2014/main" id="{224D2DF9-1155-4F9B-8D0F-40B667A231CA}"/>
              </a:ext>
            </a:extLst>
          </p:cNvPr>
          <p:cNvPicPr>
            <a:picLocks noChangeAspect="1"/>
          </p:cNvPicPr>
          <p:nvPr/>
        </p:nvPicPr>
        <p:blipFill rotWithShape="1">
          <a:blip r:embed="rId2">
            <a:alphaModFix amt="50000"/>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B062902-D2E4-4CCB-8CA8-A8F55EA902F7}"/>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rPr>
              <a:t>IL GENDER BIAS CON LE DISCIPLINE SCIETIFICHE HA ORIGINI LONTANE </a:t>
            </a:r>
          </a:p>
        </p:txBody>
      </p:sp>
      <p:sp>
        <p:nvSpPr>
          <p:cNvPr id="3" name="Content Placeholder 2">
            <a:extLst>
              <a:ext uri="{FF2B5EF4-FFF2-40B4-BE49-F238E27FC236}">
                <a16:creationId xmlns:a16="http://schemas.microsoft.com/office/drawing/2014/main" id="{4A9D90F7-CC8A-488E-B83F-5CD4537561C7}"/>
              </a:ext>
            </a:extLst>
          </p:cNvPr>
          <p:cNvSpPr>
            <a:spLocks noGrp="1"/>
          </p:cNvSpPr>
          <p:nvPr>
            <p:ph idx="1"/>
          </p:nvPr>
        </p:nvSpPr>
        <p:spPr>
          <a:xfrm>
            <a:off x="1524000" y="4159404"/>
            <a:ext cx="9144000" cy="1098395"/>
          </a:xfrm>
        </p:spPr>
        <p:txBody>
          <a:bodyPr vert="horz" lIns="91440" tIns="45720" rIns="91440" bIns="45720" rtlCol="0">
            <a:normAutofit/>
          </a:bodyPr>
          <a:lstStyle/>
          <a:p>
            <a:pPr marL="0" indent="0" algn="ctr">
              <a:buNone/>
            </a:pPr>
            <a:r>
              <a:rPr lang="en-US" sz="2400">
                <a:solidFill>
                  <a:srgbClr val="FFFFFF"/>
                </a:solidFill>
              </a:rPr>
              <a:t>MA.. CE LA POSSIAMO FARE!</a:t>
            </a:r>
          </a:p>
        </p:txBody>
      </p:sp>
    </p:spTree>
    <p:extLst>
      <p:ext uri="{BB962C8B-B14F-4D97-AF65-F5344CB8AC3E}">
        <p14:creationId xmlns:p14="http://schemas.microsoft.com/office/powerpoint/2010/main" val="3411503347"/>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821D281-D1DE-4716-A0E5-4411E88C0477}"/>
              </a:ext>
            </a:extLst>
          </p:cNvPr>
          <p:cNvPicPr>
            <a:picLocks noChangeAspect="1"/>
          </p:cNvPicPr>
          <p:nvPr/>
        </p:nvPicPr>
        <p:blipFill rotWithShape="1">
          <a:blip r:embed="rId2"/>
          <a:srcRect l="6205" r="14484"/>
          <a:stretch/>
        </p:blipFill>
        <p:spPr>
          <a:xfrm>
            <a:off x="1" y="10"/>
            <a:ext cx="9669642"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43C05B0-42C4-4DCD-9144-D3E335EAB831}"/>
              </a:ext>
            </a:extLst>
          </p:cNvPr>
          <p:cNvSpPr>
            <a:spLocks noGrp="1"/>
          </p:cNvSpPr>
          <p:nvPr>
            <p:ph idx="1"/>
          </p:nvPr>
        </p:nvSpPr>
        <p:spPr>
          <a:xfrm>
            <a:off x="7531610" y="2434201"/>
            <a:ext cx="3822189" cy="3742762"/>
          </a:xfrm>
        </p:spPr>
        <p:txBody>
          <a:bodyPr>
            <a:normAutofit/>
          </a:bodyPr>
          <a:lstStyle/>
          <a:p>
            <a:r>
              <a:rPr lang="it-IT" sz="2000"/>
              <a:t>IN QUESTO PERIODO LE DONNE SONO ANCHE OGGETTO DI CACCIA ALLE STREGHE</a:t>
            </a:r>
            <a:endParaRPr lang="en-US" sz="2000"/>
          </a:p>
        </p:txBody>
      </p:sp>
    </p:spTree>
    <p:extLst>
      <p:ext uri="{BB962C8B-B14F-4D97-AF65-F5344CB8AC3E}">
        <p14:creationId xmlns:p14="http://schemas.microsoft.com/office/powerpoint/2010/main" val="1222481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36636-7FF5-422E-8333-BE9A0E8702A1}"/>
              </a:ext>
            </a:extLst>
          </p:cNvPr>
          <p:cNvSpPr>
            <a:spLocks noGrp="1"/>
          </p:cNvSpPr>
          <p:nvPr>
            <p:ph type="title"/>
          </p:nvPr>
        </p:nvSpPr>
        <p:spPr>
          <a:xfrm>
            <a:off x="6634134" y="1396289"/>
            <a:ext cx="5006336" cy="1325563"/>
          </a:xfrm>
        </p:spPr>
        <p:txBody>
          <a:bodyPr>
            <a:normAutofit/>
          </a:bodyPr>
          <a:lstStyle/>
          <a:p>
            <a:r>
              <a:rPr lang="it-IT" sz="3700"/>
              <a:t>IL 1700 PRIMA DELLA RIVOLUZIONE FRANCESE</a:t>
            </a:r>
            <a:endParaRPr lang="en-US" sz="3700"/>
          </a:p>
        </p:txBody>
      </p:sp>
      <p:sp>
        <p:nvSpPr>
          <p:cNvPr id="12" name="Freeform: Shape 11">
            <a:extLst>
              <a:ext uri="{FF2B5EF4-FFF2-40B4-BE49-F238E27FC236}">
                <a16:creationId xmlns:a16="http://schemas.microsoft.com/office/drawing/2014/main" id="{4F74D28C-3268-4E35-8EE1-D92CB4A85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06A3CAD-2510-4C1B-9014-7B8C150E7A04}"/>
              </a:ext>
            </a:extLst>
          </p:cNvPr>
          <p:cNvPicPr>
            <a:picLocks noChangeAspect="1"/>
          </p:cNvPicPr>
          <p:nvPr/>
        </p:nvPicPr>
        <p:blipFill rotWithShape="1">
          <a:blip r:embed="rId2"/>
          <a:srcRect t="24579" r="2" b="2"/>
          <a:stretch/>
        </p:blipFill>
        <p:spPr>
          <a:xfrm>
            <a:off x="20"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6" name="Content Placeholder 5">
            <a:extLst>
              <a:ext uri="{FF2B5EF4-FFF2-40B4-BE49-F238E27FC236}">
                <a16:creationId xmlns:a16="http://schemas.microsoft.com/office/drawing/2014/main" id="{5AB03638-8255-4117-AC00-9A2E39971111}"/>
              </a:ext>
            </a:extLst>
          </p:cNvPr>
          <p:cNvSpPr>
            <a:spLocks noGrp="1"/>
          </p:cNvSpPr>
          <p:nvPr>
            <p:ph idx="1"/>
          </p:nvPr>
        </p:nvSpPr>
        <p:spPr>
          <a:xfrm>
            <a:off x="6638578" y="2871982"/>
            <a:ext cx="5004073" cy="3181684"/>
          </a:xfrm>
        </p:spPr>
        <p:txBody>
          <a:bodyPr anchor="t">
            <a:normAutofit/>
          </a:bodyPr>
          <a:lstStyle/>
          <a:p>
            <a:r>
              <a:rPr lang="it-IT" sz="1500" b="0" i="0">
                <a:effectLst/>
                <a:latin typeface="Roboto" panose="02000000000000000000" pitchFamily="2" charset="0"/>
              </a:rPr>
              <a:t>Nel corso del Settecento le donne acquisirono una libertà maggiore rispetto alle epoche precedenti: infatti, pur restando fortemente soggette alle leggi paterne, esse potevano esercitare una sorta di dominio all’interno della loro nuova casa.</a:t>
            </a:r>
            <a:br>
              <a:rPr lang="it-IT" sz="1500"/>
            </a:br>
            <a:r>
              <a:rPr lang="it-IT" sz="1500" b="0" i="0">
                <a:effectLst/>
                <a:latin typeface="Roboto" panose="02000000000000000000" pitchFamily="2" charset="0"/>
              </a:rPr>
              <a:t>Si moltiplicarono le occasioni di uscita per le ragazze appartenenti ai ceti sociali più elevati, anche se si diffuse al contempo la figura del cicisbeo o cavalier servente che era designato dalla famiglia per proteggere la dama sposata dalle insidie dei malintenzionati e veniva scelto tra i parenti e gli amici, affinché fosse una persona di fiducia.</a:t>
            </a:r>
            <a:endParaRPr lang="en-US" sz="1500"/>
          </a:p>
        </p:txBody>
      </p:sp>
    </p:spTree>
    <p:extLst>
      <p:ext uri="{BB962C8B-B14F-4D97-AF65-F5344CB8AC3E}">
        <p14:creationId xmlns:p14="http://schemas.microsoft.com/office/powerpoint/2010/main" val="3606750083"/>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E4C146-DB98-4E7B-BA1E-E2EC1235A188}"/>
              </a:ext>
            </a:extLst>
          </p:cNvPr>
          <p:cNvSpPr>
            <a:spLocks noGrp="1"/>
          </p:cNvSpPr>
          <p:nvPr>
            <p:ph type="title"/>
          </p:nvPr>
        </p:nvSpPr>
        <p:spPr>
          <a:xfrm>
            <a:off x="2311147" y="365760"/>
            <a:ext cx="7569706" cy="1288238"/>
          </a:xfrm>
        </p:spPr>
        <p:txBody>
          <a:bodyPr anchor="ctr">
            <a:normAutofit/>
          </a:bodyPr>
          <a:lstStyle/>
          <a:p>
            <a:pPr algn="ctr"/>
            <a:r>
              <a:rPr lang="it-IT" sz="4100"/>
              <a:t>IL 1700 PRIMA DELLA RIVOLUZIONE FRANCESE</a:t>
            </a:r>
            <a:endParaRPr lang="en-US" sz="4100"/>
          </a:p>
        </p:txBody>
      </p:sp>
      <p:sp>
        <p:nvSpPr>
          <p:cNvPr id="3" name="Content Placeholder 2">
            <a:extLst>
              <a:ext uri="{FF2B5EF4-FFF2-40B4-BE49-F238E27FC236}">
                <a16:creationId xmlns:a16="http://schemas.microsoft.com/office/drawing/2014/main" id="{0597BCC8-313B-4E06-A675-5BDC28292DC2}"/>
              </a:ext>
            </a:extLst>
          </p:cNvPr>
          <p:cNvSpPr>
            <a:spLocks noGrp="1"/>
          </p:cNvSpPr>
          <p:nvPr>
            <p:ph idx="1"/>
          </p:nvPr>
        </p:nvSpPr>
        <p:spPr>
          <a:xfrm>
            <a:off x="2165569" y="1956816"/>
            <a:ext cx="7860863" cy="4024884"/>
          </a:xfrm>
        </p:spPr>
        <p:txBody>
          <a:bodyPr anchor="t">
            <a:normAutofit/>
          </a:bodyPr>
          <a:lstStyle/>
          <a:p>
            <a:r>
              <a:rPr lang="it-IT" sz="2400" b="0" i="0" dirty="0">
                <a:effectLst/>
                <a:latin typeface="Roboto" panose="02000000000000000000" pitchFamily="2" charset="0"/>
              </a:rPr>
              <a:t>Tuttavia si assistette ad un importante mutamento relativi all’istruzione e al lavoro. Infatti, presso le famiglie aristocratiche e borghesi, si era diffusa sempre più l’idea che fosse fondamentale garantire alle ragazze una certa istruzione, benché sempre inferiore a quella garantita ai figli maschi. Fu così che molte nobildonne ebbero accesso agli studi, anche se la maggior parte si indirizzò alle lettere e agli studi di stampo umanistico.</a:t>
            </a:r>
            <a:endParaRPr lang="en-US" sz="2400" dirty="0"/>
          </a:p>
        </p:txBody>
      </p:sp>
    </p:spTree>
    <p:extLst>
      <p:ext uri="{BB962C8B-B14F-4D97-AF65-F5344CB8AC3E}">
        <p14:creationId xmlns:p14="http://schemas.microsoft.com/office/powerpoint/2010/main" val="799137580"/>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25CAF-56E0-4B05-BAAD-3D396294F199}"/>
              </a:ext>
            </a:extLst>
          </p:cNvPr>
          <p:cNvSpPr>
            <a:spLocks noGrp="1"/>
          </p:cNvSpPr>
          <p:nvPr>
            <p:ph type="title"/>
          </p:nvPr>
        </p:nvSpPr>
        <p:spPr>
          <a:xfrm>
            <a:off x="6234330" y="803325"/>
            <a:ext cx="5314536" cy="1325563"/>
          </a:xfrm>
        </p:spPr>
        <p:txBody>
          <a:bodyPr>
            <a:normAutofit/>
          </a:bodyPr>
          <a:lstStyle/>
          <a:p>
            <a:r>
              <a:rPr lang="it-IT" sz="2100"/>
              <a:t>La rivoluzione francese e la nascita del femminismo</a:t>
            </a:r>
            <a:br>
              <a:rPr lang="it-IT" sz="2100"/>
            </a:br>
            <a:r>
              <a:rPr lang="it-IT" sz="2100" b="1">
                <a:effectLst>
                  <a:reflection blurRad="6350" stA="55000" endA="300" endPos="45500" dir="5400000" sy="-100000" algn="bl" rotWithShape="0"/>
                </a:effectLst>
                <a:latin typeface="Forte" panose="03060902040502070203" pitchFamily="66" charset="0"/>
              </a:rPr>
              <a:t>Olympe de Gouges</a:t>
            </a:r>
            <a:br>
              <a:rPr lang="it-IT" sz="2100" b="1">
                <a:effectLst>
                  <a:reflection blurRad="6350" stA="55000" endA="300" endPos="45500" dir="5400000" sy="-100000" algn="bl" rotWithShape="0"/>
                </a:effectLst>
                <a:latin typeface="Forte" panose="03060902040502070203" pitchFamily="66" charset="0"/>
              </a:rPr>
            </a:br>
            <a:endParaRPr lang="en-US" sz="2100"/>
          </a:p>
        </p:txBody>
      </p:sp>
      <p:sp>
        <p:nvSpPr>
          <p:cNvPr id="9" name="Freeform: Shape 8">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4DDD7D0A-839A-429E-AAC6-587105F844F2}"/>
              </a:ext>
            </a:extLst>
          </p:cNvPr>
          <p:cNvPicPr>
            <a:picLocks noChangeAspect="1"/>
          </p:cNvPicPr>
          <p:nvPr/>
        </p:nvPicPr>
        <p:blipFill rotWithShape="1">
          <a:blip r:embed="rId2"/>
          <a:srcRect r="-1" b="11128"/>
          <a:stretch/>
        </p:blipFill>
        <p:spPr>
          <a:xfrm>
            <a:off x="2" y="-2"/>
            <a:ext cx="5441859" cy="5654940"/>
          </a:xfrm>
          <a:custGeom>
            <a:avLst/>
            <a:gdLst/>
            <a:ahLst/>
            <a:cxnLst/>
            <a:rect l="l" t="t" r="r" b="b"/>
            <a:pathLst>
              <a:path w="5441859" h="5654940">
                <a:moveTo>
                  <a:pt x="0" y="0"/>
                </a:moveTo>
                <a:lnTo>
                  <a:pt x="4400491" y="0"/>
                </a:lnTo>
                <a:lnTo>
                  <a:pt x="4484766" y="76595"/>
                </a:lnTo>
                <a:cubicBezTo>
                  <a:pt x="5076107"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p:spPr>
      </p:pic>
      <p:sp>
        <p:nvSpPr>
          <p:cNvPr id="3" name="Content Placeholder 2">
            <a:extLst>
              <a:ext uri="{FF2B5EF4-FFF2-40B4-BE49-F238E27FC236}">
                <a16:creationId xmlns:a16="http://schemas.microsoft.com/office/drawing/2014/main" id="{A35481BD-4B86-47B1-94B1-365F7B6D9F6F}"/>
              </a:ext>
            </a:extLst>
          </p:cNvPr>
          <p:cNvSpPr>
            <a:spLocks noGrp="1"/>
          </p:cNvSpPr>
          <p:nvPr>
            <p:ph idx="1"/>
          </p:nvPr>
        </p:nvSpPr>
        <p:spPr>
          <a:xfrm>
            <a:off x="5939653" y="2279018"/>
            <a:ext cx="5609219" cy="3979542"/>
          </a:xfrm>
        </p:spPr>
        <p:txBody>
          <a:bodyPr anchor="t">
            <a:normAutofit lnSpcReduction="10000"/>
          </a:bodyPr>
          <a:lstStyle/>
          <a:p>
            <a:pPr marL="0" marR="0" lvl="0" indent="0" defTabSz="914400" rtl="0" eaLnBrk="1" fontAlgn="auto" latinLnBrk="0" hangingPunct="1">
              <a:spcBef>
                <a:spcPts val="0"/>
              </a:spcBef>
              <a:spcAft>
                <a:spcPts val="0"/>
              </a:spcAft>
              <a:buClrTx/>
              <a:buSzTx/>
              <a:buFontTx/>
              <a:buNone/>
              <a:tabLst/>
              <a:defRPr/>
            </a:pPr>
            <a:r>
              <a:rPr kumimoji="0" lang="it-IT" sz="1800" b="0" i="0" u="none" strike="noStrike" kern="1200" cap="none" spc="0" normalizeH="0" baseline="0" noProof="0" dirty="0">
                <a:ln>
                  <a:noFill/>
                </a:ln>
                <a:effectLst/>
                <a:uLnTx/>
                <a:uFillTx/>
                <a:latin typeface="Calibri" panose="020F0502020204030204" pitchFamily="34" charset="0"/>
                <a:ea typeface="Calibri"/>
                <a:cs typeface="+mn-cs"/>
              </a:rPr>
              <a:t>Olympe de Gouges, pseudonimo di Marie </a:t>
            </a:r>
            <a:r>
              <a:rPr kumimoji="0" lang="it-IT" sz="1800" b="0" i="0" u="none" strike="noStrike" kern="1200" cap="none" spc="0" normalizeH="0" baseline="0" noProof="0" dirty="0" err="1">
                <a:ln>
                  <a:noFill/>
                </a:ln>
                <a:effectLst/>
                <a:uLnTx/>
                <a:uFillTx/>
                <a:latin typeface="Calibri" panose="020F0502020204030204" pitchFamily="34" charset="0"/>
                <a:ea typeface="Calibri"/>
                <a:cs typeface="+mn-cs"/>
              </a:rPr>
              <a:t>Gouze</a:t>
            </a:r>
            <a:r>
              <a:rPr kumimoji="0" lang="it-IT" sz="1800" b="0" i="0" u="none" strike="noStrike" kern="1200" cap="none" spc="0" normalizeH="0" baseline="0" noProof="0" dirty="0">
                <a:ln>
                  <a:noFill/>
                </a:ln>
                <a:effectLst/>
                <a:uLnTx/>
                <a:uFillTx/>
                <a:latin typeface="Calibri" panose="020F0502020204030204" pitchFamily="34" charset="0"/>
                <a:ea typeface="Calibri"/>
                <a:cs typeface="+mn-cs"/>
              </a:rPr>
              <a:t> (</a:t>
            </a:r>
            <a:r>
              <a:rPr kumimoji="0" lang="it-IT" sz="1800" b="0" i="0" u="none" strike="noStrike" kern="1200" cap="none" spc="0" normalizeH="0" baseline="0" noProof="0" dirty="0" err="1">
                <a:ln>
                  <a:noFill/>
                </a:ln>
                <a:effectLst/>
                <a:uLnTx/>
                <a:uFillTx/>
                <a:latin typeface="Calibri" panose="020F0502020204030204" pitchFamily="34" charset="0"/>
                <a:ea typeface="Calibri"/>
                <a:cs typeface="+mn-cs"/>
              </a:rPr>
              <a:t>Montauban</a:t>
            </a:r>
            <a:r>
              <a:rPr kumimoji="0" lang="it-IT" sz="1800" b="0" i="0" u="none" strike="noStrike" kern="1200" cap="none" spc="0" normalizeH="0" baseline="0" noProof="0" dirty="0">
                <a:ln>
                  <a:noFill/>
                </a:ln>
                <a:effectLst/>
                <a:uLnTx/>
                <a:uFillTx/>
                <a:latin typeface="Calibri" panose="020F0502020204030204" pitchFamily="34" charset="0"/>
                <a:ea typeface="Calibri"/>
                <a:cs typeface="+mn-cs"/>
              </a:rPr>
              <a:t>, 7 maggio 1748 – Parigi, 3 novembre 1793), è stata una drammaturga e attivista francese che visse  durante la rivoluzione francese.</a:t>
            </a:r>
          </a:p>
          <a:p>
            <a:pPr marL="0" marR="0" lvl="0" indent="0" defTabSz="914400" rtl="0" eaLnBrk="1" fontAlgn="auto" latinLnBrk="0" hangingPunct="1">
              <a:spcBef>
                <a:spcPts val="0"/>
              </a:spcBef>
              <a:spcAft>
                <a:spcPts val="0"/>
              </a:spcAft>
              <a:buClrTx/>
              <a:buSzTx/>
              <a:buFontTx/>
              <a:buNone/>
              <a:tabLst/>
              <a:defRPr/>
            </a:pPr>
            <a:r>
              <a:rPr kumimoji="0" lang="it-IT" sz="1800" b="0" i="0" u="none" strike="noStrike" kern="1200" cap="none" spc="0" normalizeH="0" baseline="0" noProof="0" dirty="0">
                <a:ln>
                  <a:noFill/>
                </a:ln>
                <a:effectLst/>
                <a:uLnTx/>
                <a:uFillTx/>
                <a:latin typeface="Calibri" panose="020F0502020204030204" pitchFamily="34" charset="0"/>
                <a:ea typeface="Calibri"/>
                <a:cs typeface="+mn-cs"/>
              </a:rPr>
              <a:t> I suoi scritti femministi e abolizionisti ebbero grande  risonanza. </a:t>
            </a:r>
            <a:r>
              <a:rPr kumimoji="0" lang="it-IT" sz="1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Calibri" panose="020F0502020204030204" pitchFamily="34" charset="0"/>
                <a:ea typeface="Microsoft YaHei"/>
                <a:cs typeface="+mn-cs"/>
              </a:rPr>
              <a:t>Olympe de Gouges lottò per la difesa dei diritti delle donne con un compito che assolse con impegno.</a:t>
            </a:r>
          </a:p>
          <a:p>
            <a:pPr marL="0" marR="0" lvl="0" indent="0" defTabSz="914400" rtl="0" eaLnBrk="1" fontAlgn="auto" latinLnBrk="0" hangingPunct="1">
              <a:spcBef>
                <a:spcPts val="0"/>
              </a:spcBef>
              <a:spcAft>
                <a:spcPts val="0"/>
              </a:spcAft>
              <a:buClrTx/>
              <a:buSzTx/>
              <a:buFontTx/>
              <a:buNone/>
              <a:tabLst/>
              <a:defRPr/>
            </a:pPr>
            <a:r>
              <a:rPr kumimoji="0" lang="it-IT" sz="1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Calibri" panose="020F0502020204030204" pitchFamily="34" charset="0"/>
                <a:ea typeface="Microsoft YaHei"/>
                <a:cs typeface="+mn-cs"/>
              </a:rPr>
              <a:t> Scrisse la «Dichiarazione dei diritti della donna e della cittadina», nella quale </a:t>
            </a:r>
          </a:p>
          <a:p>
            <a:pPr marL="0" marR="0" lvl="0" indent="0" defTabSz="914400" rtl="0" eaLnBrk="1" fontAlgn="auto" latinLnBrk="0" hangingPunct="1">
              <a:spcBef>
                <a:spcPts val="0"/>
              </a:spcBef>
              <a:spcAft>
                <a:spcPts val="0"/>
              </a:spcAft>
              <a:buClrTx/>
              <a:buSzTx/>
              <a:buFontTx/>
              <a:buNone/>
              <a:tabLst/>
              <a:defRPr/>
            </a:pPr>
            <a:r>
              <a:rPr kumimoji="0" lang="it-IT" sz="1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Calibri" panose="020F0502020204030204" pitchFamily="34" charset="0"/>
                <a:ea typeface="Microsoft YaHei"/>
                <a:cs typeface="+mn-cs"/>
              </a:rPr>
              <a:t>affermò l’uguaglianza dei diritti civili e politici tra i due sessi,  insistendo per la restituzione dei diritti naturali che erano stati sottratti alle donne.</a:t>
            </a:r>
          </a:p>
          <a:p>
            <a:pPr marL="0" marR="0" lvl="0" indent="0" defTabSz="914400" rtl="0" eaLnBrk="1" fontAlgn="auto" latinLnBrk="0" hangingPunct="1">
              <a:spcBef>
                <a:spcPts val="0"/>
              </a:spcBef>
              <a:spcAft>
                <a:spcPts val="0"/>
              </a:spcAft>
              <a:buClrTx/>
              <a:buSzTx/>
              <a:buFontTx/>
              <a:buNone/>
              <a:tabLst/>
              <a:defRPr/>
            </a:pPr>
            <a:r>
              <a:rPr kumimoji="0" lang="it-IT" sz="1800" b="0" i="0" u="none" strike="noStrike" kern="1200" cap="none" spc="0" normalizeH="0" baseline="0" noProof="0" dirty="0">
                <a:ln>
                  <a:noFill/>
                </a:ln>
                <a:effectLst/>
                <a:uLnTx/>
                <a:uFillTx/>
                <a:latin typeface="Calibri" panose="020F0502020204030204" pitchFamily="34" charset="0"/>
                <a:ea typeface="Microsoft YaHei"/>
                <a:cs typeface="+mn-cs"/>
              </a:rPr>
              <a:t>In quell’epoca il suffragio era basato sulla classe sociale e la maggioranza </a:t>
            </a:r>
            <a:endParaRPr kumimoji="0" lang="it-IT" sz="1800" b="0" i="0" u="none" strike="noStrike" kern="1200" cap="none" spc="0" normalizeH="0" baseline="0" noProof="0" dirty="0">
              <a:ln>
                <a:noFill/>
              </a:ln>
              <a:effectLst/>
              <a:uLnTx/>
              <a:uFillTx/>
              <a:latin typeface="Calibri" panose="020F0502020204030204" pitchFamily="34" charset="0"/>
              <a:ea typeface="+mn-ea"/>
              <a:cs typeface="+mn-cs"/>
            </a:endParaRPr>
          </a:p>
          <a:p>
            <a:pPr marL="0" marR="0" lvl="0" indent="0" defTabSz="914400" rtl="0" eaLnBrk="1" fontAlgn="auto" latinLnBrk="0" hangingPunct="1">
              <a:spcBef>
                <a:spcPts val="0"/>
              </a:spcBef>
              <a:spcAft>
                <a:spcPts val="0"/>
              </a:spcAft>
              <a:buClrTx/>
              <a:buSzTx/>
              <a:buFontTx/>
              <a:buNone/>
              <a:tabLst/>
              <a:defRPr/>
            </a:pPr>
            <a:r>
              <a:rPr kumimoji="0" lang="it-IT" sz="1800" b="0" i="0" u="none" strike="noStrike" kern="1200" cap="none" spc="0" normalizeH="0" baseline="0" noProof="0" dirty="0">
                <a:ln>
                  <a:noFill/>
                </a:ln>
                <a:effectLst/>
                <a:uLnTx/>
                <a:uFillTx/>
                <a:latin typeface="Calibri" panose="020F0502020204030204" pitchFamily="34" charset="0"/>
                <a:ea typeface="Microsoft YaHei"/>
                <a:cs typeface="+mn-cs"/>
              </a:rPr>
              <a:t>del popolo francese non poteva permettersi di andare al voto.</a:t>
            </a:r>
            <a:endParaRPr kumimoji="0" lang="it-IT" sz="1800" b="0" i="0" u="none" strike="noStrike" kern="1200" cap="none" spc="0" normalizeH="0" baseline="0" noProof="0" dirty="0">
              <a:ln>
                <a:noFill/>
              </a:ln>
              <a:effectLst/>
              <a:uLnTx/>
              <a:uFillTx/>
              <a:latin typeface="Calibri" panose="020F0502020204030204" pitchFamily="34" charset="0"/>
              <a:ea typeface="+mn-ea"/>
              <a:cs typeface="+mn-cs"/>
            </a:endParaRPr>
          </a:p>
          <a:p>
            <a:endParaRPr lang="en-US" sz="1400" dirty="0"/>
          </a:p>
        </p:txBody>
      </p:sp>
    </p:spTree>
    <p:extLst>
      <p:ext uri="{BB962C8B-B14F-4D97-AF65-F5344CB8AC3E}">
        <p14:creationId xmlns:p14="http://schemas.microsoft.com/office/powerpoint/2010/main" val="3216106014"/>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332E8-C8C9-405C-9531-554E3A1AACF8}"/>
              </a:ext>
            </a:extLst>
          </p:cNvPr>
          <p:cNvSpPr>
            <a:spLocks noGrp="1"/>
          </p:cNvSpPr>
          <p:nvPr>
            <p:ph type="title"/>
          </p:nvPr>
        </p:nvSpPr>
        <p:spPr>
          <a:xfrm>
            <a:off x="6234330" y="803325"/>
            <a:ext cx="4525110" cy="791795"/>
          </a:xfrm>
        </p:spPr>
        <p:txBody>
          <a:bodyPr>
            <a:normAutofit/>
          </a:bodyPr>
          <a:lstStyle/>
          <a:p>
            <a:r>
              <a:rPr lang="it-IT" b="0" i="0" dirty="0">
                <a:effectLst/>
                <a:latin typeface="Georgia" panose="02040502050405020303" pitchFamily="18" charset="0"/>
              </a:rPr>
              <a:t>Rousseau</a:t>
            </a:r>
            <a:endParaRPr lang="en-US" dirty="0"/>
          </a:p>
        </p:txBody>
      </p:sp>
      <p:sp>
        <p:nvSpPr>
          <p:cNvPr id="9" name="Freeform: Shape 8">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a:extLst>
              <a:ext uri="{FF2B5EF4-FFF2-40B4-BE49-F238E27FC236}">
                <a16:creationId xmlns:a16="http://schemas.microsoft.com/office/drawing/2014/main" id="{1F21FC9C-3E12-4EEF-8692-E4310E79FC2D}"/>
              </a:ext>
            </a:extLst>
          </p:cNvPr>
          <p:cNvPicPr>
            <a:picLocks noGrp="1" noChangeAspect="1"/>
          </p:cNvPicPr>
          <p:nvPr>
            <p:ph idx="1"/>
          </p:nvPr>
        </p:nvPicPr>
        <p:blipFill rotWithShape="1">
          <a:blip r:embed="rId2"/>
          <a:srcRect l="13746" r="3475" b="2"/>
          <a:stretch/>
        </p:blipFill>
        <p:spPr>
          <a:xfrm>
            <a:off x="2" y="-2"/>
            <a:ext cx="5441859" cy="5654940"/>
          </a:xfrm>
          <a:custGeom>
            <a:avLst/>
            <a:gdLst/>
            <a:ahLst/>
            <a:cxnLst/>
            <a:rect l="l" t="t" r="r" b="b"/>
            <a:pathLst>
              <a:path w="5441859" h="5654940">
                <a:moveTo>
                  <a:pt x="0" y="0"/>
                </a:moveTo>
                <a:lnTo>
                  <a:pt x="4400491" y="0"/>
                </a:lnTo>
                <a:lnTo>
                  <a:pt x="4484766" y="76595"/>
                </a:lnTo>
                <a:cubicBezTo>
                  <a:pt x="5076107"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p:spPr>
      </p:pic>
      <p:sp>
        <p:nvSpPr>
          <p:cNvPr id="3" name="Content Placeholder 2">
            <a:extLst>
              <a:ext uri="{FF2B5EF4-FFF2-40B4-BE49-F238E27FC236}">
                <a16:creationId xmlns:a16="http://schemas.microsoft.com/office/drawing/2014/main" id="{1AF75216-C645-4A0F-915E-6F6C1C7EE9F7}"/>
              </a:ext>
            </a:extLst>
          </p:cNvPr>
          <p:cNvSpPr>
            <a:spLocks noGrp="1"/>
          </p:cNvSpPr>
          <p:nvPr>
            <p:ph idx="1"/>
          </p:nvPr>
        </p:nvSpPr>
        <p:spPr>
          <a:xfrm>
            <a:off x="5939653" y="1767839"/>
            <a:ext cx="5693547" cy="4785361"/>
          </a:xfrm>
        </p:spPr>
        <p:txBody>
          <a:bodyPr anchor="t">
            <a:noAutofit/>
          </a:bodyPr>
          <a:lstStyle/>
          <a:p>
            <a:r>
              <a:rPr lang="it-IT" sz="1800" b="0" i="0" dirty="0">
                <a:effectLst/>
                <a:latin typeface="Georgia" panose="02040502050405020303" pitchFamily="18" charset="0"/>
              </a:rPr>
              <a:t>Mentre Rousseau è spesso elogiato per le sue opinioni sull'uguaglianza umana, la realtà è che non credeva che le donne meritassero l'uguaglianza.</a:t>
            </a:r>
          </a:p>
          <a:p>
            <a:r>
              <a:rPr lang="it-IT" sz="1800" b="0" i="0" dirty="0">
                <a:effectLst/>
                <a:latin typeface="Georgia" panose="02040502050405020303" pitchFamily="18" charset="0"/>
              </a:rPr>
              <a:t>Secondo Rousseau, le donne dovevano fare affidamento sugli uomini per il loro benessere perché erano meno razionali degli uomini. </a:t>
            </a:r>
          </a:p>
          <a:p>
            <a:r>
              <a:rPr lang="it-IT" sz="1800" b="0" i="0" dirty="0">
                <a:effectLst/>
                <a:latin typeface="Georgia" panose="02040502050405020303" pitchFamily="18" charset="0"/>
              </a:rPr>
              <a:t>Sosteneva che gli uomini avrebbero potuto desiderare le donne ma non avevano bisogno di loro per sopravvivere, mentre le donne desideravano entrambi gli uomini e ne avevano bisogno. </a:t>
            </a:r>
          </a:p>
          <a:p>
            <a:r>
              <a:rPr lang="it-IT" sz="1800" b="0" i="0" dirty="0">
                <a:effectLst/>
                <a:latin typeface="Georgia" panose="02040502050405020303" pitchFamily="18" charset="0"/>
              </a:rPr>
              <a:t>In "Emile", scrive della differenza tra ciò di cui crede che le donne e gli uomini abbiano bisogno nell'istruzione. Poiché lo scopo principale della vita, per Rousseau, è che una donna sia moglie e madre, non ha bisogno di essere istruita nella misura in cui hanno tradizionalmente gli uomini. </a:t>
            </a:r>
            <a:endParaRPr lang="en-US" sz="1800" dirty="0"/>
          </a:p>
        </p:txBody>
      </p:sp>
    </p:spTree>
    <p:extLst>
      <p:ext uri="{BB962C8B-B14F-4D97-AF65-F5344CB8AC3E}">
        <p14:creationId xmlns:p14="http://schemas.microsoft.com/office/powerpoint/2010/main" val="1337557640"/>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D7D2-1DD2-4701-9C23-5F6AE65F0753}"/>
              </a:ext>
            </a:extLst>
          </p:cNvPr>
          <p:cNvSpPr>
            <a:spLocks noGrp="1"/>
          </p:cNvSpPr>
          <p:nvPr>
            <p:ph type="title"/>
          </p:nvPr>
        </p:nvSpPr>
        <p:spPr>
          <a:xfrm>
            <a:off x="5069940" y="365124"/>
            <a:ext cx="6172200" cy="1828800"/>
          </a:xfrm>
        </p:spPr>
        <p:txBody>
          <a:bodyPr>
            <a:normAutofit/>
          </a:bodyPr>
          <a:lstStyle/>
          <a:p>
            <a:r>
              <a:rPr lang="it-IT" dirty="0">
                <a:latin typeface="+mn-lt"/>
                <a:ea typeface="+mn-ea"/>
                <a:cs typeface="+mn-cs"/>
              </a:rPr>
              <a:t>Mary </a:t>
            </a:r>
            <a:r>
              <a:rPr lang="it-IT" dirty="0" err="1">
                <a:latin typeface="+mn-lt"/>
                <a:ea typeface="+mn-ea"/>
                <a:cs typeface="+mn-cs"/>
              </a:rPr>
              <a:t>Wollstonecraft</a:t>
            </a:r>
            <a:r>
              <a:rPr lang="it-IT" dirty="0">
                <a:latin typeface="+mn-lt"/>
                <a:ea typeface="+mn-ea"/>
                <a:cs typeface="+mn-cs"/>
              </a:rPr>
              <a:t> ed il femminismo liberale</a:t>
            </a:r>
            <a:endParaRPr lang="en-US" dirty="0"/>
          </a:p>
        </p:txBody>
      </p:sp>
      <p:pic>
        <p:nvPicPr>
          <p:cNvPr id="4" name="Picture 3">
            <a:extLst>
              <a:ext uri="{FF2B5EF4-FFF2-40B4-BE49-F238E27FC236}">
                <a16:creationId xmlns:a16="http://schemas.microsoft.com/office/drawing/2014/main" id="{4EBF5B15-7777-41C7-80DF-FF3C2917AA83}"/>
              </a:ext>
            </a:extLst>
          </p:cNvPr>
          <p:cNvPicPr>
            <a:picLocks noChangeAspect="1"/>
          </p:cNvPicPr>
          <p:nvPr/>
        </p:nvPicPr>
        <p:blipFill rotWithShape="1">
          <a:blip r:embed="rId2"/>
          <a:srcRect l="11230" r="11748"/>
          <a:stretch/>
        </p:blipFill>
        <p:spPr>
          <a:xfrm>
            <a:off x="20" y="10"/>
            <a:ext cx="4639713" cy="6857990"/>
          </a:xfrm>
          <a:prstGeom prst="rect">
            <a:avLst/>
          </a:prstGeom>
        </p:spPr>
      </p:pic>
      <p:sp>
        <p:nvSpPr>
          <p:cNvPr id="3" name="Content Placeholder 2">
            <a:extLst>
              <a:ext uri="{FF2B5EF4-FFF2-40B4-BE49-F238E27FC236}">
                <a16:creationId xmlns:a16="http://schemas.microsoft.com/office/drawing/2014/main" id="{AC068F97-A435-41B6-BDDC-A73191FF870F}"/>
              </a:ext>
            </a:extLst>
          </p:cNvPr>
          <p:cNvSpPr>
            <a:spLocks noGrp="1"/>
          </p:cNvSpPr>
          <p:nvPr>
            <p:ph idx="1"/>
          </p:nvPr>
        </p:nvSpPr>
        <p:spPr>
          <a:xfrm>
            <a:off x="5069940" y="2322576"/>
            <a:ext cx="6172200" cy="3858768"/>
          </a:xfrm>
        </p:spPr>
        <p:txBody>
          <a:bodyPr>
            <a:normAutofit/>
          </a:bodyPr>
          <a:lstStyle/>
          <a:p>
            <a:pPr marL="45720" indent="0">
              <a:spcAft>
                <a:spcPts val="0"/>
              </a:spcAft>
              <a:buNone/>
            </a:pPr>
            <a:r>
              <a:rPr lang="it-IT" sz="2400" i="1" dirty="0">
                <a:latin typeface="Calibri" panose="020F0502020204030204" pitchFamily="34" charset="0"/>
              </a:rPr>
              <a:t>A </a:t>
            </a:r>
            <a:r>
              <a:rPr lang="it-IT" sz="2400" i="1" dirty="0" err="1">
                <a:latin typeface="Calibri" panose="020F0502020204030204" pitchFamily="34" charset="0"/>
              </a:rPr>
              <a:t>Vindication</a:t>
            </a:r>
            <a:r>
              <a:rPr lang="it-IT" sz="2400" i="1" dirty="0">
                <a:latin typeface="Calibri" panose="020F0502020204030204" pitchFamily="34" charset="0"/>
              </a:rPr>
              <a:t> of the  </a:t>
            </a:r>
            <a:r>
              <a:rPr lang="it-IT" sz="2400" i="1" dirty="0" err="1">
                <a:latin typeface="Calibri" panose="020F0502020204030204" pitchFamily="34" charset="0"/>
              </a:rPr>
              <a:t>Rights</a:t>
            </a:r>
            <a:r>
              <a:rPr lang="it-IT" sz="2400" i="1" dirty="0">
                <a:latin typeface="Calibri" panose="020F0502020204030204" pitchFamily="34" charset="0"/>
              </a:rPr>
              <a:t> of Men </a:t>
            </a:r>
            <a:r>
              <a:rPr lang="it-IT" sz="2400" i="0" dirty="0">
                <a:latin typeface="Calibri" panose="020F0502020204030204" pitchFamily="34" charset="0"/>
              </a:rPr>
              <a:t>(</a:t>
            </a:r>
            <a:r>
              <a:rPr lang="it-IT" sz="2400" i="1" dirty="0" err="1">
                <a:latin typeface="Calibri" panose="020F0502020204030204" pitchFamily="34" charset="0"/>
              </a:rPr>
              <a:t>Rivendiazione</a:t>
            </a:r>
            <a:r>
              <a:rPr lang="it-IT" sz="2400" i="1" dirty="0">
                <a:latin typeface="Calibri" panose="020F0502020204030204" pitchFamily="34" charset="0"/>
              </a:rPr>
              <a:t> dei diritti degli uomini</a:t>
            </a:r>
            <a:r>
              <a:rPr lang="it-IT" sz="2400" i="0" dirty="0">
                <a:latin typeface="Calibri" panose="020F0502020204030204" pitchFamily="34" charset="0"/>
              </a:rPr>
              <a:t>) 1792 </a:t>
            </a:r>
            <a:r>
              <a:rPr lang="it-IT" sz="2400" i="1" dirty="0">
                <a:latin typeface="Calibri" panose="020F0502020204030204" pitchFamily="34" charset="0"/>
              </a:rPr>
              <a:t> </a:t>
            </a:r>
            <a:r>
              <a:rPr lang="it-IT" sz="2400" i="0" dirty="0">
                <a:latin typeface="Calibri" panose="020F0502020204030204" pitchFamily="34" charset="0"/>
              </a:rPr>
              <a:t>cominciò a difendere  l’idea di egualità dei diritti civili per tutti, donne comprese.</a:t>
            </a:r>
          </a:p>
          <a:p>
            <a:endParaRPr lang="en-US" sz="2400" dirty="0"/>
          </a:p>
        </p:txBody>
      </p:sp>
    </p:spTree>
    <p:extLst>
      <p:ext uri="{BB962C8B-B14F-4D97-AF65-F5344CB8AC3E}">
        <p14:creationId xmlns:p14="http://schemas.microsoft.com/office/powerpoint/2010/main" val="622047753"/>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8673EE-D799-49F3-9F24-25F843472EB1}"/>
              </a:ext>
            </a:extLst>
          </p:cNvPr>
          <p:cNvSpPr>
            <a:spLocks noGrp="1"/>
          </p:cNvSpPr>
          <p:nvPr>
            <p:ph type="title"/>
          </p:nvPr>
        </p:nvSpPr>
        <p:spPr>
          <a:xfrm>
            <a:off x="2311147" y="365760"/>
            <a:ext cx="7569706" cy="1288238"/>
          </a:xfrm>
        </p:spPr>
        <p:txBody>
          <a:bodyPr anchor="ctr">
            <a:normAutofit/>
          </a:bodyPr>
          <a:lstStyle/>
          <a:p>
            <a:pPr algn="ctr"/>
            <a:r>
              <a:rPr lang="it-IT" b="0" i="0" dirty="0"/>
              <a:t>FEMMINISMO LIBERALE</a:t>
            </a:r>
            <a:endParaRPr lang="en-US" dirty="0"/>
          </a:p>
        </p:txBody>
      </p:sp>
      <p:sp>
        <p:nvSpPr>
          <p:cNvPr id="3" name="Content Placeholder 2">
            <a:extLst>
              <a:ext uri="{FF2B5EF4-FFF2-40B4-BE49-F238E27FC236}">
                <a16:creationId xmlns:a16="http://schemas.microsoft.com/office/drawing/2014/main" id="{DF4A4009-E298-475C-B48B-D80D7A32226C}"/>
              </a:ext>
            </a:extLst>
          </p:cNvPr>
          <p:cNvSpPr>
            <a:spLocks noGrp="1"/>
          </p:cNvSpPr>
          <p:nvPr>
            <p:ph idx="1"/>
          </p:nvPr>
        </p:nvSpPr>
        <p:spPr>
          <a:xfrm>
            <a:off x="2165569" y="1956816"/>
            <a:ext cx="7860863" cy="4024884"/>
          </a:xfrm>
        </p:spPr>
        <p:txBody>
          <a:bodyPr anchor="t">
            <a:normAutofit/>
          </a:bodyPr>
          <a:lstStyle/>
          <a:p>
            <a:pPr marL="0" indent="0">
              <a:buNone/>
            </a:pPr>
            <a:r>
              <a:rPr lang="it-IT" sz="3600" b="0" i="0" dirty="0"/>
              <a:t>crede nelle "riforme pragmatiche contro discriminazione di genere attraverso la promozione della parità di diritti attraverso l'adozione e la formulazione di leggi e politiche che garantiscano l'uguaglianza</a:t>
            </a:r>
            <a:endParaRPr lang="en-US" sz="3600" dirty="0"/>
          </a:p>
          <a:p>
            <a:endParaRPr lang="en-US" sz="2400" dirty="0"/>
          </a:p>
        </p:txBody>
      </p:sp>
    </p:spTree>
    <p:extLst>
      <p:ext uri="{BB962C8B-B14F-4D97-AF65-F5344CB8AC3E}">
        <p14:creationId xmlns:p14="http://schemas.microsoft.com/office/powerpoint/2010/main" val="3849063496"/>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D23DD8-71CC-4948-B810-3A786AB1DC00}"/>
              </a:ext>
            </a:extLst>
          </p:cNvPr>
          <p:cNvSpPr>
            <a:spLocks noGrp="1"/>
          </p:cNvSpPr>
          <p:nvPr>
            <p:ph type="title"/>
          </p:nvPr>
        </p:nvSpPr>
        <p:spPr>
          <a:xfrm>
            <a:off x="2311147" y="365760"/>
            <a:ext cx="7569706" cy="1288238"/>
          </a:xfrm>
        </p:spPr>
        <p:txBody>
          <a:bodyPr anchor="ctr">
            <a:normAutofit/>
          </a:bodyPr>
          <a:lstStyle/>
          <a:p>
            <a:pPr algn="ctr"/>
            <a:r>
              <a:rPr lang="it-IT" b="0" i="0" dirty="0"/>
              <a:t>FEMMINISMO LIBERALE</a:t>
            </a:r>
            <a:endParaRPr lang="en-US"/>
          </a:p>
        </p:txBody>
      </p:sp>
      <p:sp>
        <p:nvSpPr>
          <p:cNvPr id="3" name="Content Placeholder 2">
            <a:extLst>
              <a:ext uri="{FF2B5EF4-FFF2-40B4-BE49-F238E27FC236}">
                <a16:creationId xmlns:a16="http://schemas.microsoft.com/office/drawing/2014/main" id="{E9208B32-F29D-4168-BAD7-E3708FD6753A}"/>
              </a:ext>
            </a:extLst>
          </p:cNvPr>
          <p:cNvSpPr>
            <a:spLocks noGrp="1"/>
          </p:cNvSpPr>
          <p:nvPr>
            <p:ph idx="1"/>
          </p:nvPr>
        </p:nvSpPr>
        <p:spPr>
          <a:xfrm>
            <a:off x="2165569" y="1956816"/>
            <a:ext cx="7860863" cy="4024884"/>
          </a:xfrm>
        </p:spPr>
        <p:txBody>
          <a:bodyPr anchor="t">
            <a:normAutofit/>
          </a:bodyPr>
          <a:lstStyle/>
          <a:p>
            <a:r>
              <a:rPr lang="it-IT" sz="2400" b="0" i="0" dirty="0">
                <a:effectLst/>
                <a:latin typeface="Arial" panose="020B0604020202020204" pitchFamily="34" charset="0"/>
              </a:rPr>
              <a:t>Le femministe liberali sostengono che la società ha la falsa convinzione che le donne siano, per natura, meno capaci intellettualmente e fisicamente degli uomini; quindi tende a discriminare le donne nell'accademia, nel forum e nel mercato. Le femministe liberali credono che "la subordinazione femminile sia radicata in una serie di vincoli legali e consuetudinari che bloccano l'ingresso e il successo delle donne nel cosiddetto mondo pubblico", e lottano per l'uguaglianza di genere attraverso la riforma politica e legale</a:t>
            </a:r>
            <a:endParaRPr lang="en-US" sz="2400" dirty="0"/>
          </a:p>
        </p:txBody>
      </p:sp>
    </p:spTree>
    <p:extLst>
      <p:ext uri="{BB962C8B-B14F-4D97-AF65-F5344CB8AC3E}">
        <p14:creationId xmlns:p14="http://schemas.microsoft.com/office/powerpoint/2010/main" val="1901139219"/>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BCAB8-58AE-480D-9C6C-82ECE4284D31}"/>
              </a:ext>
            </a:extLst>
          </p:cNvPr>
          <p:cNvSpPr>
            <a:spLocks noGrp="1"/>
          </p:cNvSpPr>
          <p:nvPr>
            <p:ph type="title"/>
          </p:nvPr>
        </p:nvSpPr>
        <p:spPr>
          <a:xfrm>
            <a:off x="5069940" y="365124"/>
            <a:ext cx="6172200" cy="1828800"/>
          </a:xfrm>
        </p:spPr>
        <p:txBody>
          <a:bodyPr>
            <a:normAutofit/>
          </a:bodyPr>
          <a:lstStyle/>
          <a:p>
            <a:r>
              <a:rPr lang="it-IT" sz="4100"/>
              <a:t>Il pensiero democratico non si occupava delle donne</a:t>
            </a:r>
            <a:endParaRPr lang="en-US" sz="4100"/>
          </a:p>
        </p:txBody>
      </p:sp>
      <p:pic>
        <p:nvPicPr>
          <p:cNvPr id="4" name="Picture 3" descr="Text&#10;&#10;Description automatically generated with medium confidence">
            <a:extLst>
              <a:ext uri="{FF2B5EF4-FFF2-40B4-BE49-F238E27FC236}">
                <a16:creationId xmlns:a16="http://schemas.microsoft.com/office/drawing/2014/main" id="{54DC2405-BB3C-4483-8134-BB0EDCA6E5BA}"/>
              </a:ext>
            </a:extLst>
          </p:cNvPr>
          <p:cNvPicPr>
            <a:picLocks noChangeAspect="1"/>
          </p:cNvPicPr>
          <p:nvPr/>
        </p:nvPicPr>
        <p:blipFill rotWithShape="1">
          <a:blip r:embed="rId2"/>
          <a:srcRect r="-1" b="6096"/>
          <a:stretch/>
        </p:blipFill>
        <p:spPr>
          <a:xfrm>
            <a:off x="20" y="10"/>
            <a:ext cx="4639713" cy="6857990"/>
          </a:xfrm>
          <a:prstGeom prst="rect">
            <a:avLst/>
          </a:prstGeom>
        </p:spPr>
      </p:pic>
      <p:sp>
        <p:nvSpPr>
          <p:cNvPr id="3" name="Content Placeholder 2">
            <a:extLst>
              <a:ext uri="{FF2B5EF4-FFF2-40B4-BE49-F238E27FC236}">
                <a16:creationId xmlns:a16="http://schemas.microsoft.com/office/drawing/2014/main" id="{CB72BE84-52EA-47C1-B017-C5B453533226}"/>
              </a:ext>
            </a:extLst>
          </p:cNvPr>
          <p:cNvSpPr>
            <a:spLocks noGrp="1"/>
          </p:cNvSpPr>
          <p:nvPr>
            <p:ph idx="1"/>
          </p:nvPr>
        </p:nvSpPr>
        <p:spPr>
          <a:xfrm>
            <a:off x="5069940" y="2322576"/>
            <a:ext cx="6172200" cy="3858768"/>
          </a:xfrm>
        </p:spPr>
        <p:txBody>
          <a:bodyPr>
            <a:normAutofit/>
          </a:bodyPr>
          <a:lstStyle/>
          <a:p>
            <a:pPr marL="0" indent="0">
              <a:buNone/>
            </a:pPr>
            <a:r>
              <a:rPr lang="it-IT" sz="2200" b="0" i="0">
                <a:effectLst/>
                <a:latin typeface="Georgia" panose="02040502050405020303" pitchFamily="18" charset="0"/>
              </a:rPr>
              <a:t>il ruolo di</a:t>
            </a:r>
            <a:r>
              <a:rPr lang="it-IT" sz="2200" b="1" i="0">
                <a:effectLst/>
                <a:latin typeface="Georgia" panose="02040502050405020303" pitchFamily="18" charset="0"/>
              </a:rPr>
              <a:t> subalternità delle donne contrastava</a:t>
            </a:r>
            <a:r>
              <a:rPr lang="it-IT" sz="2200" b="0" i="0">
                <a:effectLst/>
                <a:latin typeface="Georgia" panose="02040502050405020303" pitchFamily="18" charset="0"/>
              </a:rPr>
              <a:t> con i principi di una </a:t>
            </a:r>
            <a:r>
              <a:rPr lang="it-IT" sz="2200" b="1" i="0">
                <a:effectLst/>
                <a:latin typeface="Georgia" panose="02040502050405020303" pitchFamily="18" charset="0"/>
              </a:rPr>
              <a:t>società più libera e moderna</a:t>
            </a:r>
            <a:r>
              <a:rPr lang="it-IT" sz="2200" b="0" i="0">
                <a:effectLst/>
                <a:latin typeface="Georgia" panose="02040502050405020303" pitchFamily="18" charset="0"/>
              </a:rPr>
              <a:t> rispetto al passato: era questa </a:t>
            </a:r>
            <a:r>
              <a:rPr lang="it-IT" sz="2200" b="1" i="0">
                <a:effectLst/>
                <a:latin typeface="Georgia" panose="02040502050405020303" pitchFamily="18" charset="0"/>
              </a:rPr>
              <a:t>la tesi </a:t>
            </a:r>
            <a:r>
              <a:rPr lang="it-IT" sz="2200" b="0" i="0">
                <a:effectLst/>
                <a:latin typeface="Georgia" panose="02040502050405020303" pitchFamily="18" charset="0"/>
              </a:rPr>
              <a:t>espressa dal filosofo inglese </a:t>
            </a:r>
            <a:r>
              <a:rPr lang="it-IT" sz="2200" b="1" i="0">
                <a:effectLst/>
                <a:latin typeface="Georgia" panose="02040502050405020303" pitchFamily="18" charset="0"/>
              </a:rPr>
              <a:t>John Stuart Mill</a:t>
            </a:r>
            <a:r>
              <a:rPr lang="it-IT" sz="2200" b="0" i="0">
                <a:effectLst/>
                <a:latin typeface="Georgia" panose="02040502050405020303" pitchFamily="18" charset="0"/>
              </a:rPr>
              <a:t> nel libro </a:t>
            </a:r>
            <a:r>
              <a:rPr lang="it-IT" sz="2200" b="0" i="1">
                <a:effectLst/>
                <a:latin typeface="Georgia" panose="02040502050405020303" pitchFamily="18" charset="0"/>
              </a:rPr>
              <a:t>“La servitù delle donne” </a:t>
            </a:r>
            <a:r>
              <a:rPr lang="it-IT" sz="2200" b="0" i="0">
                <a:effectLst/>
                <a:latin typeface="Georgia" panose="02040502050405020303" pitchFamily="18" charset="0"/>
              </a:rPr>
              <a:t>- pubblicato nel 1869 - che per primo tra i liberali postulava che il grado di </a:t>
            </a:r>
            <a:r>
              <a:rPr lang="it-IT" sz="2200" b="1" i="0">
                <a:effectLst/>
                <a:latin typeface="Georgia" panose="02040502050405020303" pitchFamily="18" charset="0"/>
              </a:rPr>
              <a:t>emancipazione femminile</a:t>
            </a:r>
            <a:r>
              <a:rPr lang="it-IT" sz="2200" b="0" i="0">
                <a:effectLst/>
                <a:latin typeface="Georgia" panose="02040502050405020303" pitchFamily="18" charset="0"/>
              </a:rPr>
              <a:t> fosse</a:t>
            </a:r>
            <a:r>
              <a:rPr lang="it-IT" sz="2200" b="1" i="0">
                <a:effectLst/>
                <a:latin typeface="Georgia" panose="02040502050405020303" pitchFamily="18" charset="0"/>
              </a:rPr>
              <a:t> sinonimo di civiltà e progresso</a:t>
            </a:r>
            <a:r>
              <a:rPr lang="it-IT" sz="2200" b="0" i="0">
                <a:effectLst/>
                <a:latin typeface="Georgia" panose="02040502050405020303" pitchFamily="18" charset="0"/>
              </a:rPr>
              <a:t> per una nazione, schierandosi per la piena parità con la componente maschile.</a:t>
            </a:r>
            <a:endParaRPr lang="en-US" sz="2200"/>
          </a:p>
        </p:txBody>
      </p:sp>
    </p:spTree>
    <p:extLst>
      <p:ext uri="{BB962C8B-B14F-4D97-AF65-F5344CB8AC3E}">
        <p14:creationId xmlns:p14="http://schemas.microsoft.com/office/powerpoint/2010/main" val="1217093461"/>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E9823-1EF9-4EFB-9F36-63E22C0623C0}"/>
              </a:ext>
            </a:extLst>
          </p:cNvPr>
          <p:cNvSpPr>
            <a:spLocks noGrp="1"/>
          </p:cNvSpPr>
          <p:nvPr>
            <p:ph type="title"/>
          </p:nvPr>
        </p:nvSpPr>
        <p:spPr/>
        <p:txBody>
          <a:bodyPr/>
          <a:lstStyle/>
          <a:p>
            <a:r>
              <a:rPr lang="it-IT" b="1" i="0" u="none" strike="noStrike" dirty="0">
                <a:solidFill>
                  <a:srgbClr val="222222"/>
                </a:solidFill>
                <a:effectLst/>
                <a:latin typeface="Source Sans Pro" panose="020B0503030403020204" pitchFamily="34" charset="0"/>
              </a:rPr>
              <a:t>L'industrializzazione e il lavoro femminile</a:t>
            </a:r>
            <a:br>
              <a:rPr lang="it-IT" b="1" i="0" dirty="0">
                <a:solidFill>
                  <a:srgbClr val="000000"/>
                </a:solidFill>
                <a:effectLst/>
                <a:latin typeface="Source Sans Pro" panose="020B0503030403020204" pitchFamily="34" charset="0"/>
              </a:rPr>
            </a:br>
            <a:endParaRPr lang="en-US" dirty="0"/>
          </a:p>
        </p:txBody>
      </p:sp>
      <p:sp>
        <p:nvSpPr>
          <p:cNvPr id="3" name="Content Placeholder 2">
            <a:extLst>
              <a:ext uri="{FF2B5EF4-FFF2-40B4-BE49-F238E27FC236}">
                <a16:creationId xmlns:a16="http://schemas.microsoft.com/office/drawing/2014/main" id="{878E7765-6EDE-4C27-9528-EB78F4D9E64E}"/>
              </a:ext>
            </a:extLst>
          </p:cNvPr>
          <p:cNvSpPr>
            <a:spLocks noGrp="1"/>
          </p:cNvSpPr>
          <p:nvPr>
            <p:ph idx="1"/>
          </p:nvPr>
        </p:nvSpPr>
        <p:spPr/>
        <p:txBody>
          <a:bodyPr/>
          <a:lstStyle/>
          <a:p>
            <a:r>
              <a:rPr lang="it-IT" dirty="0"/>
              <a:t>La rivoluzione industriale rappresenta un punto di svolta per le donne.</a:t>
            </a:r>
          </a:p>
          <a:p>
            <a:r>
              <a:rPr lang="it-IT" b="0" i="0" dirty="0">
                <a:solidFill>
                  <a:srgbClr val="000000"/>
                </a:solidFill>
                <a:effectLst/>
                <a:latin typeface="Georgia" panose="02040502050405020303" pitchFamily="18" charset="0"/>
              </a:rPr>
              <a:t>l </a:t>
            </a:r>
            <a:r>
              <a:rPr lang="it-IT" b="1" i="0" dirty="0">
                <a:solidFill>
                  <a:srgbClr val="000000"/>
                </a:solidFill>
                <a:effectLst/>
                <a:latin typeface="Georgia" panose="02040502050405020303" pitchFamily="18" charset="0"/>
              </a:rPr>
              <a:t>lavoro femminile</a:t>
            </a:r>
            <a:r>
              <a:rPr lang="it-IT" b="0" i="0" dirty="0">
                <a:solidFill>
                  <a:srgbClr val="000000"/>
                </a:solidFill>
                <a:effectLst/>
                <a:latin typeface="Georgia" panose="02040502050405020303" pitchFamily="18" charset="0"/>
              </a:rPr>
              <a:t> era motivato dalla dura necessità della sopravvivenza, mal pagato rispetto a quello maschile e con meno diritti, e non significava affatto la liberazione dagli obblighi familiari: tuttavia i </a:t>
            </a:r>
            <a:r>
              <a:rPr lang="it-IT" b="1" i="0" dirty="0">
                <a:solidFill>
                  <a:srgbClr val="000000"/>
                </a:solidFill>
                <a:effectLst/>
                <a:latin typeface="Georgia" panose="02040502050405020303" pitchFamily="18" charset="0"/>
              </a:rPr>
              <a:t>maggiori contatti </a:t>
            </a:r>
            <a:r>
              <a:rPr lang="it-IT" b="0" i="0" dirty="0">
                <a:solidFill>
                  <a:srgbClr val="000000"/>
                </a:solidFill>
                <a:effectLst/>
                <a:latin typeface="Georgia" panose="02040502050405020303" pitchFamily="18" charset="0"/>
              </a:rPr>
              <a:t>con il </a:t>
            </a:r>
            <a:r>
              <a:rPr lang="it-IT" b="1" i="0" dirty="0">
                <a:solidFill>
                  <a:srgbClr val="000000"/>
                </a:solidFill>
                <a:effectLst/>
                <a:latin typeface="Georgia" panose="02040502050405020303" pitchFamily="18" charset="0"/>
              </a:rPr>
              <a:t>mondo esterno</a:t>
            </a:r>
            <a:r>
              <a:rPr lang="it-IT" b="0" i="0" dirty="0">
                <a:solidFill>
                  <a:srgbClr val="000000"/>
                </a:solidFill>
                <a:effectLst/>
                <a:latin typeface="Georgia" panose="02040502050405020303" pitchFamily="18" charset="0"/>
              </a:rPr>
              <a:t> e l’esperienza nelle lotte sociali del tempo rendeva</a:t>
            </a:r>
            <a:r>
              <a:rPr lang="it-IT" b="1" i="0" dirty="0">
                <a:solidFill>
                  <a:srgbClr val="000000"/>
                </a:solidFill>
                <a:effectLst/>
                <a:latin typeface="Georgia" panose="02040502050405020303" pitchFamily="18" charset="0"/>
              </a:rPr>
              <a:t> maggiormente coscienti le donne della propria condizione</a:t>
            </a:r>
            <a:r>
              <a:rPr lang="it-IT" b="0" i="0" dirty="0">
                <a:solidFill>
                  <a:srgbClr val="000000"/>
                </a:solidFill>
                <a:effectLst/>
                <a:latin typeface="Georgia" panose="02040502050405020303" pitchFamily="18" charset="0"/>
              </a:rPr>
              <a:t> comune e del problema delle rivendicazioni femminili.</a:t>
            </a:r>
            <a:endParaRPr lang="en-US" dirty="0"/>
          </a:p>
        </p:txBody>
      </p:sp>
    </p:spTree>
    <p:extLst>
      <p:ext uri="{BB962C8B-B14F-4D97-AF65-F5344CB8AC3E}">
        <p14:creationId xmlns:p14="http://schemas.microsoft.com/office/powerpoint/2010/main" val="35797390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16499E-D81A-4D6C-9D05-6E8B19E5B4CC}"/>
              </a:ext>
            </a:extLst>
          </p:cNvPr>
          <p:cNvSpPr>
            <a:spLocks noGrp="1"/>
          </p:cNvSpPr>
          <p:nvPr>
            <p:ph type="title"/>
          </p:nvPr>
        </p:nvSpPr>
        <p:spPr>
          <a:xfrm>
            <a:off x="5232400" y="1641752"/>
            <a:ext cx="6140449" cy="1323439"/>
          </a:xfrm>
        </p:spPr>
        <p:txBody>
          <a:bodyPr anchor="t">
            <a:normAutofit/>
          </a:bodyPr>
          <a:lstStyle/>
          <a:p>
            <a:r>
              <a:rPr lang="it-IT" sz="4000" b="0" i="1">
                <a:solidFill>
                  <a:schemeClr val="bg1"/>
                </a:solidFill>
                <a:effectLst/>
                <a:latin typeface="Source Sans Pro" panose="020B0503030403020204" pitchFamily="34" charset="0"/>
              </a:rPr>
              <a:t>1878: primo congresso per i diritti delle donne a Parigi</a:t>
            </a:r>
            <a:endParaRPr lang="en-US" sz="4000">
              <a:solidFill>
                <a:schemeClr val="bg1"/>
              </a:solidFill>
            </a:endParaRPr>
          </a:p>
        </p:txBody>
      </p:sp>
      <p:grpSp>
        <p:nvGrpSpPr>
          <p:cNvPr id="24" name="Group 11">
            <a:extLst>
              <a:ext uri="{FF2B5EF4-FFF2-40B4-BE49-F238E27FC236}">
                <a16:creationId xmlns:a16="http://schemas.microsoft.com/office/drawing/2014/main" id="{36AB285A-81F9-42F0-A9FD-0058EB46EF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13" name="Group 12">
              <a:extLst>
                <a:ext uri="{FF2B5EF4-FFF2-40B4-BE49-F238E27FC236}">
                  <a16:creationId xmlns:a16="http://schemas.microsoft.com/office/drawing/2014/main" id="{A08FF3E0-ABFD-4639-B6D5-59DC3C50432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21" name="Freeform: Shape 20">
                <a:extLst>
                  <a:ext uri="{FF2B5EF4-FFF2-40B4-BE49-F238E27FC236}">
                    <a16:creationId xmlns:a16="http://schemas.microsoft.com/office/drawing/2014/main" id="{05F28668-2B20-456B-B40F-9496D0A01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345261A6-F525-4DE2-99D5-BD04602D3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25" name="Group 13">
              <a:extLst>
                <a:ext uri="{FF2B5EF4-FFF2-40B4-BE49-F238E27FC236}">
                  <a16:creationId xmlns:a16="http://schemas.microsoft.com/office/drawing/2014/main" id="{5726B9BC-5A36-4E2B-ACA8-E750DAF63CB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15" name="Group 14">
                <a:extLst>
                  <a:ext uri="{FF2B5EF4-FFF2-40B4-BE49-F238E27FC236}">
                    <a16:creationId xmlns:a16="http://schemas.microsoft.com/office/drawing/2014/main" id="{D3D8668E-61B9-48EF-9EBA-555647BA6D4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19" name="Freeform: Shape 18">
                  <a:extLst>
                    <a:ext uri="{FF2B5EF4-FFF2-40B4-BE49-F238E27FC236}">
                      <a16:creationId xmlns:a16="http://schemas.microsoft.com/office/drawing/2014/main" id="{3B5CB98A-8493-4791-B351-0BC590BB9A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4CA2FB47-60A5-434E-9BA4-1FF65518A1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6" name="Group 15">
                <a:extLst>
                  <a:ext uri="{FF2B5EF4-FFF2-40B4-BE49-F238E27FC236}">
                    <a16:creationId xmlns:a16="http://schemas.microsoft.com/office/drawing/2014/main" id="{406D9D90-1212-40FF-BAB0-8A661FC855E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17" name="Freeform: Shape 16">
                  <a:extLst>
                    <a:ext uri="{FF2B5EF4-FFF2-40B4-BE49-F238E27FC236}">
                      <a16:creationId xmlns:a16="http://schemas.microsoft.com/office/drawing/2014/main" id="{903898C6-CE98-4636-8CE5-5172BD2B9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5326F39-37DB-4935-9AD9-746655D5D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pic>
        <p:nvPicPr>
          <p:cNvPr id="5" name="Picture 4" descr="A person with the hand on the face&#10;&#10;Description automatically generated with low confidence">
            <a:extLst>
              <a:ext uri="{FF2B5EF4-FFF2-40B4-BE49-F238E27FC236}">
                <a16:creationId xmlns:a16="http://schemas.microsoft.com/office/drawing/2014/main" id="{2941C75A-679D-473A-89B4-64CD2878C5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024" y="1816356"/>
            <a:ext cx="2663825" cy="3805464"/>
          </a:xfrm>
          <a:prstGeom prst="rect">
            <a:avLst/>
          </a:prstGeom>
        </p:spPr>
      </p:pic>
      <p:sp>
        <p:nvSpPr>
          <p:cNvPr id="3" name="Content Placeholder 2">
            <a:extLst>
              <a:ext uri="{FF2B5EF4-FFF2-40B4-BE49-F238E27FC236}">
                <a16:creationId xmlns:a16="http://schemas.microsoft.com/office/drawing/2014/main" id="{1F256650-1177-4ED0-B55C-8A952A014302}"/>
              </a:ext>
            </a:extLst>
          </p:cNvPr>
          <p:cNvSpPr>
            <a:spLocks noGrp="1"/>
          </p:cNvSpPr>
          <p:nvPr>
            <p:ph idx="1"/>
          </p:nvPr>
        </p:nvSpPr>
        <p:spPr>
          <a:xfrm>
            <a:off x="5232401" y="3146400"/>
            <a:ext cx="6140449" cy="2454300"/>
          </a:xfrm>
        </p:spPr>
        <p:txBody>
          <a:bodyPr>
            <a:normAutofit/>
          </a:bodyPr>
          <a:lstStyle/>
          <a:p>
            <a:r>
              <a:rPr lang="en-US" sz="2400" b="1" i="0">
                <a:solidFill>
                  <a:schemeClr val="bg1">
                    <a:alpha val="80000"/>
                  </a:schemeClr>
                </a:solidFill>
                <a:effectLst/>
                <a:latin typeface="Alegreya"/>
              </a:rPr>
              <a:t>Anna Maria Mazzoni pioniera del femminismo italiano</a:t>
            </a:r>
          </a:p>
          <a:p>
            <a:endParaRPr lang="en-US" sz="2400">
              <a:solidFill>
                <a:schemeClr val="bg1">
                  <a:alpha val="80000"/>
                </a:schemeClr>
              </a:solidFill>
            </a:endParaRPr>
          </a:p>
        </p:txBody>
      </p:sp>
    </p:spTree>
    <p:extLst>
      <p:ext uri="{BB962C8B-B14F-4D97-AF65-F5344CB8AC3E}">
        <p14:creationId xmlns:p14="http://schemas.microsoft.com/office/powerpoint/2010/main" val="1476063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16A55-5DC4-4FDF-B76C-97E4DCC87359}"/>
              </a:ext>
            </a:extLst>
          </p:cNvPr>
          <p:cNvSpPr>
            <a:spLocks noGrp="1"/>
          </p:cNvSpPr>
          <p:nvPr>
            <p:ph type="title"/>
          </p:nvPr>
        </p:nvSpPr>
        <p:spPr>
          <a:xfrm>
            <a:off x="6289158" y="803325"/>
            <a:ext cx="5259707" cy="1325563"/>
          </a:xfrm>
        </p:spPr>
        <p:txBody>
          <a:bodyPr>
            <a:normAutofit/>
          </a:bodyPr>
          <a:lstStyle/>
          <a:p>
            <a:r>
              <a:rPr lang="it-IT" dirty="0"/>
              <a:t>INGHILTERRA</a:t>
            </a:r>
            <a:endParaRPr lang="en-US" dirty="0"/>
          </a:p>
        </p:txBody>
      </p:sp>
      <p:sp>
        <p:nvSpPr>
          <p:cNvPr id="11" name="Freeform: Shape 8">
            <a:extLst>
              <a:ext uri="{FF2B5EF4-FFF2-40B4-BE49-F238E27FC236}">
                <a16:creationId xmlns:a16="http://schemas.microsoft.com/office/drawing/2014/main" id="{357DD0D3-F869-46D0-944C-6EC60E19E3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36816" cy="5254922"/>
          </a:xfrm>
          <a:custGeom>
            <a:avLst/>
            <a:gdLst>
              <a:gd name="connsiteX0" fmla="*/ 0 w 6136816"/>
              <a:gd name="connsiteY0" fmla="*/ 0 h 5254922"/>
              <a:gd name="connsiteX1" fmla="*/ 6136816 w 6136816"/>
              <a:gd name="connsiteY1" fmla="*/ 0 h 5254922"/>
              <a:gd name="connsiteX2" fmla="*/ 6134892 w 6136816"/>
              <a:gd name="connsiteY2" fmla="*/ 111520 h 5254922"/>
              <a:gd name="connsiteX3" fmla="*/ 6066513 w 6136816"/>
              <a:gd name="connsiteY3" fmla="*/ 752995 h 5254922"/>
              <a:gd name="connsiteX4" fmla="*/ 140712 w 6136816"/>
              <a:gd name="connsiteY4" fmla="*/ 5219363 h 5254922"/>
              <a:gd name="connsiteX5" fmla="*/ 0 w 6136816"/>
              <a:gd name="connsiteY5" fmla="*/ 5199534 h 525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36816" h="5254922">
                <a:moveTo>
                  <a:pt x="0" y="0"/>
                </a:moveTo>
                <a:lnTo>
                  <a:pt x="6136816" y="0"/>
                </a:lnTo>
                <a:lnTo>
                  <a:pt x="6134892" y="111520"/>
                </a:lnTo>
                <a:cubicBezTo>
                  <a:pt x="6124961" y="323936"/>
                  <a:pt x="6102367" y="538040"/>
                  <a:pt x="6066513" y="752995"/>
                </a:cubicBezTo>
                <a:cubicBezTo>
                  <a:pt x="5592281" y="3596146"/>
                  <a:pt x="2972232" y="5545369"/>
                  <a:pt x="140712" y="5219363"/>
                </a:cubicBezTo>
                <a:lnTo>
                  <a:pt x="0" y="5199534"/>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3">
            <a:extLst>
              <a:ext uri="{FF2B5EF4-FFF2-40B4-BE49-F238E27FC236}">
                <a16:creationId xmlns:a16="http://schemas.microsoft.com/office/drawing/2014/main" id="{7051A5F7-346F-485A-AE4E-80122ABAF3E3}"/>
              </a:ext>
            </a:extLst>
          </p:cNvPr>
          <p:cNvPicPr>
            <a:picLocks noChangeAspect="1"/>
          </p:cNvPicPr>
          <p:nvPr/>
        </p:nvPicPr>
        <p:blipFill rotWithShape="1">
          <a:blip r:embed="rId2"/>
          <a:srcRect l="15675" r="18747" b="1"/>
          <a:stretch/>
        </p:blipFill>
        <p:spPr>
          <a:xfrm>
            <a:off x="1" y="2"/>
            <a:ext cx="5863721" cy="4984915"/>
          </a:xfrm>
          <a:custGeom>
            <a:avLst/>
            <a:gdLst/>
            <a:ahLst/>
            <a:cxnLst/>
            <a:rect l="l" t="t" r="r" b="b"/>
            <a:pathLst>
              <a:path w="5863721" h="4984915">
                <a:moveTo>
                  <a:pt x="0" y="0"/>
                </a:moveTo>
                <a:lnTo>
                  <a:pt x="5863721" y="0"/>
                </a:lnTo>
                <a:lnTo>
                  <a:pt x="5844576" y="326138"/>
                </a:lnTo>
                <a:cubicBezTo>
                  <a:pt x="5833049" y="448313"/>
                  <a:pt x="5817094" y="570952"/>
                  <a:pt x="5796589" y="693884"/>
                </a:cubicBezTo>
                <a:cubicBezTo>
                  <a:pt x="5344573" y="3403845"/>
                  <a:pt x="2847261" y="5261756"/>
                  <a:pt x="148386" y="4951022"/>
                </a:cubicBezTo>
                <a:lnTo>
                  <a:pt x="0" y="4930112"/>
                </a:lnTo>
                <a:close/>
              </a:path>
            </a:pathLst>
          </a:custGeom>
        </p:spPr>
      </p:pic>
      <p:sp>
        <p:nvSpPr>
          <p:cNvPr id="3" name="Content Placeholder 2">
            <a:extLst>
              <a:ext uri="{FF2B5EF4-FFF2-40B4-BE49-F238E27FC236}">
                <a16:creationId xmlns:a16="http://schemas.microsoft.com/office/drawing/2014/main" id="{1E06BB1F-E626-4FAF-B273-3C4222842026}"/>
              </a:ext>
            </a:extLst>
          </p:cNvPr>
          <p:cNvSpPr>
            <a:spLocks noGrp="1"/>
          </p:cNvSpPr>
          <p:nvPr>
            <p:ph idx="1"/>
          </p:nvPr>
        </p:nvSpPr>
        <p:spPr>
          <a:xfrm>
            <a:off x="6289158" y="2279018"/>
            <a:ext cx="5259714" cy="3375920"/>
          </a:xfrm>
        </p:spPr>
        <p:txBody>
          <a:bodyPr anchor="t">
            <a:normAutofit/>
          </a:bodyPr>
          <a:lstStyle/>
          <a:p>
            <a:r>
              <a:rPr lang="it-IT" sz="1800" b="0" i="0">
                <a:effectLst/>
                <a:latin typeface="Georgia" panose="02040502050405020303" pitchFamily="18" charset="0"/>
              </a:rPr>
              <a:t>Solamente </a:t>
            </a:r>
            <a:r>
              <a:rPr lang="it-IT" sz="1800" b="1" i="0">
                <a:effectLst/>
                <a:latin typeface="Georgia" panose="02040502050405020303" pitchFamily="18" charset="0"/>
              </a:rPr>
              <a:t>in Inghilterra il movimento femminile</a:t>
            </a:r>
            <a:r>
              <a:rPr lang="it-IT" sz="1800" b="0" i="0">
                <a:effectLst/>
                <a:latin typeface="Georgia" panose="02040502050405020303" pitchFamily="18" charset="0"/>
              </a:rPr>
              <a:t> si strutturò con il tempo in un’</a:t>
            </a:r>
            <a:r>
              <a:rPr lang="it-IT" sz="1800" b="1" i="0">
                <a:effectLst/>
                <a:latin typeface="Georgia" panose="02040502050405020303" pitchFamily="18" charset="0"/>
              </a:rPr>
              <a:t>organizzazione più solida</a:t>
            </a:r>
            <a:r>
              <a:rPr lang="it-IT" sz="1800" b="0" i="0">
                <a:effectLst/>
                <a:latin typeface="Georgia" panose="02040502050405020303" pitchFamily="18" charset="0"/>
              </a:rPr>
              <a:t> e in grado di raccogliere maggiori adesioni: </a:t>
            </a:r>
            <a:r>
              <a:rPr lang="it-IT" sz="1800" b="1" i="0">
                <a:effectLst/>
                <a:latin typeface="Georgia" panose="02040502050405020303" pitchFamily="18" charset="0"/>
              </a:rPr>
              <a:t>nel 1867 era nata la prima associazione</a:t>
            </a:r>
            <a:r>
              <a:rPr lang="it-IT" sz="1800" b="0" i="0">
                <a:effectLst/>
                <a:latin typeface="Georgia" panose="02040502050405020303" pitchFamily="18" charset="0"/>
              </a:rPr>
              <a:t> per il riconoscimento del </a:t>
            </a:r>
            <a:r>
              <a:rPr lang="it-IT" sz="1800" b="1" i="0">
                <a:effectLst/>
                <a:latin typeface="Georgia" panose="02040502050405020303" pitchFamily="18" charset="0"/>
              </a:rPr>
              <a:t>diritto di voto alle donne</a:t>
            </a:r>
            <a:r>
              <a:rPr lang="it-IT" sz="1800" b="0" i="0">
                <a:effectLst/>
                <a:latin typeface="Georgia" panose="02040502050405020303" pitchFamily="18" charset="0"/>
              </a:rPr>
              <a:t>, denominata </a:t>
            </a:r>
            <a:r>
              <a:rPr lang="it-IT" sz="1800" b="1" i="1">
                <a:effectLst/>
                <a:latin typeface="inherit"/>
              </a:rPr>
              <a:t>National Society for Women’s Suffrage</a:t>
            </a:r>
            <a:r>
              <a:rPr lang="it-IT" sz="1800" b="0" i="0">
                <a:effectLst/>
                <a:latin typeface="Georgia" panose="02040502050405020303" pitchFamily="18" charset="0"/>
              </a:rPr>
              <a:t>, le cui aderenti riceverono ben presto l’appellativo - soprattutto in termini dispregiativi da parte dei detrattori - di “</a:t>
            </a:r>
            <a:r>
              <a:rPr lang="it-IT" sz="1800" b="1" i="0">
                <a:effectLst/>
                <a:latin typeface="Georgia" panose="02040502050405020303" pitchFamily="18" charset="0"/>
              </a:rPr>
              <a:t>suffragette</a:t>
            </a:r>
            <a:r>
              <a:rPr lang="it-IT" sz="1800" b="0" i="0">
                <a:effectLst/>
                <a:latin typeface="Georgia" panose="02040502050405020303" pitchFamily="18" charset="0"/>
              </a:rPr>
              <a:t>”.</a:t>
            </a:r>
          </a:p>
          <a:p>
            <a:pPr marL="0" indent="0">
              <a:buNone/>
            </a:pPr>
            <a:endParaRPr lang="en-US" sz="1800"/>
          </a:p>
        </p:txBody>
      </p:sp>
    </p:spTree>
    <p:extLst>
      <p:ext uri="{BB962C8B-B14F-4D97-AF65-F5344CB8AC3E}">
        <p14:creationId xmlns:p14="http://schemas.microsoft.com/office/powerpoint/2010/main" val="3010906099"/>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F5717-E862-424F-8919-AAD102EE21DB}"/>
              </a:ext>
            </a:extLst>
          </p:cNvPr>
          <p:cNvSpPr>
            <a:spLocks noGrp="1"/>
          </p:cNvSpPr>
          <p:nvPr>
            <p:ph type="title"/>
          </p:nvPr>
        </p:nvSpPr>
        <p:spPr>
          <a:xfrm>
            <a:off x="6289158" y="803325"/>
            <a:ext cx="5259707" cy="1325563"/>
          </a:xfrm>
        </p:spPr>
        <p:txBody>
          <a:bodyPr>
            <a:normAutofit/>
          </a:bodyPr>
          <a:lstStyle/>
          <a:p>
            <a:r>
              <a:rPr lang="it-IT" sz="3700"/>
              <a:t>LA NASCITA DEL MOVIMENTO FEMMINISTA</a:t>
            </a:r>
            <a:endParaRPr lang="en-US" sz="3700"/>
          </a:p>
        </p:txBody>
      </p:sp>
      <p:sp>
        <p:nvSpPr>
          <p:cNvPr id="9" name="Freeform: Shape 8">
            <a:extLst>
              <a:ext uri="{FF2B5EF4-FFF2-40B4-BE49-F238E27FC236}">
                <a16:creationId xmlns:a16="http://schemas.microsoft.com/office/drawing/2014/main" id="{357DD0D3-F869-46D0-944C-6EC60E19E3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36816" cy="5254922"/>
          </a:xfrm>
          <a:custGeom>
            <a:avLst/>
            <a:gdLst>
              <a:gd name="connsiteX0" fmla="*/ 0 w 6136816"/>
              <a:gd name="connsiteY0" fmla="*/ 0 h 5254922"/>
              <a:gd name="connsiteX1" fmla="*/ 6136816 w 6136816"/>
              <a:gd name="connsiteY1" fmla="*/ 0 h 5254922"/>
              <a:gd name="connsiteX2" fmla="*/ 6134892 w 6136816"/>
              <a:gd name="connsiteY2" fmla="*/ 111520 h 5254922"/>
              <a:gd name="connsiteX3" fmla="*/ 6066513 w 6136816"/>
              <a:gd name="connsiteY3" fmla="*/ 752995 h 5254922"/>
              <a:gd name="connsiteX4" fmla="*/ 140712 w 6136816"/>
              <a:gd name="connsiteY4" fmla="*/ 5219363 h 5254922"/>
              <a:gd name="connsiteX5" fmla="*/ 0 w 6136816"/>
              <a:gd name="connsiteY5" fmla="*/ 5199534 h 525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36816" h="5254922">
                <a:moveTo>
                  <a:pt x="0" y="0"/>
                </a:moveTo>
                <a:lnTo>
                  <a:pt x="6136816" y="0"/>
                </a:lnTo>
                <a:lnTo>
                  <a:pt x="6134892" y="111520"/>
                </a:lnTo>
                <a:cubicBezTo>
                  <a:pt x="6124961" y="323936"/>
                  <a:pt x="6102367" y="538040"/>
                  <a:pt x="6066513" y="752995"/>
                </a:cubicBezTo>
                <a:cubicBezTo>
                  <a:pt x="5592281" y="3596146"/>
                  <a:pt x="2972232" y="5545369"/>
                  <a:pt x="140712" y="5219363"/>
                </a:cubicBezTo>
                <a:lnTo>
                  <a:pt x="0" y="5199534"/>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3" descr="A group of people holding signs&#10;&#10;Description automatically generated">
            <a:extLst>
              <a:ext uri="{FF2B5EF4-FFF2-40B4-BE49-F238E27FC236}">
                <a16:creationId xmlns:a16="http://schemas.microsoft.com/office/drawing/2014/main" id="{D0EA8EF9-75A0-42C9-8535-2E64BDCCBE74}"/>
              </a:ext>
            </a:extLst>
          </p:cNvPr>
          <p:cNvPicPr>
            <a:picLocks noChangeAspect="1"/>
          </p:cNvPicPr>
          <p:nvPr/>
        </p:nvPicPr>
        <p:blipFill rotWithShape="1">
          <a:blip r:embed="rId2"/>
          <a:srcRect l="12159" r="23439" b="-1"/>
          <a:stretch/>
        </p:blipFill>
        <p:spPr>
          <a:xfrm>
            <a:off x="1" y="2"/>
            <a:ext cx="5863721" cy="4984915"/>
          </a:xfrm>
          <a:custGeom>
            <a:avLst/>
            <a:gdLst/>
            <a:ahLst/>
            <a:cxnLst/>
            <a:rect l="l" t="t" r="r" b="b"/>
            <a:pathLst>
              <a:path w="5863721" h="4984915">
                <a:moveTo>
                  <a:pt x="0" y="0"/>
                </a:moveTo>
                <a:lnTo>
                  <a:pt x="5863721" y="0"/>
                </a:lnTo>
                <a:lnTo>
                  <a:pt x="5844576" y="326138"/>
                </a:lnTo>
                <a:cubicBezTo>
                  <a:pt x="5833049" y="448313"/>
                  <a:pt x="5817094" y="570952"/>
                  <a:pt x="5796589" y="693884"/>
                </a:cubicBezTo>
                <a:cubicBezTo>
                  <a:pt x="5344573" y="3403845"/>
                  <a:pt x="2847261" y="5261756"/>
                  <a:pt x="148386" y="4951022"/>
                </a:cubicBezTo>
                <a:lnTo>
                  <a:pt x="0" y="4930112"/>
                </a:lnTo>
                <a:close/>
              </a:path>
            </a:pathLst>
          </a:custGeom>
        </p:spPr>
      </p:pic>
      <p:sp>
        <p:nvSpPr>
          <p:cNvPr id="3" name="Content Placeholder 2">
            <a:extLst>
              <a:ext uri="{FF2B5EF4-FFF2-40B4-BE49-F238E27FC236}">
                <a16:creationId xmlns:a16="http://schemas.microsoft.com/office/drawing/2014/main" id="{B163660B-1CF2-4D9C-B697-1059925A3C45}"/>
              </a:ext>
            </a:extLst>
          </p:cNvPr>
          <p:cNvSpPr>
            <a:spLocks noGrp="1"/>
          </p:cNvSpPr>
          <p:nvPr>
            <p:ph idx="1"/>
          </p:nvPr>
        </p:nvSpPr>
        <p:spPr>
          <a:xfrm>
            <a:off x="6289158" y="2279018"/>
            <a:ext cx="5259714" cy="3375920"/>
          </a:xfrm>
        </p:spPr>
        <p:txBody>
          <a:bodyPr anchor="t">
            <a:normAutofit/>
          </a:bodyPr>
          <a:lstStyle/>
          <a:p>
            <a:pPr marL="0" indent="0">
              <a:buNone/>
            </a:pPr>
            <a:r>
              <a:rPr lang="it-IT" sz="1800" b="0" i="0">
                <a:effectLst/>
                <a:latin typeface="Work Sans" pitchFamily="2" charset="0"/>
              </a:rPr>
              <a:t>la nascita ufficiale del movimento femminista, che  si intreccia con i temi relativi al diritto di voto agli afro-americani,  è avvenuta nel 1848, anno dello storico congresso sui diritti delle donne, a Seneca </a:t>
            </a:r>
            <a:r>
              <a:rPr lang="it-IT" sz="1800">
                <a:latin typeface="Work Sans" pitchFamily="2" charset="0"/>
              </a:rPr>
              <a:t>F</a:t>
            </a:r>
            <a:r>
              <a:rPr lang="it-IT" sz="1800" b="0" i="0">
                <a:effectLst/>
                <a:latin typeface="Work Sans" pitchFamily="2" charset="0"/>
              </a:rPr>
              <a:t>alls (New </a:t>
            </a:r>
            <a:r>
              <a:rPr lang="it-IT" sz="1800">
                <a:latin typeface="Work Sans" pitchFamily="2" charset="0"/>
              </a:rPr>
              <a:t>Y</a:t>
            </a:r>
            <a:r>
              <a:rPr lang="it-IT" sz="1800" b="0" i="0">
                <a:effectLst/>
                <a:latin typeface="Work Sans" pitchFamily="2" charset="0"/>
              </a:rPr>
              <a:t>ork), nel quale fu chiesta la cittadinanza politica per “negri” (all'epoca, la parola era questa) e “donne”.</a:t>
            </a:r>
            <a:endParaRPr lang="en-US" sz="1800"/>
          </a:p>
        </p:txBody>
      </p:sp>
    </p:spTree>
    <p:extLst>
      <p:ext uri="{BB962C8B-B14F-4D97-AF65-F5344CB8AC3E}">
        <p14:creationId xmlns:p14="http://schemas.microsoft.com/office/powerpoint/2010/main" val="3337449026"/>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etropolitan">
  <a:themeElements>
    <a:clrScheme name="Metropolitan">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D5487D36-20B9-4AF8-9845-4EE893DA08C1}"/>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C69F3F7625CF74085CAA0E2A49F4C2D" ma:contentTypeVersion="10" ma:contentTypeDescription="Creare un nuovo documento." ma:contentTypeScope="" ma:versionID="f970594720fb6abcd21fd0ece3721bb8">
  <xsd:schema xmlns:xsd="http://www.w3.org/2001/XMLSchema" xmlns:xs="http://www.w3.org/2001/XMLSchema" xmlns:p="http://schemas.microsoft.com/office/2006/metadata/properties" xmlns:ns2="48a61d46-4d30-4b24-ac0a-556bb3cc81e4" xmlns:ns3="a89520b4-453f-4caf-a364-bd14af9a57b3" targetNamespace="http://schemas.microsoft.com/office/2006/metadata/properties" ma:root="true" ma:fieldsID="e495a74569071716296f8154eb9fe63a" ns2:_="" ns3:_="">
    <xsd:import namespace="48a61d46-4d30-4b24-ac0a-556bb3cc81e4"/>
    <xsd:import namespace="a89520b4-453f-4caf-a364-bd14af9a57b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a61d46-4d30-4b24-ac0a-556bb3cc81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Tag immagine" ma:readOnly="false" ma:fieldId="{5cf76f15-5ced-4ddc-b409-7134ff3c332f}" ma:taxonomyMulti="true" ma:sspId="1013fbc9-b00e-4d37-9f0b-4b76e146b3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89520b4-453f-4caf-a364-bd14af9a57b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0af5e59d-d4ac-435c-9382-48b95eae239d}" ma:internalName="TaxCatchAll" ma:showField="CatchAllData" ma:web="a89520b4-453f-4caf-a364-bd14af9a57b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89520b4-453f-4caf-a364-bd14af9a57b3" xsi:nil="true"/>
    <lcf76f155ced4ddcb4097134ff3c332f xmlns="48a61d46-4d30-4b24-ac0a-556bb3cc81e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C0EA446-AD33-4A64-A09D-81ACA7F509D1}"/>
</file>

<file path=customXml/itemProps2.xml><?xml version="1.0" encoding="utf-8"?>
<ds:datastoreItem xmlns:ds="http://schemas.openxmlformats.org/officeDocument/2006/customXml" ds:itemID="{A2943054-FC47-43B4-8317-3B7421717EB3}"/>
</file>

<file path=customXml/itemProps3.xml><?xml version="1.0" encoding="utf-8"?>
<ds:datastoreItem xmlns:ds="http://schemas.openxmlformats.org/officeDocument/2006/customXml" ds:itemID="{B7BBDE74-774B-48B5-B1E4-210D6A3CD58C}"/>
</file>

<file path=docProps/app.xml><?xml version="1.0" encoding="utf-8"?>
<Properties xmlns="http://schemas.openxmlformats.org/officeDocument/2006/extended-properties" xmlns:vt="http://schemas.openxmlformats.org/officeDocument/2006/docPropsVTypes">
  <TotalTime>719</TotalTime>
  <Words>2333</Words>
  <Application>Microsoft Office PowerPoint</Application>
  <PresentationFormat>Widescreen</PresentationFormat>
  <Paragraphs>90</Paragraphs>
  <Slides>35</Slides>
  <Notes>1</Notes>
  <HiddenSlides>0</HiddenSlides>
  <MMClips>0</MMClips>
  <ScaleCrop>false</ScaleCrop>
  <HeadingPairs>
    <vt:vector size="6" baseType="variant">
      <vt:variant>
        <vt:lpstr>Caratteri utilizzati</vt:lpstr>
      </vt:variant>
      <vt:variant>
        <vt:i4>18</vt:i4>
      </vt:variant>
      <vt:variant>
        <vt:lpstr>Tema</vt:lpstr>
      </vt:variant>
      <vt:variant>
        <vt:i4>2</vt:i4>
      </vt:variant>
      <vt:variant>
        <vt:lpstr>Titoli diapositive</vt:lpstr>
      </vt:variant>
      <vt:variant>
        <vt:i4>35</vt:i4>
      </vt:variant>
    </vt:vector>
  </HeadingPairs>
  <TitlesOfParts>
    <vt:vector size="55" baseType="lpstr">
      <vt:lpstr>Alegreya</vt:lpstr>
      <vt:lpstr>Alegreya Sans</vt:lpstr>
      <vt:lpstr>-apple-system</vt:lpstr>
      <vt:lpstr>Aptos</vt:lpstr>
      <vt:lpstr>Arial</vt:lpstr>
      <vt:lpstr>Arial</vt:lpstr>
      <vt:lpstr>Calibri</vt:lpstr>
      <vt:lpstr>Calibri Light</vt:lpstr>
      <vt:lpstr>Forte</vt:lpstr>
      <vt:lpstr>Georgia</vt:lpstr>
      <vt:lpstr>inherit</vt:lpstr>
      <vt:lpstr>Open Sans</vt:lpstr>
      <vt:lpstr>Palatino Linotype</vt:lpstr>
      <vt:lpstr>Roboto</vt:lpstr>
      <vt:lpstr>Source Sans Pro</vt:lpstr>
      <vt:lpstr>Times New Roman</vt:lpstr>
      <vt:lpstr>TitilliumWeb</vt:lpstr>
      <vt:lpstr>Work Sans</vt:lpstr>
      <vt:lpstr>Office Theme</vt:lpstr>
      <vt:lpstr>Metropolitan</vt:lpstr>
      <vt:lpstr>Gender &amp; Inclusion</vt:lpstr>
      <vt:lpstr>La storia delle donne</vt:lpstr>
      <vt:lpstr>LE DONNE NELLA GRECIA ANTICA</vt:lpstr>
      <vt:lpstr>Presentazione standard di PowerPoint</vt:lpstr>
      <vt:lpstr>Presentazione standard di PowerPoint</vt:lpstr>
      <vt:lpstr>Occorre aspettare il 1963 per avere una donna magistrato</vt:lpstr>
      <vt:lpstr>Occorre aspettare il 1963 per avere una donna magistrato</vt:lpstr>
      <vt:lpstr>Per far accedere le donne in magistratura occorre attendere l’abrogazione dell’art.7 della legge 17 luglio 1919, n. 1176 </vt:lpstr>
      <vt:lpstr>DONNE NELLE FORZE ARMATE</vt:lpstr>
      <vt:lpstr>Presentazione standard di PowerPoint</vt:lpstr>
      <vt:lpstr>Genesi 2, 21-24</vt:lpstr>
      <vt:lpstr>Genesi 3, 16</vt:lpstr>
      <vt:lpstr>I vangeli….dove le donne hanno un ruolo importante e non secondario</vt:lpstr>
      <vt:lpstr>Poi arriva SAN PAOLO  Prima lettera a Timoteo 2:11-15</vt:lpstr>
      <vt:lpstr>PER IL CRISTIANESIMO IL MODELLO DI DONNA E’ LA VERGINE MARIA</vt:lpstr>
      <vt:lpstr>LA CONDIZIONE DELLA DONNA NEL MEDIOEVO</vt:lpstr>
      <vt:lpstr>Il ruolo delle donne nel medioevo: LE CONTADINE</vt:lpstr>
      <vt:lpstr>QUESTA SITUAZIONE CONTINUA FINO ALL’UNITA’ DI ITALIA</vt:lpstr>
      <vt:lpstr>NOBILI</vt:lpstr>
      <vt:lpstr>LE DONNE BORGHESI E MERCANTI</vt:lpstr>
      <vt:lpstr>LE DONNE NELL’ETA’ MODERNA</vt:lpstr>
      <vt:lpstr>IL GENDER BIAS CON LE DISCIPLINE SCIETIFICHE HA ORIGINI LONTANE </vt:lpstr>
      <vt:lpstr>Presentazione standard di PowerPoint</vt:lpstr>
      <vt:lpstr>IL 1700 PRIMA DELLA RIVOLUZIONE FRANCESE</vt:lpstr>
      <vt:lpstr>IL 1700 PRIMA DELLA RIVOLUZIONE FRANCESE</vt:lpstr>
      <vt:lpstr>La rivoluzione francese e la nascita del femminismo Olympe de Gouges </vt:lpstr>
      <vt:lpstr>Rousseau</vt:lpstr>
      <vt:lpstr>Mary Wollstonecraft ed il femminismo liberale</vt:lpstr>
      <vt:lpstr>FEMMINISMO LIBERALE</vt:lpstr>
      <vt:lpstr>FEMMINISMO LIBERALE</vt:lpstr>
      <vt:lpstr>Il pensiero democratico non si occupava delle donne</vt:lpstr>
      <vt:lpstr>L'industrializzazione e il lavoro femminile </vt:lpstr>
      <vt:lpstr>1878: primo congresso per i diritti delle donne a Parigi</vt:lpstr>
      <vt:lpstr>INGHILTERRA</vt:lpstr>
      <vt:lpstr>LA NASCITA DEL MOVIMENTO FEMMINISTA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Barbara Martini</dc:creator>
  <cp:lastModifiedBy>barbara martini</cp:lastModifiedBy>
  <cp:revision>35</cp:revision>
  <dcterms:created xsi:type="dcterms:W3CDTF">2022-04-05T08:21:28Z</dcterms:created>
  <dcterms:modified xsi:type="dcterms:W3CDTF">2026-03-18T18:27:42Z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0x0101002C69F3F7625CF74085CAA0E2A49F4C2D</vt:lpwstr>
  </property>
</Properties>
</file>