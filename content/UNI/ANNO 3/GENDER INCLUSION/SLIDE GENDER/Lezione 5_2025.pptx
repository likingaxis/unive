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65" r:id="rId2"/>
    <p:sldId id="301" r:id="rId3"/>
    <p:sldId id="267" r:id="rId4"/>
    <p:sldId id="268" r:id="rId5"/>
    <p:sldId id="269" r:id="rId6"/>
    <p:sldId id="271" r:id="rId7"/>
    <p:sldId id="275" r:id="rId8"/>
    <p:sldId id="274" r:id="rId9"/>
    <p:sldId id="276" r:id="rId10"/>
    <p:sldId id="277" r:id="rId11"/>
    <p:sldId id="298" r:id="rId12"/>
    <p:sldId id="257" r:id="rId13"/>
    <p:sldId id="279" r:id="rId14"/>
    <p:sldId id="278" r:id="rId15"/>
    <p:sldId id="280" r:id="rId16"/>
    <p:sldId id="299" r:id="rId17"/>
    <p:sldId id="288" r:id="rId18"/>
    <p:sldId id="296" r:id="rId19"/>
    <p:sldId id="300" r:id="rId20"/>
    <p:sldId id="297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68" autoAdjust="0"/>
    <p:restoredTop sz="94660"/>
  </p:normalViewPr>
  <p:slideViewPr>
    <p:cSldViewPr snapToGrid="0">
      <p:cViewPr varScale="1">
        <p:scale>
          <a:sx n="87" d="100"/>
          <a:sy n="87" d="100"/>
        </p:scale>
        <p:origin x="716" y="8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B8CA0D-43F9-409C-9FC8-F7FD9A11E3BF}" type="datetimeFigureOut">
              <a:rPr lang="en-US" smtClean="0"/>
              <a:t>6/5/2024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322C54-C3FA-49E8-9992-A382272EE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225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FCEF4-BC70-B579-1BB5-84C59D71BF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461603-9BEE-5253-401C-66F4C62D32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92182A-DBD9-AE06-8069-AC295AD66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C95BD-BEDD-44AD-A692-D3030E4B2F14}" type="datetimeFigureOut">
              <a:rPr lang="en-US" smtClean="0"/>
              <a:t>6/5/2024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A79ADD-B349-F182-FADC-A705E43CA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E8A0E-39A0-AB85-3AF3-26956CBC5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67EC8-F900-4364-BB44-791704AC7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91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34A30-7BCB-CECD-53FE-E9B357B05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588082-D3E0-13C0-0A33-4CF18D78D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1BEDD0-743F-E1AF-4B2E-7393D9273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C95BD-BEDD-44AD-A692-D3030E4B2F14}" type="datetimeFigureOut">
              <a:rPr lang="en-US" smtClean="0"/>
              <a:t>6/5/2024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3398E9-2B63-B823-86AE-5F3F0CC10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51C48D-6FA2-3468-5168-8B5AF6493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67EC8-F900-4364-BB44-791704AC7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56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D3F5A-16F5-BA40-C277-0D2F058E9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7AF17B-6114-6A15-B289-089A40B73D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E58EC3-1285-C361-039E-1142FD5DE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C95BD-BEDD-44AD-A692-D3030E4B2F14}" type="datetimeFigureOut">
              <a:rPr lang="en-US" smtClean="0"/>
              <a:t>6/5/2024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E1AB59-9F56-A861-0B2D-6048BD156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C734AF-3D04-4054-4D99-B09EC8984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67EC8-F900-4364-BB44-791704AC7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825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811EB-89EC-7A98-4051-238AE7012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09E31D-F0E5-2371-5AE2-8813BAA002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878D4-5DB8-97B8-495B-662B050545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A9B6B6-711C-D1B7-7D38-513C72864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C95BD-BEDD-44AD-A692-D3030E4B2F14}" type="datetimeFigureOut">
              <a:rPr lang="en-US" smtClean="0"/>
              <a:t>6/5/2024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218E89-6D8C-448D-69F9-1B0B656A1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3BCE91-E192-D917-8F08-6D8EB6D9F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67EC8-F900-4364-BB44-791704AC7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307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DA53D-01A9-2244-087D-A05ACBC8D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17DAB6-C1D0-42C2-CBE3-6A98BB1AB6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28626F-1A1C-1AB1-1AED-09F18870C0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B55DC8-22A6-E793-49B0-73EA4ED003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3840C1-0007-0FB4-DA7B-44C230203F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59868B-8687-693A-1673-7C8DA171E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C95BD-BEDD-44AD-A692-D3030E4B2F14}" type="datetimeFigureOut">
              <a:rPr lang="en-US" smtClean="0"/>
              <a:t>6/5/2024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5EDF08-3755-8B33-C449-730A4DF91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53B90E-0975-F0E8-6734-33BF8D20F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67EC8-F900-4364-BB44-791704AC7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785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A3808-10B5-92D3-D6EE-2A86618AB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418381-15BC-A310-3F14-89FA610BE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C95BD-BEDD-44AD-A692-D3030E4B2F14}" type="datetimeFigureOut">
              <a:rPr lang="en-US" smtClean="0"/>
              <a:t>6/5/2024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43D79C-D236-0777-1C13-4B253AE55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E0AA8D-4139-448D-6F16-333353FB7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67EC8-F900-4364-BB44-791704AC7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13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E223F7-1A65-5541-4CE7-ABA390FE6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C95BD-BEDD-44AD-A692-D3030E4B2F14}" type="datetimeFigureOut">
              <a:rPr lang="en-US" smtClean="0"/>
              <a:t>6/5/2024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BBB4F7-EC3B-4C17-B40F-11EA9463A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932558-D89D-9816-93AE-800C63894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67EC8-F900-4364-BB44-791704AC7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285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11959-59A9-E7C4-90FE-01388459B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199AA-0E39-4F45-05A0-FA3D8F8A46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0DD67B-D3A0-6CD0-925D-4279D0D1CE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289D60-6500-83F6-0B19-1D7D0C1DB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C95BD-BEDD-44AD-A692-D3030E4B2F14}" type="datetimeFigureOut">
              <a:rPr lang="en-US" smtClean="0"/>
              <a:t>6/5/2024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1D7A32-9E85-4D44-D98C-16B3345FD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97F26A-6AAA-475C-0B2D-2C8F0AC65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67EC8-F900-4364-BB44-791704AC7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439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25AF5-FE8C-80FD-FE6D-F891EEB56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F6CAA8-DB45-F803-CE3E-714BFBCF25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76DB8A-AABF-489E-C3AB-73436EE362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133B1D-9677-2CFB-78D9-D50F6BBD0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C95BD-BEDD-44AD-A692-D3030E4B2F14}" type="datetimeFigureOut">
              <a:rPr lang="en-US" smtClean="0"/>
              <a:t>6/5/2024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DBAC7C-C1CD-2CDA-EDDB-0039D1518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7655F4-EEC5-DBC2-721B-42A7A9E3C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67EC8-F900-4364-BB44-791704AC7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132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ACEFB-C5F8-EB97-0B12-572A0B9DB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02DEED-490A-B210-6B85-21C8ACF782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8C2373-6F4B-2217-CBAA-8B0797CEF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C95BD-BEDD-44AD-A692-D3030E4B2F14}" type="datetimeFigureOut">
              <a:rPr lang="en-US" smtClean="0"/>
              <a:t>6/5/2024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DFA098-D297-D00F-24F1-B8D875696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DD3F65-EE43-75E9-A2B8-130F2A341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67EC8-F900-4364-BB44-791704AC7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476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704366-8A5F-CCD9-DF42-6D9F961059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011999-18E5-9B16-E62B-AEF0A79163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643A55-82BF-3A2C-9849-BFFFA6D4F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C95BD-BEDD-44AD-A692-D3030E4B2F14}" type="datetimeFigureOut">
              <a:rPr lang="en-US" smtClean="0"/>
              <a:t>6/5/2024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F0174-AC12-25F4-F865-6805EC6FB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99C8E-09D0-D893-F1C1-2458B7035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67EC8-F900-4364-BB44-791704AC7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482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1ABC6A-17B1-77D1-1D61-A8C3B5021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105DE6-C9C1-583D-108A-5DD901B440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9DFD3E-0966-BE16-22EB-5AFD31E122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0C95BD-BEDD-44AD-A692-D3030E4B2F14}" type="datetimeFigureOut">
              <a:rPr lang="en-US" smtClean="0"/>
              <a:t>6/5/2024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4AD50-FB69-CC7D-6606-CB232D40DD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77DD6E-6866-74A5-BCDC-FF90F6D158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167EC8-F900-4364-BB44-791704AC7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245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8139F-91F2-6329-4F42-F2B02F2E7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024" y="371720"/>
            <a:ext cx="7593368" cy="2179456"/>
          </a:xfrm>
        </p:spPr>
        <p:txBody>
          <a:bodyPr anchor="b">
            <a:normAutofit/>
          </a:bodyPr>
          <a:lstStyle/>
          <a:p>
            <a:pPr algn="ctr"/>
            <a:r>
              <a:rPr lang="it-IT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</a:rPr>
              <a:t>GENDER &amp; INCLUSION</a:t>
            </a:r>
            <a:br>
              <a:rPr lang="it-IT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</a:rPr>
            </a:br>
            <a:r>
              <a:rPr lang="it-IT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</a:rPr>
              <a:t>Diversi Unici</a:t>
            </a:r>
            <a:r>
              <a:rPr lang="it-IT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</a:rPr>
              <a:t> </a:t>
            </a:r>
            <a:r>
              <a:rPr lang="it-IT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</a:rPr>
              <a:t>Uguali</a:t>
            </a:r>
            <a:br>
              <a:rPr lang="it-IT" sz="4400" b="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</a:rPr>
            </a:br>
            <a:r>
              <a:rPr lang="it-IT" sz="44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</a:rPr>
              <a:t>Barbara Martini</a:t>
            </a:r>
            <a:endParaRPr lang="en-US" b="1" dirty="0"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alatino Linotype" panose="02040502050505030304" pitchFamily="18" charset="0"/>
            </a:endParaRPr>
          </a:p>
        </p:txBody>
      </p:sp>
      <p:pic>
        <p:nvPicPr>
          <p:cNvPr id="10" name="Content Placeholder 9" descr="A rainbow colored stripes&#10;&#10;Description automatically generated">
            <a:extLst>
              <a:ext uri="{FF2B5EF4-FFF2-40B4-BE49-F238E27FC236}">
                <a16:creationId xmlns:a16="http://schemas.microsoft.com/office/drawing/2014/main" id="{EE9C9DEF-1198-3CEB-91D7-1E99DC3AEB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0510" y="3429000"/>
            <a:ext cx="3747932" cy="2438400"/>
          </a:xfrm>
        </p:spPr>
      </p:pic>
      <p:pic>
        <p:nvPicPr>
          <p:cNvPr id="4" name="Content Placeholder 3" descr="A red square with white text and a symbol&#10;&#10;Description automatically generated">
            <a:extLst>
              <a:ext uri="{FF2B5EF4-FFF2-40B4-BE49-F238E27FC236}">
                <a16:creationId xmlns:a16="http://schemas.microsoft.com/office/drawing/2014/main" id="{D5196ECD-64B9-D200-7447-CFECDE7A919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5458" r="-3" b="-3"/>
          <a:stretch/>
        </p:blipFill>
        <p:spPr>
          <a:xfrm>
            <a:off x="115024" y="2690859"/>
            <a:ext cx="3747932" cy="3176541"/>
          </a:xfrm>
          <a:custGeom>
            <a:avLst/>
            <a:gdLst/>
            <a:ahLst/>
            <a:cxnLst/>
            <a:rect l="l" t="t" r="r" b="b"/>
            <a:pathLst>
              <a:path w="3747932" h="3176541">
                <a:moveTo>
                  <a:pt x="3239865" y="21"/>
                </a:moveTo>
                <a:cubicBezTo>
                  <a:pt x="3261821" y="112"/>
                  <a:pt x="3278837" y="498"/>
                  <a:pt x="3290337" y="938"/>
                </a:cubicBezTo>
                <a:cubicBezTo>
                  <a:pt x="3401766" y="5376"/>
                  <a:pt x="3510165" y="23128"/>
                  <a:pt x="3616543" y="49449"/>
                </a:cubicBezTo>
                <a:lnTo>
                  <a:pt x="3747932" y="87091"/>
                </a:lnTo>
                <a:lnTo>
                  <a:pt x="3747932" y="3176541"/>
                </a:lnTo>
                <a:lnTo>
                  <a:pt x="401358" y="3176541"/>
                </a:lnTo>
                <a:lnTo>
                  <a:pt x="398780" y="3136258"/>
                </a:lnTo>
                <a:cubicBezTo>
                  <a:pt x="400956" y="3079023"/>
                  <a:pt x="437945" y="3052703"/>
                  <a:pt x="483325" y="3030665"/>
                </a:cubicBezTo>
                <a:cubicBezTo>
                  <a:pt x="498866" y="3023015"/>
                  <a:pt x="520932" y="3023320"/>
                  <a:pt x="526840" y="2999447"/>
                </a:cubicBezTo>
                <a:cubicBezTo>
                  <a:pt x="501352" y="2976798"/>
                  <a:pt x="470270" y="2995161"/>
                  <a:pt x="442916" y="2988735"/>
                </a:cubicBezTo>
                <a:cubicBezTo>
                  <a:pt x="420228" y="2983533"/>
                  <a:pt x="382618" y="2986286"/>
                  <a:pt x="413701" y="2944662"/>
                </a:cubicBezTo>
                <a:cubicBezTo>
                  <a:pt x="422716" y="2932726"/>
                  <a:pt x="412147" y="2923542"/>
                  <a:pt x="400645" y="2922625"/>
                </a:cubicBezTo>
                <a:cubicBezTo>
                  <a:pt x="308644" y="2913137"/>
                  <a:pt x="350915" y="2828968"/>
                  <a:pt x="321386" y="2784590"/>
                </a:cubicBezTo>
                <a:cubicBezTo>
                  <a:pt x="313307" y="2772348"/>
                  <a:pt x="322010" y="2751230"/>
                  <a:pt x="334753" y="2746027"/>
                </a:cubicBezTo>
                <a:cubicBezTo>
                  <a:pt x="416187" y="2711746"/>
                  <a:pt x="427377" y="2630027"/>
                  <a:pt x="466852" y="2559632"/>
                </a:cubicBezTo>
                <a:cubicBezTo>
                  <a:pt x="423957" y="2531782"/>
                  <a:pt x="372673" y="2525661"/>
                  <a:pt x="326361" y="2507602"/>
                </a:cubicBezTo>
                <a:cubicBezTo>
                  <a:pt x="278183" y="2488626"/>
                  <a:pt x="278183" y="2474547"/>
                  <a:pt x="317968" y="2419457"/>
                </a:cubicBezTo>
                <a:cubicBezTo>
                  <a:pt x="214465" y="2407519"/>
                  <a:pt x="214465" y="2407519"/>
                  <a:pt x="246479" y="2320903"/>
                </a:cubicBezTo>
                <a:cubicBezTo>
                  <a:pt x="159758" y="2312945"/>
                  <a:pt x="102570" y="2271933"/>
                  <a:pt x="89205" y="2182255"/>
                </a:cubicBezTo>
                <a:cubicBezTo>
                  <a:pt x="82677" y="2138795"/>
                  <a:pt x="43514" y="2118290"/>
                  <a:pt x="0" y="2089213"/>
                </a:cubicBezTo>
                <a:cubicBezTo>
                  <a:pt x="54081" y="2061053"/>
                  <a:pt x="90759" y="2002290"/>
                  <a:pt x="153855" y="2064423"/>
                </a:cubicBezTo>
                <a:cubicBezTo>
                  <a:pt x="176855" y="2087070"/>
                  <a:pt x="174683" y="2058300"/>
                  <a:pt x="177788" y="2050037"/>
                </a:cubicBezTo>
                <a:cubicBezTo>
                  <a:pt x="185247" y="2029838"/>
                  <a:pt x="169707" y="2016369"/>
                  <a:pt x="159450" y="2001067"/>
                </a:cubicBezTo>
                <a:cubicBezTo>
                  <a:pt x="149504" y="1985763"/>
                  <a:pt x="137691" y="1969543"/>
                  <a:pt x="134895" y="1952400"/>
                </a:cubicBezTo>
                <a:cubicBezTo>
                  <a:pt x="133031" y="1940465"/>
                  <a:pt x="142044" y="1923021"/>
                  <a:pt x="151990" y="1914144"/>
                </a:cubicBezTo>
                <a:cubicBezTo>
                  <a:pt x="204209" y="1867316"/>
                  <a:pt x="173127" y="1762030"/>
                  <a:pt x="271969" y="1748562"/>
                </a:cubicBezTo>
                <a:cubicBezTo>
                  <a:pt x="316415" y="1742443"/>
                  <a:pt x="337860" y="1703878"/>
                  <a:pt x="370497" y="1682760"/>
                </a:cubicBezTo>
                <a:cubicBezTo>
                  <a:pt x="483946" y="1608999"/>
                  <a:pt x="559787" y="1514119"/>
                  <a:pt x="594908" y="1383735"/>
                </a:cubicBezTo>
                <a:cubicBezTo>
                  <a:pt x="604543" y="1347620"/>
                  <a:pt x="641532" y="1318542"/>
                  <a:pt x="665465" y="1286713"/>
                </a:cubicBezTo>
                <a:cubicBezTo>
                  <a:pt x="653963" y="1263452"/>
                  <a:pt x="591178" y="1313647"/>
                  <a:pt x="613246" y="1252435"/>
                </a:cubicBezTo>
                <a:cubicBezTo>
                  <a:pt x="630030" y="1206524"/>
                  <a:pt x="672925" y="1178060"/>
                  <a:pt x="713332" y="1150820"/>
                </a:cubicBezTo>
                <a:cubicBezTo>
                  <a:pt x="759333" y="1119908"/>
                  <a:pt x="810307" y="1095117"/>
                  <a:pt x="831133" y="1037883"/>
                </a:cubicBezTo>
                <a:cubicBezTo>
                  <a:pt x="835485" y="1025640"/>
                  <a:pt x="849470" y="1012785"/>
                  <a:pt x="861903" y="1007887"/>
                </a:cubicBezTo>
                <a:cubicBezTo>
                  <a:pt x="1469751" y="63584"/>
                  <a:pt x="2910527" y="-1353"/>
                  <a:pt x="3239865" y="21"/>
                </a:cubicBezTo>
                <a:close/>
              </a:path>
            </a:pathLst>
          </a:custGeom>
        </p:spPr>
      </p:pic>
      <p:pic>
        <p:nvPicPr>
          <p:cNvPr id="8" name="Picture 7" descr="A logo with text and people in a circle&#10;&#10;Description automatically generated">
            <a:extLst>
              <a:ext uri="{FF2B5EF4-FFF2-40B4-BE49-F238E27FC236}">
                <a16:creationId xmlns:a16="http://schemas.microsoft.com/office/drawing/2014/main" id="{54CDB26B-41D0-BCF6-6D40-9BC04C61E65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" r="473" b="4"/>
          <a:stretch/>
        </p:blipFill>
        <p:spPr>
          <a:xfrm>
            <a:off x="8297412" y="3249377"/>
            <a:ext cx="3458367" cy="3476265"/>
          </a:xfrm>
          <a:custGeom>
            <a:avLst/>
            <a:gdLst/>
            <a:ahLst/>
            <a:cxnLst/>
            <a:rect l="l" t="t" r="r" b="b"/>
            <a:pathLst>
              <a:path w="3458367" h="3476265">
                <a:moveTo>
                  <a:pt x="549716" y="15"/>
                </a:moveTo>
                <a:cubicBezTo>
                  <a:pt x="557611" y="271"/>
                  <a:pt x="565778" y="3856"/>
                  <a:pt x="573176" y="4995"/>
                </a:cubicBezTo>
                <a:cubicBezTo>
                  <a:pt x="736504" y="30493"/>
                  <a:pt x="899830" y="58040"/>
                  <a:pt x="1063336" y="82398"/>
                </a:cubicBezTo>
                <a:cubicBezTo>
                  <a:pt x="1216195" y="105163"/>
                  <a:pt x="1370136" y="110398"/>
                  <a:pt x="1523717" y="122237"/>
                </a:cubicBezTo>
                <a:cubicBezTo>
                  <a:pt x="1709602" y="136580"/>
                  <a:pt x="1895127" y="156841"/>
                  <a:pt x="2079929" y="188711"/>
                </a:cubicBezTo>
                <a:cubicBezTo>
                  <a:pt x="2208244" y="211023"/>
                  <a:pt x="2337823" y="226502"/>
                  <a:pt x="2467943" y="208745"/>
                </a:cubicBezTo>
                <a:cubicBezTo>
                  <a:pt x="2474439" y="207834"/>
                  <a:pt x="2481839" y="204876"/>
                  <a:pt x="2487253" y="207834"/>
                </a:cubicBezTo>
                <a:cubicBezTo>
                  <a:pt x="2550419" y="241073"/>
                  <a:pt x="2619357" y="217168"/>
                  <a:pt x="2684869" y="238113"/>
                </a:cubicBezTo>
                <a:cubicBezTo>
                  <a:pt x="2668085" y="318930"/>
                  <a:pt x="2596077" y="312327"/>
                  <a:pt x="2555471" y="368331"/>
                </a:cubicBezTo>
                <a:cubicBezTo>
                  <a:pt x="2621704" y="390639"/>
                  <a:pt x="2681259" y="413178"/>
                  <a:pt x="2741717" y="430023"/>
                </a:cubicBezTo>
                <a:cubicBezTo>
                  <a:pt x="2805785" y="447780"/>
                  <a:pt x="2860106" y="495816"/>
                  <a:pt x="2922728" y="517216"/>
                </a:cubicBezTo>
                <a:cubicBezTo>
                  <a:pt x="2936085" y="521769"/>
                  <a:pt x="2952146" y="537704"/>
                  <a:pt x="2956838" y="553184"/>
                </a:cubicBezTo>
                <a:cubicBezTo>
                  <a:pt x="2971997" y="603269"/>
                  <a:pt x="3274647" y="743732"/>
                  <a:pt x="3238914" y="788350"/>
                </a:cubicBezTo>
                <a:cubicBezTo>
                  <a:pt x="3224116" y="806791"/>
                  <a:pt x="3204986" y="819994"/>
                  <a:pt x="3184953" y="838207"/>
                </a:cubicBezTo>
                <a:cubicBezTo>
                  <a:pt x="3215093" y="872582"/>
                  <a:pt x="3249020" y="887608"/>
                  <a:pt x="3285115" y="897852"/>
                </a:cubicBezTo>
                <a:cubicBezTo>
                  <a:pt x="3295944" y="901039"/>
                  <a:pt x="3306591" y="907413"/>
                  <a:pt x="3307674" y="922894"/>
                </a:cubicBezTo>
                <a:cubicBezTo>
                  <a:pt x="3308757" y="939056"/>
                  <a:pt x="3297748" y="945429"/>
                  <a:pt x="3288544" y="952944"/>
                </a:cubicBezTo>
                <a:cubicBezTo>
                  <a:pt x="3275731" y="963415"/>
                  <a:pt x="3263278" y="972523"/>
                  <a:pt x="3247036" y="973888"/>
                </a:cubicBezTo>
                <a:cubicBezTo>
                  <a:pt x="3220325" y="975937"/>
                  <a:pt x="3207513" y="1005076"/>
                  <a:pt x="3191993" y="1026930"/>
                </a:cubicBezTo>
                <a:cubicBezTo>
                  <a:pt x="3183330" y="1039224"/>
                  <a:pt x="3178998" y="1064037"/>
                  <a:pt x="3194157" y="1068363"/>
                </a:cubicBezTo>
                <a:cubicBezTo>
                  <a:pt x="3230613" y="1078837"/>
                  <a:pt x="3227725" y="1109114"/>
                  <a:pt x="3226824" y="1143489"/>
                </a:cubicBezTo>
                <a:cubicBezTo>
                  <a:pt x="3225560" y="1186061"/>
                  <a:pt x="3204083" y="1205638"/>
                  <a:pt x="3177734" y="1222030"/>
                </a:cubicBezTo>
                <a:cubicBezTo>
                  <a:pt x="3168711" y="1227720"/>
                  <a:pt x="3155898" y="1227493"/>
                  <a:pt x="3152469" y="1245250"/>
                </a:cubicBezTo>
                <a:cubicBezTo>
                  <a:pt x="3167267" y="1262097"/>
                  <a:pt x="3185314" y="1248439"/>
                  <a:pt x="3201197" y="1253218"/>
                </a:cubicBezTo>
                <a:cubicBezTo>
                  <a:pt x="3214370" y="1257088"/>
                  <a:pt x="3236208" y="1255040"/>
                  <a:pt x="3218160" y="1286000"/>
                </a:cubicBezTo>
                <a:cubicBezTo>
                  <a:pt x="3212926" y="1294878"/>
                  <a:pt x="3219062" y="1301709"/>
                  <a:pt x="3225741" y="1302392"/>
                </a:cubicBezTo>
                <a:cubicBezTo>
                  <a:pt x="3279159" y="1309449"/>
                  <a:pt x="3254615" y="1372054"/>
                  <a:pt x="3271761" y="1405063"/>
                </a:cubicBezTo>
                <a:cubicBezTo>
                  <a:pt x="3276452" y="1414169"/>
                  <a:pt x="3271399" y="1429877"/>
                  <a:pt x="3263999" y="1433747"/>
                </a:cubicBezTo>
                <a:cubicBezTo>
                  <a:pt x="3216716" y="1459245"/>
                  <a:pt x="3210220" y="1520028"/>
                  <a:pt x="3187299" y="1572389"/>
                </a:cubicBezTo>
                <a:cubicBezTo>
                  <a:pt x="3212205" y="1593104"/>
                  <a:pt x="3241982" y="1597657"/>
                  <a:pt x="3268872" y="1611089"/>
                </a:cubicBezTo>
                <a:cubicBezTo>
                  <a:pt x="3296846" y="1625204"/>
                  <a:pt x="3296846" y="1635676"/>
                  <a:pt x="3273746" y="1676653"/>
                </a:cubicBezTo>
                <a:cubicBezTo>
                  <a:pt x="3333842" y="1685532"/>
                  <a:pt x="3333842" y="1685532"/>
                  <a:pt x="3315254" y="1749957"/>
                </a:cubicBezTo>
                <a:cubicBezTo>
                  <a:pt x="3365607" y="1755877"/>
                  <a:pt x="3398812" y="1786382"/>
                  <a:pt x="3406572" y="1853085"/>
                </a:cubicBezTo>
                <a:cubicBezTo>
                  <a:pt x="3410362" y="1885411"/>
                  <a:pt x="3433101" y="1900663"/>
                  <a:pt x="3458367" y="1922291"/>
                </a:cubicBezTo>
                <a:cubicBezTo>
                  <a:pt x="3426966" y="1943236"/>
                  <a:pt x="3405669" y="1986945"/>
                  <a:pt x="3369034" y="1940730"/>
                </a:cubicBezTo>
                <a:cubicBezTo>
                  <a:pt x="3355680" y="1923885"/>
                  <a:pt x="3356941" y="1945284"/>
                  <a:pt x="3355138" y="1951430"/>
                </a:cubicBezTo>
                <a:cubicBezTo>
                  <a:pt x="3350807" y="1966455"/>
                  <a:pt x="3359830" y="1976472"/>
                  <a:pt x="3365786" y="1987854"/>
                </a:cubicBezTo>
                <a:cubicBezTo>
                  <a:pt x="3371561" y="1999237"/>
                  <a:pt x="3378420" y="2011302"/>
                  <a:pt x="3380043" y="2024054"/>
                </a:cubicBezTo>
                <a:cubicBezTo>
                  <a:pt x="3381125" y="2032931"/>
                  <a:pt x="3375892" y="2045905"/>
                  <a:pt x="3370117" y="2052509"/>
                </a:cubicBezTo>
                <a:cubicBezTo>
                  <a:pt x="3339797" y="2087340"/>
                  <a:pt x="3357844" y="2165652"/>
                  <a:pt x="3300454" y="2175670"/>
                </a:cubicBezTo>
                <a:cubicBezTo>
                  <a:pt x="3274647" y="2180221"/>
                  <a:pt x="3262195" y="2208906"/>
                  <a:pt x="3243246" y="2224614"/>
                </a:cubicBezTo>
                <a:cubicBezTo>
                  <a:pt x="3177374" y="2279478"/>
                  <a:pt x="3133338" y="2350051"/>
                  <a:pt x="3112946" y="2447031"/>
                </a:cubicBezTo>
                <a:cubicBezTo>
                  <a:pt x="3107352" y="2473894"/>
                  <a:pt x="3085875" y="2495522"/>
                  <a:pt x="3071979" y="2519197"/>
                </a:cubicBezTo>
                <a:cubicBezTo>
                  <a:pt x="3078657" y="2536499"/>
                  <a:pt x="3115112" y="2499164"/>
                  <a:pt x="3102298" y="2544694"/>
                </a:cubicBezTo>
                <a:cubicBezTo>
                  <a:pt x="3092553" y="2578843"/>
                  <a:pt x="3067647" y="2600014"/>
                  <a:pt x="3044185" y="2620276"/>
                </a:cubicBezTo>
                <a:cubicBezTo>
                  <a:pt x="3017476" y="2643268"/>
                  <a:pt x="2987879" y="2661708"/>
                  <a:pt x="2975787" y="2704279"/>
                </a:cubicBezTo>
                <a:cubicBezTo>
                  <a:pt x="2973260" y="2713386"/>
                  <a:pt x="2965140" y="2722947"/>
                  <a:pt x="2957921" y="2726591"/>
                </a:cubicBezTo>
                <a:cubicBezTo>
                  <a:pt x="2581458" y="3475797"/>
                  <a:pt x="1654740" y="3480805"/>
                  <a:pt x="1547901" y="3475568"/>
                </a:cubicBezTo>
                <a:cubicBezTo>
                  <a:pt x="1418503" y="3468966"/>
                  <a:pt x="1296143" y="3422753"/>
                  <a:pt x="1176132" y="3365156"/>
                </a:cubicBezTo>
                <a:cubicBezTo>
                  <a:pt x="1125418" y="3340797"/>
                  <a:pt x="1078316" y="3306195"/>
                  <a:pt x="1029045" y="3279332"/>
                </a:cubicBezTo>
                <a:cubicBezTo>
                  <a:pt x="961009" y="3242223"/>
                  <a:pt x="908492" y="3171424"/>
                  <a:pt x="840634" y="3141601"/>
                </a:cubicBezTo>
                <a:cubicBezTo>
                  <a:pt x="770793" y="3110867"/>
                  <a:pt x="711057" y="3054638"/>
                  <a:pt x="639229" y="3030734"/>
                </a:cubicBezTo>
                <a:cubicBezTo>
                  <a:pt x="601330" y="3017985"/>
                  <a:pt x="564695" y="2994993"/>
                  <a:pt x="570649" y="2929200"/>
                </a:cubicBezTo>
                <a:cubicBezTo>
                  <a:pt x="572274" y="2910532"/>
                  <a:pt x="562349" y="2895282"/>
                  <a:pt x="546647" y="2900745"/>
                </a:cubicBezTo>
                <a:cubicBezTo>
                  <a:pt x="516690" y="2910989"/>
                  <a:pt x="503154" y="2883898"/>
                  <a:pt x="486550" y="2863636"/>
                </a:cubicBezTo>
                <a:cubicBezTo>
                  <a:pt x="456953" y="2827667"/>
                  <a:pt x="428801" y="2789422"/>
                  <a:pt x="381697" y="2783503"/>
                </a:cubicBezTo>
                <a:cubicBezTo>
                  <a:pt x="390720" y="2755272"/>
                  <a:pt x="406060" y="2759371"/>
                  <a:pt x="420137" y="2765290"/>
                </a:cubicBezTo>
                <a:cubicBezTo>
                  <a:pt x="457133" y="2780772"/>
                  <a:pt x="493769" y="2798300"/>
                  <a:pt x="530765" y="2813781"/>
                </a:cubicBezTo>
                <a:cubicBezTo>
                  <a:pt x="554948" y="2823799"/>
                  <a:pt x="578952" y="2837912"/>
                  <a:pt x="611257" y="2826755"/>
                </a:cubicBezTo>
                <a:cubicBezTo>
                  <a:pt x="583463" y="2769843"/>
                  <a:pt x="536180" y="2759598"/>
                  <a:pt x="497920" y="2742071"/>
                </a:cubicBezTo>
                <a:cubicBezTo>
                  <a:pt x="450096" y="2719988"/>
                  <a:pt x="421942" y="2678326"/>
                  <a:pt x="388193" y="2631885"/>
                </a:cubicBezTo>
                <a:cubicBezTo>
                  <a:pt x="423386" y="2620730"/>
                  <a:pt x="445223" y="2654879"/>
                  <a:pt x="472834" y="2653056"/>
                </a:cubicBezTo>
                <a:cubicBezTo>
                  <a:pt x="474279" y="2647140"/>
                  <a:pt x="476804" y="2638488"/>
                  <a:pt x="476444" y="2638259"/>
                </a:cubicBezTo>
                <a:cubicBezTo>
                  <a:pt x="431326" y="2612763"/>
                  <a:pt x="410211" y="2564956"/>
                  <a:pt x="403173" y="2507131"/>
                </a:cubicBezTo>
                <a:cubicBezTo>
                  <a:pt x="399563" y="2477310"/>
                  <a:pt x="383140" y="2467976"/>
                  <a:pt x="366897" y="2454316"/>
                </a:cubicBezTo>
                <a:cubicBezTo>
                  <a:pt x="310230" y="2405826"/>
                  <a:pt x="250314" y="2361890"/>
                  <a:pt x="203752" y="2295188"/>
                </a:cubicBezTo>
                <a:cubicBezTo>
                  <a:pt x="257532" y="2304066"/>
                  <a:pt x="300665" y="2347547"/>
                  <a:pt x="358597" y="2366215"/>
                </a:cubicBezTo>
                <a:cubicBezTo>
                  <a:pt x="312577" y="2292910"/>
                  <a:pt x="253020" y="2255803"/>
                  <a:pt x="198698" y="2211409"/>
                </a:cubicBezTo>
                <a:cubicBezTo>
                  <a:pt x="173974" y="2191149"/>
                  <a:pt x="151055" y="2165197"/>
                  <a:pt x="121097" y="2154269"/>
                </a:cubicBezTo>
                <a:cubicBezTo>
                  <a:pt x="110448" y="2150400"/>
                  <a:pt x="92943" y="2142204"/>
                  <a:pt x="101425" y="2120577"/>
                </a:cubicBezTo>
                <a:cubicBezTo>
                  <a:pt x="108643" y="2102593"/>
                  <a:pt x="122900" y="2108055"/>
                  <a:pt x="135895" y="2113292"/>
                </a:cubicBezTo>
                <a:cubicBezTo>
                  <a:pt x="167116" y="2126269"/>
                  <a:pt x="199421" y="2126495"/>
                  <a:pt x="241652" y="2126269"/>
                </a:cubicBezTo>
                <a:cubicBezTo>
                  <a:pt x="206279" y="2066851"/>
                  <a:pt x="141489" y="2084608"/>
                  <a:pt x="111170" y="2022231"/>
                </a:cubicBezTo>
                <a:cubicBezTo>
                  <a:pt x="149069" y="2011302"/>
                  <a:pt x="178305" y="2033841"/>
                  <a:pt x="208987" y="2038166"/>
                </a:cubicBezTo>
                <a:cubicBezTo>
                  <a:pt x="236777" y="2042036"/>
                  <a:pt x="243636" y="2031565"/>
                  <a:pt x="237139" y="1997188"/>
                </a:cubicBezTo>
                <a:cubicBezTo>
                  <a:pt x="227034" y="1943690"/>
                  <a:pt x="242193" y="1916371"/>
                  <a:pt x="282618" y="1930941"/>
                </a:cubicBezTo>
                <a:cubicBezTo>
                  <a:pt x="320155" y="1944601"/>
                  <a:pt x="324125" y="1924568"/>
                  <a:pt x="314019" y="1894062"/>
                </a:cubicBezTo>
                <a:cubicBezTo>
                  <a:pt x="299582" y="1849671"/>
                  <a:pt x="316004" y="1815295"/>
                  <a:pt x="327194" y="1777960"/>
                </a:cubicBezTo>
                <a:cubicBezTo>
                  <a:pt x="344339" y="1721045"/>
                  <a:pt x="337121" y="1693272"/>
                  <a:pt x="300123" y="1650929"/>
                </a:cubicBezTo>
                <a:cubicBezTo>
                  <a:pt x="279370" y="1627251"/>
                  <a:pt x="256992" y="1607219"/>
                  <a:pt x="226852" y="1586731"/>
                </a:cubicBezTo>
                <a:cubicBezTo>
                  <a:pt x="296334" y="1575576"/>
                  <a:pt x="223423" y="1538013"/>
                  <a:pt x="247968" y="1514564"/>
                </a:cubicBezTo>
                <a:cubicBezTo>
                  <a:pt x="297056" y="1505003"/>
                  <a:pt x="337121" y="1579673"/>
                  <a:pt x="403895" y="1558274"/>
                </a:cubicBezTo>
                <a:cubicBezTo>
                  <a:pt x="321420" y="1493619"/>
                  <a:pt x="230281" y="1472448"/>
                  <a:pt x="170546" y="1386396"/>
                </a:cubicBezTo>
                <a:cubicBezTo>
                  <a:pt x="184261" y="1366817"/>
                  <a:pt x="197977" y="1385030"/>
                  <a:pt x="209707" y="1377746"/>
                </a:cubicBezTo>
                <a:cubicBezTo>
                  <a:pt x="209346" y="1373192"/>
                  <a:pt x="210250" y="1366362"/>
                  <a:pt x="208083" y="1364314"/>
                </a:cubicBezTo>
                <a:cubicBezTo>
                  <a:pt x="163508" y="1317416"/>
                  <a:pt x="162784" y="1316279"/>
                  <a:pt x="210610" y="1281675"/>
                </a:cubicBezTo>
                <a:cubicBezTo>
                  <a:pt x="227394" y="1269609"/>
                  <a:pt x="225950" y="1258909"/>
                  <a:pt x="217108" y="1243657"/>
                </a:cubicBezTo>
                <a:cubicBezTo>
                  <a:pt x="210790" y="1232957"/>
                  <a:pt x="203211" y="1223395"/>
                  <a:pt x="206820" y="1199947"/>
                </a:cubicBezTo>
                <a:cubicBezTo>
                  <a:pt x="232988" y="1229998"/>
                  <a:pt x="359499" y="1220208"/>
                  <a:pt x="381877" y="1217021"/>
                </a:cubicBezTo>
                <a:cubicBezTo>
                  <a:pt x="406963" y="1213607"/>
                  <a:pt x="431688" y="1199037"/>
                  <a:pt x="458035" y="1207003"/>
                </a:cubicBezTo>
                <a:cubicBezTo>
                  <a:pt x="479150" y="1213381"/>
                  <a:pt x="576966" y="1275073"/>
                  <a:pt x="590863" y="1204273"/>
                </a:cubicBezTo>
                <a:cubicBezTo>
                  <a:pt x="591585" y="1200858"/>
                  <a:pt x="631107" y="1208826"/>
                  <a:pt x="652403" y="1212696"/>
                </a:cubicBezTo>
                <a:cubicBezTo>
                  <a:pt x="671172" y="1215883"/>
                  <a:pt x="692288" y="1229998"/>
                  <a:pt x="704920" y="1201769"/>
                </a:cubicBezTo>
                <a:cubicBezTo>
                  <a:pt x="712320" y="1185150"/>
                  <a:pt x="681820" y="1153051"/>
                  <a:pt x="654569" y="1150320"/>
                </a:cubicBezTo>
                <a:cubicBezTo>
                  <a:pt x="630926" y="1147814"/>
                  <a:pt x="606202" y="1144172"/>
                  <a:pt x="583643" y="1151001"/>
                </a:cubicBezTo>
                <a:cubicBezTo>
                  <a:pt x="555852" y="1159198"/>
                  <a:pt x="540873" y="1145995"/>
                  <a:pt x="533111" y="1117538"/>
                </a:cubicBezTo>
                <a:cubicBezTo>
                  <a:pt x="524450" y="1086122"/>
                  <a:pt x="507845" y="1071550"/>
                  <a:pt x="484926" y="1056980"/>
                </a:cubicBezTo>
                <a:cubicBezTo>
                  <a:pt x="429340" y="1021696"/>
                  <a:pt x="375921" y="980946"/>
                  <a:pt x="314922" y="960456"/>
                </a:cubicBezTo>
                <a:cubicBezTo>
                  <a:pt x="302830" y="956358"/>
                  <a:pt x="289476" y="950894"/>
                  <a:pt x="283881" y="923805"/>
                </a:cubicBezTo>
                <a:cubicBezTo>
                  <a:pt x="449013" y="964326"/>
                  <a:pt x="599526" y="1069958"/>
                  <a:pt x="769890" y="1063811"/>
                </a:cubicBezTo>
                <a:cubicBezTo>
                  <a:pt x="723329" y="1030346"/>
                  <a:pt x="669369" y="1028524"/>
                  <a:pt x="619738" y="1005076"/>
                </a:cubicBezTo>
                <a:cubicBezTo>
                  <a:pt x="654930" y="987546"/>
                  <a:pt x="687956" y="1005759"/>
                  <a:pt x="721344" y="1015777"/>
                </a:cubicBezTo>
                <a:cubicBezTo>
                  <a:pt x="749317" y="1023970"/>
                  <a:pt x="774583" y="1025337"/>
                  <a:pt x="777650" y="976393"/>
                </a:cubicBezTo>
                <a:cubicBezTo>
                  <a:pt x="776566" y="973205"/>
                  <a:pt x="776747" y="969107"/>
                  <a:pt x="776929" y="965238"/>
                </a:cubicBezTo>
                <a:cubicBezTo>
                  <a:pt x="767542" y="944976"/>
                  <a:pt x="752926" y="934504"/>
                  <a:pt x="735601" y="928584"/>
                </a:cubicBezTo>
                <a:cubicBezTo>
                  <a:pt x="725133" y="924942"/>
                  <a:pt x="711237" y="919478"/>
                  <a:pt x="711416" y="904909"/>
                </a:cubicBezTo>
                <a:cubicBezTo>
                  <a:pt x="711958" y="850955"/>
                  <a:pt x="678571" y="835246"/>
                  <a:pt x="645185" y="819539"/>
                </a:cubicBezTo>
                <a:cubicBezTo>
                  <a:pt x="663773" y="792676"/>
                  <a:pt x="678391" y="812481"/>
                  <a:pt x="692468" y="810433"/>
                </a:cubicBezTo>
                <a:cubicBezTo>
                  <a:pt x="701672" y="809067"/>
                  <a:pt x="709973" y="806563"/>
                  <a:pt x="709973" y="792676"/>
                </a:cubicBezTo>
                <a:cubicBezTo>
                  <a:pt x="710154" y="781065"/>
                  <a:pt x="705822" y="767861"/>
                  <a:pt x="696799" y="767635"/>
                </a:cubicBezTo>
                <a:cubicBezTo>
                  <a:pt x="640312" y="765585"/>
                  <a:pt x="609090" y="690914"/>
                  <a:pt x="550437" y="690687"/>
                </a:cubicBezTo>
                <a:cubicBezTo>
                  <a:pt x="515425" y="690687"/>
                  <a:pt x="568666" y="648572"/>
                  <a:pt x="539068" y="631042"/>
                </a:cubicBezTo>
                <a:cubicBezTo>
                  <a:pt x="532570" y="627171"/>
                  <a:pt x="556032" y="621254"/>
                  <a:pt x="566500" y="622164"/>
                </a:cubicBezTo>
                <a:cubicBezTo>
                  <a:pt x="576786" y="623074"/>
                  <a:pt x="585990" y="634229"/>
                  <a:pt x="598443" y="626261"/>
                </a:cubicBezTo>
                <a:cubicBezTo>
                  <a:pt x="605300" y="597806"/>
                  <a:pt x="587615" y="587332"/>
                  <a:pt x="572996" y="579365"/>
                </a:cubicBezTo>
                <a:cubicBezTo>
                  <a:pt x="539247" y="560925"/>
                  <a:pt x="506402" y="538615"/>
                  <a:pt x="469405" y="532013"/>
                </a:cubicBezTo>
                <a:cubicBezTo>
                  <a:pt x="456232" y="529737"/>
                  <a:pt x="488355" y="499231"/>
                  <a:pt x="494671" y="488532"/>
                </a:cubicBezTo>
                <a:cubicBezTo>
                  <a:pt x="345782" y="376071"/>
                  <a:pt x="166756" y="381762"/>
                  <a:pt x="0" y="290928"/>
                </a:cubicBezTo>
                <a:cubicBezTo>
                  <a:pt x="36817" y="273173"/>
                  <a:pt x="63887" y="286148"/>
                  <a:pt x="88973" y="288880"/>
                </a:cubicBezTo>
                <a:cubicBezTo>
                  <a:pt x="151595" y="295708"/>
                  <a:pt x="213498" y="309822"/>
                  <a:pt x="275940" y="318246"/>
                </a:cubicBezTo>
                <a:cubicBezTo>
                  <a:pt x="306620" y="322344"/>
                  <a:pt x="335134" y="337824"/>
                  <a:pt x="369424" y="313239"/>
                </a:cubicBezTo>
                <a:cubicBezTo>
                  <a:pt x="392343" y="296847"/>
                  <a:pt x="428980" y="314604"/>
                  <a:pt x="457133" y="329174"/>
                </a:cubicBezTo>
                <a:cubicBezTo>
                  <a:pt x="480414" y="341238"/>
                  <a:pt x="502612" y="344425"/>
                  <a:pt x="533474" y="329174"/>
                </a:cubicBezTo>
                <a:cubicBezTo>
                  <a:pt x="505501" y="319841"/>
                  <a:pt x="484023" y="311645"/>
                  <a:pt x="462006" y="305953"/>
                </a:cubicBezTo>
                <a:cubicBezTo>
                  <a:pt x="444501" y="301400"/>
                  <a:pt x="486189" y="282960"/>
                  <a:pt x="507484" y="285237"/>
                </a:cubicBezTo>
                <a:cubicBezTo>
                  <a:pt x="537263" y="288423"/>
                  <a:pt x="520479" y="276586"/>
                  <a:pt x="515425" y="260195"/>
                </a:cubicBezTo>
                <a:cubicBezTo>
                  <a:pt x="510012" y="242665"/>
                  <a:pt x="526074" y="237203"/>
                  <a:pt x="536180" y="240844"/>
                </a:cubicBezTo>
                <a:cubicBezTo>
                  <a:pt x="574980" y="255187"/>
                  <a:pt x="613602" y="229917"/>
                  <a:pt x="653668" y="250407"/>
                </a:cubicBezTo>
                <a:cubicBezTo>
                  <a:pt x="643561" y="199867"/>
                  <a:pt x="621723" y="177784"/>
                  <a:pt x="576064" y="170726"/>
                </a:cubicBezTo>
                <a:cubicBezTo>
                  <a:pt x="558919" y="167996"/>
                  <a:pt x="541053" y="172093"/>
                  <a:pt x="526254" y="157522"/>
                </a:cubicBezTo>
                <a:cubicBezTo>
                  <a:pt x="517771" y="149101"/>
                  <a:pt x="508207" y="139084"/>
                  <a:pt x="514884" y="123603"/>
                </a:cubicBezTo>
                <a:cubicBezTo>
                  <a:pt x="519577" y="112674"/>
                  <a:pt x="529684" y="112674"/>
                  <a:pt x="537985" y="116318"/>
                </a:cubicBezTo>
                <a:cubicBezTo>
                  <a:pt x="575162" y="132483"/>
                  <a:pt x="613963" y="138400"/>
                  <a:pt x="652764" y="144320"/>
                </a:cubicBezTo>
                <a:cubicBezTo>
                  <a:pt x="658720" y="145230"/>
                  <a:pt x="665397" y="148191"/>
                  <a:pt x="672075" y="133164"/>
                </a:cubicBezTo>
                <a:cubicBezTo>
                  <a:pt x="599526" y="108805"/>
                  <a:pt x="530585" y="74202"/>
                  <a:pt x="456051" y="60770"/>
                </a:cubicBezTo>
                <a:cubicBezTo>
                  <a:pt x="457133" y="54397"/>
                  <a:pt x="458215" y="48022"/>
                  <a:pt x="459299" y="41649"/>
                </a:cubicBezTo>
                <a:cubicBezTo>
                  <a:pt x="517591" y="50753"/>
                  <a:pt x="575884" y="59859"/>
                  <a:pt x="649515" y="71243"/>
                </a:cubicBezTo>
                <a:cubicBezTo>
                  <a:pt x="604218" y="35045"/>
                  <a:pt x="561446" y="47111"/>
                  <a:pt x="527879" y="15013"/>
                </a:cubicBezTo>
                <a:cubicBezTo>
                  <a:pt x="534195" y="2833"/>
                  <a:pt x="541820" y="-241"/>
                  <a:pt x="549716" y="15"/>
                </a:cubicBezTo>
                <a:close/>
              </a:path>
            </a:pathLst>
          </a:custGeom>
        </p:spPr>
      </p:pic>
      <p:pic>
        <p:nvPicPr>
          <p:cNvPr id="6" name="Picture 5" descr="A group of colorful circles&#10;&#10;Description automatically generated">
            <a:extLst>
              <a:ext uri="{FF2B5EF4-FFF2-40B4-BE49-F238E27FC236}">
                <a16:creationId xmlns:a16="http://schemas.microsoft.com/office/drawing/2014/main" id="{E750FFDF-2780-8943-6390-B1CA1D4F3B7F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05" r="3079" b="-1"/>
          <a:stretch/>
        </p:blipFill>
        <p:spPr>
          <a:xfrm>
            <a:off x="7504874" y="109949"/>
            <a:ext cx="4579876" cy="3536502"/>
          </a:xfrm>
          <a:custGeom>
            <a:avLst/>
            <a:gdLst/>
            <a:ahLst/>
            <a:cxnLst/>
            <a:rect l="l" t="t" r="r" b="b"/>
            <a:pathLst>
              <a:path w="4579876" h="3536502">
                <a:moveTo>
                  <a:pt x="457312" y="0"/>
                </a:moveTo>
                <a:lnTo>
                  <a:pt x="4579876" y="0"/>
                </a:lnTo>
                <a:lnTo>
                  <a:pt x="4579876" y="3057029"/>
                </a:lnTo>
                <a:lnTo>
                  <a:pt x="4508441" y="3086568"/>
                </a:lnTo>
                <a:cubicBezTo>
                  <a:pt x="4391572" y="3126663"/>
                  <a:pt x="4301124" y="3221848"/>
                  <a:pt x="4183947" y="3271738"/>
                </a:cubicBezTo>
                <a:cubicBezTo>
                  <a:pt x="4099090" y="3307854"/>
                  <a:pt x="4017967" y="3354374"/>
                  <a:pt x="3930625" y="3387123"/>
                </a:cubicBezTo>
                <a:cubicBezTo>
                  <a:pt x="3723932" y="3464557"/>
                  <a:pt x="3513195" y="3526689"/>
                  <a:pt x="3290337" y="3535564"/>
                </a:cubicBezTo>
                <a:cubicBezTo>
                  <a:pt x="3106332" y="3542605"/>
                  <a:pt x="1510274" y="3535872"/>
                  <a:pt x="861903" y="2528615"/>
                </a:cubicBezTo>
                <a:cubicBezTo>
                  <a:pt x="849470" y="2523717"/>
                  <a:pt x="835485" y="2510862"/>
                  <a:pt x="831133" y="2498619"/>
                </a:cubicBezTo>
                <a:cubicBezTo>
                  <a:pt x="810307" y="2441385"/>
                  <a:pt x="759333" y="2416594"/>
                  <a:pt x="713333" y="2385682"/>
                </a:cubicBezTo>
                <a:cubicBezTo>
                  <a:pt x="672925" y="2358442"/>
                  <a:pt x="630030" y="2329978"/>
                  <a:pt x="613246" y="2284067"/>
                </a:cubicBezTo>
                <a:cubicBezTo>
                  <a:pt x="591179" y="2222855"/>
                  <a:pt x="653963" y="2273050"/>
                  <a:pt x="665465" y="2249789"/>
                </a:cubicBezTo>
                <a:cubicBezTo>
                  <a:pt x="641532" y="2217960"/>
                  <a:pt x="604543" y="2188882"/>
                  <a:pt x="594908" y="2152767"/>
                </a:cubicBezTo>
                <a:cubicBezTo>
                  <a:pt x="559787" y="2022383"/>
                  <a:pt x="483946" y="1927503"/>
                  <a:pt x="370497" y="1853742"/>
                </a:cubicBezTo>
                <a:cubicBezTo>
                  <a:pt x="337861" y="1832624"/>
                  <a:pt x="316415" y="1794059"/>
                  <a:pt x="271969" y="1787940"/>
                </a:cubicBezTo>
                <a:cubicBezTo>
                  <a:pt x="173127" y="1774472"/>
                  <a:pt x="204209" y="1669186"/>
                  <a:pt x="151990" y="1622358"/>
                </a:cubicBezTo>
                <a:cubicBezTo>
                  <a:pt x="142044" y="1613481"/>
                  <a:pt x="133031" y="1596037"/>
                  <a:pt x="134895" y="1584102"/>
                </a:cubicBezTo>
                <a:cubicBezTo>
                  <a:pt x="137691" y="1566959"/>
                  <a:pt x="149504" y="1550739"/>
                  <a:pt x="159450" y="1535435"/>
                </a:cubicBezTo>
                <a:cubicBezTo>
                  <a:pt x="169708" y="1520133"/>
                  <a:pt x="185247" y="1506664"/>
                  <a:pt x="177788" y="1486465"/>
                </a:cubicBezTo>
                <a:cubicBezTo>
                  <a:pt x="174683" y="1478202"/>
                  <a:pt x="176855" y="1449432"/>
                  <a:pt x="153856" y="1472079"/>
                </a:cubicBezTo>
                <a:cubicBezTo>
                  <a:pt x="90760" y="1534212"/>
                  <a:pt x="54082" y="1475449"/>
                  <a:pt x="0" y="1447289"/>
                </a:cubicBezTo>
                <a:cubicBezTo>
                  <a:pt x="43515" y="1418212"/>
                  <a:pt x="82677" y="1397707"/>
                  <a:pt x="89205" y="1354247"/>
                </a:cubicBezTo>
                <a:cubicBezTo>
                  <a:pt x="102570" y="1264569"/>
                  <a:pt x="159758" y="1223557"/>
                  <a:pt x="246479" y="1215599"/>
                </a:cubicBezTo>
                <a:cubicBezTo>
                  <a:pt x="214465" y="1128983"/>
                  <a:pt x="214465" y="1128983"/>
                  <a:pt x="317968" y="1117045"/>
                </a:cubicBezTo>
                <a:cubicBezTo>
                  <a:pt x="278183" y="1061955"/>
                  <a:pt x="278183" y="1047876"/>
                  <a:pt x="326362" y="1028900"/>
                </a:cubicBezTo>
                <a:cubicBezTo>
                  <a:pt x="372673" y="1010841"/>
                  <a:pt x="423957" y="1004720"/>
                  <a:pt x="466852" y="976870"/>
                </a:cubicBezTo>
                <a:cubicBezTo>
                  <a:pt x="427377" y="906475"/>
                  <a:pt x="416188" y="824756"/>
                  <a:pt x="334754" y="790475"/>
                </a:cubicBezTo>
                <a:cubicBezTo>
                  <a:pt x="322010" y="785272"/>
                  <a:pt x="313307" y="764154"/>
                  <a:pt x="321386" y="751912"/>
                </a:cubicBezTo>
                <a:cubicBezTo>
                  <a:pt x="350915" y="707534"/>
                  <a:pt x="308644" y="623365"/>
                  <a:pt x="400645" y="613877"/>
                </a:cubicBezTo>
                <a:cubicBezTo>
                  <a:pt x="412147" y="612959"/>
                  <a:pt x="422716" y="603776"/>
                  <a:pt x="413701" y="591839"/>
                </a:cubicBezTo>
                <a:cubicBezTo>
                  <a:pt x="382618" y="550216"/>
                  <a:pt x="420228" y="552969"/>
                  <a:pt x="442917" y="547767"/>
                </a:cubicBezTo>
                <a:cubicBezTo>
                  <a:pt x="470271" y="541341"/>
                  <a:pt x="501353" y="559703"/>
                  <a:pt x="526840" y="537055"/>
                </a:cubicBezTo>
                <a:cubicBezTo>
                  <a:pt x="520932" y="513181"/>
                  <a:pt x="498866" y="513487"/>
                  <a:pt x="483325" y="505836"/>
                </a:cubicBezTo>
                <a:cubicBezTo>
                  <a:pt x="437946" y="483799"/>
                  <a:pt x="400956" y="457479"/>
                  <a:pt x="398780" y="400243"/>
                </a:cubicBezTo>
                <a:cubicBezTo>
                  <a:pt x="397229" y="354028"/>
                  <a:pt x="392255" y="313323"/>
                  <a:pt x="455041" y="299242"/>
                </a:cubicBezTo>
                <a:cubicBezTo>
                  <a:pt x="481149" y="293426"/>
                  <a:pt x="473687" y="260067"/>
                  <a:pt x="458769" y="243538"/>
                </a:cubicBezTo>
                <a:cubicBezTo>
                  <a:pt x="432038" y="214157"/>
                  <a:pt x="409972" y="174981"/>
                  <a:pt x="363969" y="172227"/>
                </a:cubicBezTo>
                <a:cubicBezTo>
                  <a:pt x="335995" y="170391"/>
                  <a:pt x="314549" y="158146"/>
                  <a:pt x="292481" y="144069"/>
                </a:cubicBezTo>
                <a:cubicBezTo>
                  <a:pt x="276630" y="133966"/>
                  <a:pt x="257670" y="125398"/>
                  <a:pt x="259534" y="103668"/>
                </a:cubicBezTo>
                <a:cubicBezTo>
                  <a:pt x="261399" y="82855"/>
                  <a:pt x="279736" y="74286"/>
                  <a:pt x="298387" y="70001"/>
                </a:cubicBezTo>
                <a:cubicBezTo>
                  <a:pt x="345011" y="59672"/>
                  <a:pt x="389535" y="45726"/>
                  <a:pt x="430782" y="19902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8691983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E1ECE-7F49-350C-333F-2F66C2FE5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>
                <a:latin typeface="Palatino Linotype" panose="02040502050505030304" pitchFamily="18" charset="0"/>
              </a:rPr>
              <a:t>Obiettivi della presentazione</a:t>
            </a:r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0A16C-8C99-34F7-BB7D-0D95F08521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>
                <a:latin typeface="Palatino Linotype" panose="02040502050505030304" pitchFamily="18" charset="0"/>
              </a:rPr>
              <a:t>Perché le donne sono più inattive degli uomini sul mercato del lavoro?</a:t>
            </a:r>
          </a:p>
          <a:p>
            <a:r>
              <a:rPr lang="it-IT" dirty="0">
                <a:latin typeface="Palatino Linotype" panose="02040502050505030304" pitchFamily="18" charset="0"/>
              </a:rPr>
              <a:t>Dove lavorano le donne? In quali settori? Quanto sono segregate?</a:t>
            </a:r>
          </a:p>
          <a:p>
            <a:r>
              <a:rPr lang="it-IT" dirty="0">
                <a:latin typeface="Palatino Linotype" panose="02040502050505030304" pitchFamily="18" charset="0"/>
              </a:rPr>
              <a:t>Quale è l’impatto economico e sociale della segregazione e del basso tasso di attività?</a:t>
            </a:r>
            <a:endParaRPr lang="en-US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06159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FA943-9101-1B49-48AC-17D3C1A0D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416702" cy="1045386"/>
          </a:xfrm>
        </p:spPr>
        <p:txBody>
          <a:bodyPr/>
          <a:lstStyle/>
          <a:p>
            <a:pPr algn="ctr"/>
            <a:r>
              <a:rPr lang="it-IT" dirty="0">
                <a:latin typeface="Palatino Linotype" panose="02040502050505030304" pitchFamily="18" charset="0"/>
              </a:rPr>
              <a:t>Tasso di attività femminile</a:t>
            </a:r>
            <a:endParaRPr lang="en-US" dirty="0">
              <a:latin typeface="Palatino Linotype" panose="0204050205050503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DEC70D8-7E70-FE3B-89C5-62A178B0CFB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1750979"/>
            <a:ext cx="5218004" cy="4182893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177981-351D-2E05-D8F0-2F8BC9D653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1624519"/>
            <a:ext cx="5257800" cy="455244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it-IT" dirty="0">
                <a:latin typeface="Palatino Linotype" panose="02040502050505030304" pitchFamily="18" charset="0"/>
              </a:rPr>
              <a:t>In EU il tasso di attività femminile è circa il 70%, </a:t>
            </a:r>
          </a:p>
          <a:p>
            <a:pPr marL="0" indent="0">
              <a:buNone/>
            </a:pPr>
            <a:r>
              <a:rPr lang="it-IT" dirty="0">
                <a:latin typeface="Palatino Linotype" panose="02040502050505030304" pitchFamily="18" charset="0"/>
              </a:rPr>
              <a:t>in Italia il 55% con enormi differenze tra regioni. </a:t>
            </a:r>
          </a:p>
          <a:p>
            <a:pPr marL="0" indent="0">
              <a:buNone/>
            </a:pPr>
            <a:r>
              <a:rPr lang="it-IT" dirty="0">
                <a:latin typeface="Palatino Linotype" panose="02040502050505030304" pitchFamily="18" charset="0"/>
              </a:rPr>
              <a:t>Particolarmente basso in regioni quali: </a:t>
            </a:r>
          </a:p>
          <a:p>
            <a:pPr marL="0" indent="0">
              <a:buNone/>
            </a:pPr>
            <a:r>
              <a:rPr lang="it-IT" dirty="0">
                <a:latin typeface="Palatino Linotype" panose="02040502050505030304" pitchFamily="18" charset="0"/>
              </a:rPr>
              <a:t>Calabria, Campania, Sicilia, Puglia (sotto il 40%)</a:t>
            </a:r>
          </a:p>
          <a:p>
            <a:pPr marL="0" indent="0">
              <a:buNone/>
            </a:pPr>
            <a:endParaRPr lang="it-IT" dirty="0">
              <a:latin typeface="Palatino Linotype" panose="02040502050505030304" pitchFamily="18" charset="0"/>
            </a:endParaRPr>
          </a:p>
          <a:p>
            <a:pPr marL="0" indent="0">
              <a:buNone/>
            </a:pPr>
            <a:r>
              <a:rPr lang="it-IT" sz="2400" dirty="0">
                <a:latin typeface="Palatino Linotype" panose="02040502050505030304" pitchFamily="18" charset="0"/>
              </a:rPr>
              <a:t>Tasso di attività=</a:t>
            </a:r>
          </a:p>
          <a:p>
            <a:pPr marL="0" indent="0">
              <a:buNone/>
            </a:pPr>
            <a:r>
              <a:rPr lang="it-IT" sz="2400" dirty="0">
                <a:latin typeface="Palatino Linotype" panose="02040502050505030304" pitchFamily="18" charset="0"/>
              </a:rPr>
              <a:t>(</a:t>
            </a:r>
            <a:r>
              <a:rPr lang="it-IT" sz="2400" dirty="0" err="1">
                <a:latin typeface="Palatino Linotype" panose="02040502050505030304" pitchFamily="18" charset="0"/>
              </a:rPr>
              <a:t>occupati+disoccupati</a:t>
            </a:r>
            <a:r>
              <a:rPr lang="it-IT" sz="2400" dirty="0">
                <a:latin typeface="Palatino Linotype" panose="02040502050505030304" pitchFamily="18" charset="0"/>
              </a:rPr>
              <a:t>)/popolazione)</a:t>
            </a:r>
          </a:p>
          <a:p>
            <a:pPr marL="0" indent="0">
              <a:buNone/>
            </a:pPr>
            <a:r>
              <a:rPr lang="it-IT" sz="1100" dirty="0">
                <a:latin typeface="Palatino Linotype" panose="02040502050505030304" pitchFamily="18" charset="0"/>
              </a:rPr>
              <a:t>Fonte: Istat 2023</a:t>
            </a:r>
            <a:endParaRPr lang="en-US" sz="1100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19195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2E1DD-D016-D7AA-EACE-E0FAB8534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>
                <a:latin typeface="Palatino Linotype" panose="02040502050505030304" pitchFamily="18" charset="0"/>
              </a:rPr>
              <a:t>Tasso di attività maschile</a:t>
            </a:r>
            <a:endParaRPr lang="en-US" dirty="0">
              <a:latin typeface="Palatino Linotype" panose="02040502050505030304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654360D-FE83-C825-71D1-9B0E7FB470D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199" y="2096430"/>
            <a:ext cx="5258987" cy="386662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00E014-AB27-4064-BA50-60FE8E1E2BC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it-IT" sz="3200" dirty="0">
                <a:latin typeface="Palatino Linotype" panose="02040502050505030304" pitchFamily="18" charset="0"/>
              </a:rPr>
              <a:t>Il tasso di attività maschile è in media il  74%;</a:t>
            </a:r>
          </a:p>
          <a:p>
            <a:pPr marL="0" indent="0">
              <a:buNone/>
            </a:pPr>
            <a:r>
              <a:rPr lang="it-IT" sz="3200" dirty="0">
                <a:latin typeface="Palatino Linotype" panose="02040502050505030304" pitchFamily="18" charset="0"/>
              </a:rPr>
              <a:t>in linea con la media europea.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it-IT" sz="1200" dirty="0">
                <a:latin typeface="Palatino Linotype" panose="02040502050505030304" pitchFamily="18" charset="0"/>
              </a:rPr>
              <a:t>Fonte: Istat 2023</a:t>
            </a:r>
            <a:endParaRPr lang="en-US" sz="1200" dirty="0">
              <a:latin typeface="Palatino Linotype" panose="0204050205050503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113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477BD-D1C8-09F8-CABC-A4404987D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it-IT" sz="4000" dirty="0">
                <a:latin typeface="Palatino Linotype" panose="02040502050505030304" pitchFamily="18" charset="0"/>
              </a:rPr>
              <a:t>Differenze tra tassi di attività </a:t>
            </a:r>
            <a:br>
              <a:rPr lang="it-IT" sz="4000" dirty="0">
                <a:latin typeface="Palatino Linotype" panose="02040502050505030304" pitchFamily="18" charset="0"/>
              </a:rPr>
            </a:br>
            <a:r>
              <a:rPr lang="it-IT" sz="4000" dirty="0">
                <a:latin typeface="Palatino Linotype" panose="02040502050505030304" pitchFamily="18" charset="0"/>
              </a:rPr>
              <a:t>maschile e femminile</a:t>
            </a:r>
            <a:endParaRPr lang="en-US" sz="4000" dirty="0">
              <a:latin typeface="Palatino Linotype" panose="02040502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E5DE7-B56C-64CC-36B7-617B25BBAC3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>
                <a:latin typeface="Palatino Linotype" panose="02040502050505030304" pitchFamily="18" charset="0"/>
              </a:rPr>
              <a:t>Regioni con più bassa differenza: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latin typeface="Palatino Linotype" panose="02040502050505030304" pitchFamily="18" charset="0"/>
              </a:rPr>
              <a:t>Le </a:t>
            </a:r>
            <a:r>
              <a:rPr lang="en-US" dirty="0" err="1">
                <a:latin typeface="Palatino Linotype" panose="02040502050505030304" pitchFamily="18" charset="0"/>
              </a:rPr>
              <a:t>donne</a:t>
            </a:r>
            <a:r>
              <a:rPr lang="en-US" dirty="0">
                <a:latin typeface="Palatino Linotype" panose="02040502050505030304" pitchFamily="18" charset="0"/>
              </a:rPr>
              <a:t> </a:t>
            </a:r>
            <a:r>
              <a:rPr lang="en-US" dirty="0" err="1">
                <a:latin typeface="Palatino Linotype" panose="02040502050505030304" pitchFamily="18" charset="0"/>
              </a:rPr>
              <a:t>hanno</a:t>
            </a:r>
            <a:r>
              <a:rPr lang="en-US" dirty="0">
                <a:latin typeface="Palatino Linotype" panose="02040502050505030304" pitchFamily="18" charset="0"/>
              </a:rPr>
              <a:t> una </a:t>
            </a:r>
            <a:r>
              <a:rPr lang="en-US" dirty="0" err="1">
                <a:latin typeface="Palatino Linotype" panose="02040502050505030304" pitchFamily="18" charset="0"/>
              </a:rPr>
              <a:t>differenza</a:t>
            </a:r>
            <a:r>
              <a:rPr lang="en-US" dirty="0">
                <a:latin typeface="Palatino Linotype" panose="02040502050505030304" pitchFamily="18" charset="0"/>
              </a:rPr>
              <a:t> </a:t>
            </a:r>
            <a:r>
              <a:rPr lang="en-US" dirty="0" err="1">
                <a:latin typeface="Palatino Linotype" panose="02040502050505030304" pitchFamily="18" charset="0"/>
              </a:rPr>
              <a:t>tra</a:t>
            </a:r>
            <a:r>
              <a:rPr lang="en-US" dirty="0">
                <a:latin typeface="Palatino Linotype" panose="02040502050505030304" pitchFamily="18" charset="0"/>
              </a:rPr>
              <a:t> il 7% ed il 12%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E25F301-FDA2-D22B-2AEF-FE5A07A2344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>
                <a:latin typeface="Palatino Linotype" panose="02040502050505030304" pitchFamily="18" charset="0"/>
              </a:rPr>
              <a:t>Regioni con più  alta differenza:</a:t>
            </a:r>
          </a:p>
          <a:p>
            <a:endParaRPr lang="it-IT" dirty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>
                <a:latin typeface="Palatino Linotype" panose="02040502050505030304" pitchFamily="18" charset="0"/>
              </a:rPr>
              <a:t>In questo caso le donne hanno una differenza superiore al 25%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0C48672-D93F-B00B-23A5-F513B5C527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452" y="2796193"/>
            <a:ext cx="4401765" cy="184390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B97554D-DF56-1535-08EA-A0B4E83752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4150" y="2796194"/>
            <a:ext cx="4070528" cy="184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7741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6780D-16FD-0C8B-D113-A827C7DFA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>
                <a:latin typeface="Palatino Linotype" panose="02040502050505030304" pitchFamily="18" charset="0"/>
              </a:rPr>
              <a:t>Tasso di inattività</a:t>
            </a:r>
            <a:br>
              <a:rPr lang="it-IT" dirty="0">
                <a:latin typeface="Palatino Linotype" panose="02040502050505030304" pitchFamily="18" charset="0"/>
              </a:rPr>
            </a:br>
            <a:r>
              <a:rPr lang="it-IT" sz="1200" dirty="0">
                <a:latin typeface="Palatino Linotype" panose="02040502050505030304" pitchFamily="18" charset="0"/>
              </a:rPr>
              <a:t>Fonte Istat 2023</a:t>
            </a:r>
            <a:endParaRPr lang="en-US" sz="1200" dirty="0">
              <a:latin typeface="Palatino Linotype" panose="0204050205050503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29EBC3-4CDC-2E53-8BA8-F18F5B26DA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4607701" cy="429739"/>
          </a:xfrm>
        </p:spPr>
        <p:txBody>
          <a:bodyPr/>
          <a:lstStyle/>
          <a:p>
            <a:pPr algn="ctr"/>
            <a:r>
              <a:rPr lang="it-IT" dirty="0">
                <a:latin typeface="Palatino Linotype" panose="02040502050505030304" pitchFamily="18" charset="0"/>
              </a:rPr>
              <a:t>Uomini</a:t>
            </a:r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498B48-3C76-1CBE-3178-7B69C7D83D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4751962" cy="429739"/>
          </a:xfrm>
        </p:spPr>
        <p:txBody>
          <a:bodyPr/>
          <a:lstStyle/>
          <a:p>
            <a:pPr algn="ctr"/>
            <a:r>
              <a:rPr lang="it-IT" dirty="0">
                <a:latin typeface="Palatino Linotype" panose="02040502050505030304" pitchFamily="18" charset="0"/>
              </a:rPr>
              <a:t>Donne</a:t>
            </a:r>
            <a:endParaRPr lang="en-US" dirty="0">
              <a:latin typeface="Palatino Linotype" panose="02040502050505030304" pitchFamily="18" charset="0"/>
            </a:endParaRPr>
          </a:p>
        </p:txBody>
      </p:sp>
      <p:pic>
        <p:nvPicPr>
          <p:cNvPr id="26" name="Content Placeholder 25">
            <a:extLst>
              <a:ext uri="{FF2B5EF4-FFF2-40B4-BE49-F238E27FC236}">
                <a16:creationId xmlns:a16="http://schemas.microsoft.com/office/drawing/2014/main" id="{A17C51C7-CC1A-EAB4-25F1-2139D7C8E692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6194427" y="2210526"/>
            <a:ext cx="5404363" cy="3952301"/>
          </a:xfrm>
        </p:spPr>
      </p:pic>
      <p:pic>
        <p:nvPicPr>
          <p:cNvPr id="24" name="Content Placeholder 23">
            <a:extLst>
              <a:ext uri="{FF2B5EF4-FFF2-40B4-BE49-F238E27FC236}">
                <a16:creationId xmlns:a16="http://schemas.microsoft.com/office/drawing/2014/main" id="{84615278-AFBD-F383-11E7-12BEEC22AFF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241738" y="2110902"/>
            <a:ext cx="5755837" cy="4051925"/>
          </a:xfrm>
        </p:spPr>
      </p:pic>
    </p:spTree>
    <p:extLst>
      <p:ext uri="{BB962C8B-B14F-4D97-AF65-F5344CB8AC3E}">
        <p14:creationId xmlns:p14="http://schemas.microsoft.com/office/powerpoint/2010/main" val="33787502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F7D9B-0F79-7E26-E4F4-27BB17228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it-IT" sz="3600" dirty="0">
                <a:latin typeface="Palatino Linotype" panose="02040502050505030304" pitchFamily="18" charset="0"/>
              </a:rPr>
              <a:t>Le donne tra i 15-34 anni spesso NON studiano e non lavorano (NEET)</a:t>
            </a:r>
            <a:br>
              <a:rPr lang="it-IT" sz="3600" dirty="0">
                <a:latin typeface="Palatino Linotype" panose="02040502050505030304" pitchFamily="18" charset="0"/>
              </a:rPr>
            </a:br>
            <a:r>
              <a:rPr lang="it-IT" sz="1300" dirty="0">
                <a:latin typeface="Palatino Linotype" panose="02040502050505030304" pitchFamily="18" charset="0"/>
              </a:rPr>
              <a:t>Fonte: Istat 2023</a:t>
            </a:r>
            <a:endParaRPr lang="en-US" sz="1300" dirty="0">
              <a:latin typeface="Palatino Linotype" panose="02040502050505030304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AC2291A-3A6D-7904-723D-A29FBDCA1C0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2096430"/>
            <a:ext cx="5181600" cy="3809727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607EA2-3412-D8B1-2F59-47A7A8BD4E7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>
                <a:latin typeface="Palatino Linotype" panose="02040502050505030304" pitchFamily="18" charset="0"/>
              </a:rPr>
              <a:t>Le donne tra i 15-34 anni, soprattutto nelle regioni del Sud, non studiano e non lavorano.</a:t>
            </a:r>
          </a:p>
          <a:p>
            <a:pPr marL="0" indent="0">
              <a:buNone/>
            </a:pPr>
            <a:r>
              <a:rPr lang="it-IT" dirty="0">
                <a:latin typeface="Palatino Linotype" panose="02040502050505030304" pitchFamily="18" charset="0"/>
              </a:rPr>
              <a:t>Quali sono i motivi?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27510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5A9C9-0292-C2BE-FC6F-8A128944D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>
                <a:latin typeface="Palatino Linotype" panose="02040502050505030304" pitchFamily="18" charset="0"/>
              </a:rPr>
              <a:t>Da dove nascono le differenze?</a:t>
            </a:r>
            <a:endParaRPr lang="en-US" dirty="0">
              <a:latin typeface="Palatino Linotype" panose="0204050205050503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D6820AB-622A-C5F4-FC34-9902BD78CE7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1825625"/>
            <a:ext cx="5181600" cy="4082711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ADA636-84FB-A891-6BE5-93C8FB34460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>
                <a:latin typeface="Palatino Linotype" panose="02040502050505030304" pitchFamily="18" charset="0"/>
              </a:rPr>
              <a:t>La differenza non è ascrivibile all’istruzione; </a:t>
            </a:r>
          </a:p>
          <a:p>
            <a:pPr marL="0" indent="0">
              <a:buNone/>
            </a:pPr>
            <a:r>
              <a:rPr lang="it-IT" dirty="0">
                <a:latin typeface="Palatino Linotype" panose="02040502050505030304" pitchFamily="18" charset="0"/>
              </a:rPr>
              <a:t>Le donne sono più istruite degli uomini in tutte le regioni!</a:t>
            </a:r>
          </a:p>
          <a:p>
            <a:pPr marL="0" indent="0">
              <a:buNone/>
            </a:pPr>
            <a:r>
              <a:rPr lang="it-IT" dirty="0">
                <a:latin typeface="Palatino Linotype" panose="02040502050505030304" pitchFamily="18" charset="0"/>
              </a:rPr>
              <a:t>Scelta del percorso di studi. </a:t>
            </a:r>
          </a:p>
          <a:p>
            <a:pPr marL="0" indent="0">
              <a:buNone/>
            </a:pPr>
            <a:r>
              <a:rPr lang="it-IT" dirty="0">
                <a:latin typeface="Palatino Linotype" panose="02040502050505030304" pitchFamily="18" charset="0"/>
              </a:rPr>
              <a:t>Ma questa spiegazione non è sufficiente!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7807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97900-02C7-5E1E-E926-35EE9C1C7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>
                <a:latin typeface="Palatino Linotype" panose="02040502050505030304" pitchFamily="18" charset="0"/>
              </a:rPr>
              <a:t>Motivo della inattività</a:t>
            </a:r>
            <a:br>
              <a:rPr lang="it-IT" dirty="0">
                <a:latin typeface="Palatino Linotype" panose="02040502050505030304" pitchFamily="18" charset="0"/>
              </a:rPr>
            </a:br>
            <a:r>
              <a:rPr lang="it-IT" sz="1200" dirty="0">
                <a:latin typeface="Palatino Linotype" panose="02040502050505030304" pitchFamily="18" charset="0"/>
              </a:rPr>
              <a:t>Fonte: Istat 2022</a:t>
            </a:r>
            <a:endParaRPr lang="en-US" sz="1200" dirty="0">
              <a:latin typeface="Palatino Linotype" panose="02040502050505030304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21FC15E-8168-AC5E-7DB3-B9EB1752C38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2096430"/>
            <a:ext cx="5181600" cy="3809727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87FC0F-3468-3791-426D-DB8C5386846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it-IT" dirty="0">
                <a:latin typeface="Palatino Linotype" panose="02040502050505030304" pitchFamily="18" charset="0"/>
              </a:rPr>
              <a:t>Il carico familiare per le donne rappresenta un importante motivo che le induce ad uscire dal mercato del lavoro;</a:t>
            </a:r>
          </a:p>
          <a:p>
            <a:r>
              <a:rPr lang="it-IT" dirty="0">
                <a:latin typeface="Palatino Linotype" panose="02040502050505030304" pitchFamily="18" charset="0"/>
              </a:rPr>
              <a:t>La difficoltà di conciliare la vita lavorativa con la famiglia rappresenta ancora un ostacolo.</a:t>
            </a:r>
            <a:endParaRPr lang="en-US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15143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83F64-8130-0621-82CE-5FE5C446E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192966" cy="948109"/>
          </a:xfrm>
        </p:spPr>
        <p:txBody>
          <a:bodyPr/>
          <a:lstStyle/>
          <a:p>
            <a:pPr algn="ctr"/>
            <a:r>
              <a:rPr lang="it-IT" dirty="0">
                <a:latin typeface="Palatino Linotype" panose="02040502050505030304" pitchFamily="18" charset="0"/>
              </a:rPr>
              <a:t>Asili nido?</a:t>
            </a:r>
            <a:endParaRPr lang="en-US" dirty="0">
              <a:latin typeface="Palatino Linotype" panose="02040502050505030304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1CD6425-9070-DDA5-7621-A0894A91C44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1536970"/>
            <a:ext cx="5047034" cy="4369187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504CC4-BED2-A55D-524C-6FECD20565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536970"/>
            <a:ext cx="5393987" cy="4639993"/>
          </a:xfrm>
        </p:spPr>
        <p:txBody>
          <a:bodyPr>
            <a:normAutofit/>
          </a:bodyPr>
          <a:lstStyle/>
          <a:p>
            <a:r>
              <a:rPr lang="it-IT" dirty="0">
                <a:latin typeface="Palatino Linotype" panose="02040502050505030304" pitchFamily="18" charset="0"/>
              </a:rPr>
              <a:t>La carenza di asili nido soprattutto nelle regioni del sud è evidente;</a:t>
            </a:r>
          </a:p>
          <a:p>
            <a:r>
              <a:rPr lang="it-IT" b="1" dirty="0">
                <a:latin typeface="Palatino Linotype" panose="02040502050505030304" pitchFamily="18" charset="0"/>
              </a:rPr>
              <a:t>Politiche aziendali volte alla conciliazione vita/lavoro;</a:t>
            </a:r>
          </a:p>
          <a:p>
            <a:r>
              <a:rPr lang="en-US" dirty="0">
                <a:latin typeface="Palatino Linotype" panose="02040502050505030304" pitchFamily="18" charset="0"/>
              </a:rPr>
              <a:t>La </a:t>
            </a:r>
            <a:r>
              <a:rPr lang="en-US" dirty="0" err="1">
                <a:latin typeface="Palatino Linotype" panose="02040502050505030304" pitchFamily="18" charset="0"/>
              </a:rPr>
              <a:t>componente</a:t>
            </a:r>
            <a:r>
              <a:rPr lang="en-US" dirty="0">
                <a:latin typeface="Palatino Linotype" panose="02040502050505030304" pitchFamily="18" charset="0"/>
              </a:rPr>
              <a:t> </a:t>
            </a:r>
            <a:r>
              <a:rPr lang="en-US" dirty="0" err="1">
                <a:latin typeface="Palatino Linotype" panose="02040502050505030304" pitchFamily="18" charset="0"/>
              </a:rPr>
              <a:t>culturale</a:t>
            </a:r>
            <a:r>
              <a:rPr lang="en-US" dirty="0">
                <a:latin typeface="Palatino Linotype" panose="02040502050505030304" pitchFamily="18" charset="0"/>
              </a:rPr>
              <a:t> </a:t>
            </a:r>
            <a:r>
              <a:rPr lang="en-US" dirty="0" err="1">
                <a:latin typeface="Palatino Linotype" panose="02040502050505030304" pitchFamily="18" charset="0"/>
              </a:rPr>
              <a:t>gioca</a:t>
            </a:r>
            <a:r>
              <a:rPr lang="en-US" dirty="0">
                <a:latin typeface="Palatino Linotype" panose="02040502050505030304" pitchFamily="18" charset="0"/>
              </a:rPr>
              <a:t> la </a:t>
            </a:r>
            <a:r>
              <a:rPr lang="en-US" dirty="0" err="1">
                <a:latin typeface="Palatino Linotype" panose="02040502050505030304" pitchFamily="18" charset="0"/>
              </a:rPr>
              <a:t>sua</a:t>
            </a:r>
            <a:r>
              <a:rPr lang="en-US" dirty="0">
                <a:latin typeface="Palatino Linotype" panose="02040502050505030304" pitchFamily="18" charset="0"/>
              </a:rPr>
              <a:t> </a:t>
            </a:r>
            <a:r>
              <a:rPr lang="en-US" dirty="0" err="1">
                <a:latin typeface="Palatino Linotype" panose="02040502050505030304" pitchFamily="18" charset="0"/>
              </a:rPr>
              <a:t>parte</a:t>
            </a:r>
            <a:r>
              <a:rPr lang="en-US" dirty="0">
                <a:latin typeface="Palatino Linotype" panose="02040502050505030304" pitchFamily="18" charset="0"/>
              </a:rPr>
              <a:t>: </a:t>
            </a:r>
            <a:r>
              <a:rPr lang="en-US" b="1" dirty="0" err="1">
                <a:solidFill>
                  <a:srgbClr val="FF0000"/>
                </a:solidFill>
                <a:latin typeface="Palatino Linotype" panose="02040502050505030304" pitchFamily="18" charset="0"/>
              </a:rPr>
              <a:t>Genitorialità</a:t>
            </a:r>
            <a:r>
              <a:rPr lang="en-US" b="1" dirty="0">
                <a:solidFill>
                  <a:srgbClr val="FF0000"/>
                </a:solidFill>
                <a:latin typeface="Palatino Linotype" panose="02040502050505030304" pitchFamily="18" charset="0"/>
              </a:rPr>
              <a:t> e non </a:t>
            </a:r>
            <a:r>
              <a:rPr lang="en-US" b="1" dirty="0" err="1">
                <a:solidFill>
                  <a:srgbClr val="FF0000"/>
                </a:solidFill>
                <a:latin typeface="Palatino Linotype" panose="02040502050505030304" pitchFamily="18" charset="0"/>
              </a:rPr>
              <a:t>maternità</a:t>
            </a:r>
            <a:r>
              <a:rPr lang="en-US" b="1" dirty="0">
                <a:solidFill>
                  <a:srgbClr val="FF0000"/>
                </a:solidFill>
                <a:latin typeface="Palatino Linotype" panose="02040502050505030304" pitchFamily="18" charset="0"/>
              </a:rPr>
              <a:t>;</a:t>
            </a:r>
          </a:p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</a:rPr>
              <a:t>Quale è il </a:t>
            </a:r>
            <a:r>
              <a:rPr lang="en-US" b="1" dirty="0" err="1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</a:rPr>
              <a:t>costo</a:t>
            </a: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</a:rPr>
              <a:t> </a:t>
            </a:r>
            <a:r>
              <a:rPr lang="en-US" b="1" dirty="0" err="1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</a:rPr>
              <a:t>opportunità</a:t>
            </a: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</a:rPr>
              <a:t> di </a:t>
            </a:r>
            <a:r>
              <a:rPr lang="en-US" b="1" dirty="0" err="1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</a:rPr>
              <a:t>lasciarlo</a:t>
            </a: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</a:rPr>
              <a:t> al </a:t>
            </a:r>
            <a:r>
              <a:rPr lang="en-US" b="1" dirty="0" err="1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</a:rPr>
              <a:t>nido</a:t>
            </a: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2326554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4D479-4810-7BD6-7B45-AF68D9B36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latin typeface="Palatino Linotype" panose="02040502050505030304" pitchFamily="18" charset="0"/>
              </a:rPr>
              <a:t>Considerazioni conclusive sull’inattività</a:t>
            </a:r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DA049-19BB-19A1-8F5F-E8C1A4D5236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it-IT" dirty="0">
                <a:latin typeface="Palatino Linotype" panose="02040502050505030304" pitchFamily="18" charset="0"/>
              </a:rPr>
              <a:t>Le donne spesso decidono di non entrare sul mercato del lavoro o di uscirne a causa dell’eccessivo carico di cura;</a:t>
            </a:r>
          </a:p>
          <a:p>
            <a:r>
              <a:rPr lang="it-IT" dirty="0">
                <a:latin typeface="Palatino Linotype" panose="02040502050505030304" pitchFamily="18" charset="0"/>
              </a:rPr>
              <a:t>Questa è la conseguenza di una </a:t>
            </a:r>
            <a:r>
              <a:rPr lang="it-IT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</a:rPr>
              <a:t>scelta razionale in linea con la teoria economica mainstream che le porta a comparare il costo opportunità del lavoro con quello di non lavorare.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alatino Linotype" panose="0204050205050503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7F1674-94B8-AAB9-D610-407C490AD8E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it-IT" dirty="0">
                <a:latin typeface="Palatino Linotype" panose="02040502050505030304" pitchFamily="18" charset="0"/>
              </a:rPr>
              <a:t>Perché il costo opportunità di lasciare il lavoro è così basso?</a:t>
            </a:r>
          </a:p>
          <a:p>
            <a:r>
              <a:rPr lang="it-IT" dirty="0">
                <a:latin typeface="Palatino Linotype" panose="02040502050505030304" pitchFamily="18" charset="0"/>
              </a:rPr>
              <a:t>Per rispondere a questa domanda dobbiamo analizzare il mercato del lavoro e dove le donne sono occupate.</a:t>
            </a:r>
            <a:endParaRPr lang="en-US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0726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1DB87-22EE-EC04-34D6-9888D2841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>
                <a:latin typeface="Palatino Linotype" panose="02040502050505030304" pitchFamily="18" charset="0"/>
              </a:rPr>
              <a:t>DOVE LAVORANO LE DONNE?</a:t>
            </a:r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2A797E-82CC-2306-8324-37251FB92E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pPr marL="0" indent="0" algn="ctr">
              <a:buNone/>
            </a:pPr>
            <a:r>
              <a:rPr lang="it-IT" sz="3200" dirty="0">
                <a:latin typeface="Palatino Linotype" panose="02040502050505030304" pitchFamily="18" charset="0"/>
              </a:rPr>
              <a:t>Perché domandarsi dove lavorano le donne?</a:t>
            </a:r>
          </a:p>
          <a:p>
            <a:pPr marL="0" indent="0">
              <a:buNone/>
            </a:pPr>
            <a:endParaRPr lang="it-IT" sz="3200" dirty="0">
              <a:latin typeface="Palatino Linotype" panose="02040502050505030304" pitchFamily="18" charset="0"/>
            </a:endParaRPr>
          </a:p>
          <a:p>
            <a:pPr marL="0" indent="0">
              <a:buNone/>
            </a:pPr>
            <a:r>
              <a:rPr lang="it-IT" sz="3200" dirty="0">
                <a:latin typeface="Palatino Linotype" panose="02040502050505030304" pitchFamily="18" charset="0"/>
              </a:rPr>
              <a:t>Perché gli uomini e le donne non sono occupati negli stessi settori produttivi. </a:t>
            </a:r>
          </a:p>
          <a:p>
            <a:pPr marL="0" indent="0">
              <a:buNone/>
            </a:pPr>
            <a:endParaRPr lang="it-IT" dirty="0">
              <a:latin typeface="Palatino Linotype" panose="02040502050505030304" pitchFamily="18" charset="0"/>
            </a:endParaRPr>
          </a:p>
          <a:p>
            <a:pPr marL="0" indent="0">
              <a:buNone/>
            </a:pPr>
            <a:endParaRPr lang="en-US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52690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C25B5-9B65-A125-04FF-0F98380EEB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08562"/>
            <a:ext cx="10778247" cy="5943600"/>
          </a:xfrm>
        </p:spPr>
        <p:txBody>
          <a:bodyPr/>
          <a:lstStyle/>
          <a:p>
            <a:pPr marL="514350" indent="-514350">
              <a:buAutoNum type="alphaUcPeriod"/>
            </a:pPr>
            <a:r>
              <a:rPr lang="it-IT" dirty="0">
                <a:latin typeface="Palatino Linotype" panose="02040502050505030304" pitchFamily="18" charset="0"/>
              </a:rPr>
              <a:t>Le donne, soprattutto al sud, sono </a:t>
            </a:r>
            <a:r>
              <a:rPr lang="it-IT" b="1" dirty="0">
                <a:latin typeface="Palatino Linotype" panose="02040502050505030304" pitchFamily="18" charset="0"/>
              </a:rPr>
              <a:t>scarsamente occupate nell’industria</a:t>
            </a:r>
            <a:r>
              <a:rPr lang="it-IT" dirty="0">
                <a:latin typeface="Palatino Linotype" panose="02040502050505030304" pitchFamily="18" charset="0"/>
              </a:rPr>
              <a:t> e quasi totalmente assenti nelle costruzioni;</a:t>
            </a:r>
          </a:p>
          <a:p>
            <a:pPr marL="514350" indent="-514350">
              <a:buAutoNum type="alphaUcPeriod"/>
            </a:pPr>
            <a:r>
              <a:rPr lang="it-IT" dirty="0">
                <a:latin typeface="Palatino Linotype" panose="02040502050505030304" pitchFamily="18" charset="0"/>
              </a:rPr>
              <a:t>Nel settore pubblico che occupa il 14% del totale occupati  (U+D);</a:t>
            </a:r>
          </a:p>
          <a:p>
            <a:pPr marL="0" indent="0">
              <a:buNone/>
            </a:pPr>
            <a:r>
              <a:rPr lang="it-IT" dirty="0">
                <a:latin typeface="Palatino Linotype" panose="02040502050505030304" pitchFamily="18" charset="0"/>
              </a:rPr>
              <a:t>C. </a:t>
            </a:r>
            <a:r>
              <a:rPr lang="it-IT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</a:rPr>
              <a:t>Nel settore servizi </a:t>
            </a:r>
            <a:r>
              <a:rPr lang="it-IT" dirty="0">
                <a:latin typeface="Palatino Linotype" panose="02040502050505030304" pitchFamily="18" charset="0"/>
              </a:rPr>
              <a:t>dove spesso si collocano nei settori a </a:t>
            </a:r>
            <a:r>
              <a:rPr lang="it-IT" b="1" u="sng" dirty="0">
                <a:solidFill>
                  <a:srgbClr val="92D050"/>
                </a:solidFill>
                <a:latin typeface="Palatino Linotype" panose="02040502050505030304" pitchFamily="18" charset="0"/>
              </a:rPr>
              <a:t>bassa intensità di capitale umano </a:t>
            </a:r>
            <a:r>
              <a:rPr lang="it-IT" dirty="0">
                <a:latin typeface="Palatino Linotype" panose="02040502050505030304" pitchFamily="18" charset="0"/>
              </a:rPr>
              <a:t>(commercio, alloggio &amp; ristorazione, servizi alla persona);</a:t>
            </a:r>
          </a:p>
          <a:p>
            <a:pPr marL="0" indent="0">
              <a:buNone/>
            </a:pPr>
            <a:r>
              <a:rPr lang="it-IT" dirty="0">
                <a:latin typeface="Palatino Linotype" panose="02040502050505030304" pitchFamily="18" charset="0"/>
              </a:rPr>
              <a:t>D. Nei settori ad alta intensità di capitale umano devo spesso però svolgono </a:t>
            </a:r>
            <a:r>
              <a:rPr lang="it-IT" b="1" dirty="0">
                <a:solidFill>
                  <a:srgbClr val="0070C0"/>
                </a:solidFill>
                <a:latin typeface="Palatino Linotype" panose="02040502050505030304" pitchFamily="18" charset="0"/>
              </a:rPr>
              <a:t>funzioni ANCILLARI -attività di supporto alla fornitura di servizi ad alta intensità di capitale umano-</a:t>
            </a:r>
            <a:r>
              <a:rPr lang="it-IT" dirty="0">
                <a:latin typeface="Palatino Linotype" panose="02040502050505030304" pitchFamily="18" charset="0"/>
              </a:rPr>
              <a:t>. </a:t>
            </a:r>
          </a:p>
          <a:p>
            <a:pPr marL="0" indent="0" algn="ctr">
              <a:buNone/>
            </a:pPr>
            <a:r>
              <a:rPr lang="it-IT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</a:rPr>
              <a:t>Ne consegue che le donne sono segregate in settori scarsamente resilienti e con retribuzioni non elevate.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66643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4E10F-05F4-8365-A058-CF82E6919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3600" b="1" dirty="0">
                <a:latin typeface="Palatino Linotype" panose="02040502050505030304" pitchFamily="18" charset="0"/>
              </a:rPr>
              <a:t>Quali sono le conseguenze della segregazione di genere?</a:t>
            </a:r>
            <a:endParaRPr lang="en-US" sz="3600" b="1" dirty="0">
              <a:latin typeface="Palatino Linotype" panose="02040502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A5CA0-8F5F-9F2D-03A5-4CA723701E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it-IT" sz="3200" dirty="0">
                <a:latin typeface="Palatino Linotype" panose="02040502050505030304" pitchFamily="18" charset="0"/>
              </a:rPr>
              <a:t>Poiché le donne hanno lavori meno resilienti e spesso part-time (anche involontario) i guadagni sono inferiori rispetto a quelli degli uomini e pertanto </a:t>
            </a:r>
            <a:r>
              <a:rPr lang="it-IT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</a:rPr>
              <a:t>il costo opportunità tra lavoro fuori di casa e lavoro di cura in casa è più basso rispetto a quello degli uomini.</a:t>
            </a:r>
          </a:p>
          <a:p>
            <a:pPr marL="0" indent="0">
              <a:buNone/>
            </a:pPr>
            <a:r>
              <a:rPr lang="it-IT" sz="3200" dirty="0">
                <a:latin typeface="Palatino Linotype" panose="02040502050505030304" pitchFamily="18" charset="0"/>
              </a:rPr>
              <a:t>Ne consegue che spesso le donne escono dal mercato del lavoro.</a:t>
            </a:r>
          </a:p>
          <a:p>
            <a:pPr marL="0" indent="0">
              <a:buNone/>
            </a:pPr>
            <a:r>
              <a:rPr lang="it-IT" sz="3200" b="1" dirty="0">
                <a:latin typeface="Palatino Linotype" panose="02040502050505030304" pitchFamily="18" charset="0"/>
              </a:rPr>
              <a:t>Questa è una possibile spiegazione alla elevata inattività delle donne.</a:t>
            </a:r>
            <a:endParaRPr lang="en-US" sz="3200" b="1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01730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01B69-CE45-4657-D555-14B076C8F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>
                <a:latin typeface="Palatino Linotype" panose="02040502050505030304" pitchFamily="18" charset="0"/>
              </a:rPr>
              <a:t>Effetti di queste scelte: </a:t>
            </a:r>
            <a:br>
              <a:rPr lang="it-IT" dirty="0">
                <a:latin typeface="Palatino Linotype" panose="02040502050505030304" pitchFamily="18" charset="0"/>
              </a:rPr>
            </a:br>
            <a:r>
              <a:rPr lang="it-IT" dirty="0">
                <a:latin typeface="Palatino Linotype" panose="02040502050505030304" pitchFamily="18" charset="0"/>
              </a:rPr>
              <a:t>rischio di povertà ed esclusione sociale</a:t>
            </a:r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C5C8E3-3486-E4F8-AB41-77E2DBB34E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it-IT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</a:rPr>
              <a:t>In Italia nel 2022  il </a:t>
            </a:r>
            <a:r>
              <a:rPr lang="it-IT" sz="3600" b="1" dirty="0"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</a:rPr>
              <a:t>26.6%</a:t>
            </a:r>
            <a:r>
              <a:rPr lang="it-IT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</a:rPr>
              <a:t> della popolazione FEMMINILE è a rischio di povertà o esclusione sociale contro il </a:t>
            </a:r>
            <a:r>
              <a:rPr lang="it-IT" sz="3600" b="1" dirty="0"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</a:rPr>
              <a:t>23.4%</a:t>
            </a:r>
            <a:r>
              <a:rPr lang="it-IT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</a:rPr>
              <a:t> di quella maschile.</a:t>
            </a:r>
            <a:endParaRPr lang="it-IT" sz="3600" b="1" i="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84263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317FB-88B2-12FE-1037-ADDFB3725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>
                <a:latin typeface="Palatino Linotype" panose="02040502050505030304" pitchFamily="18" charset="0"/>
              </a:rPr>
              <a:t>In particolare </a:t>
            </a:r>
            <a:br>
              <a:rPr lang="it-IT" dirty="0">
                <a:latin typeface="Palatino Linotype" panose="02040502050505030304" pitchFamily="18" charset="0"/>
              </a:rPr>
            </a:br>
            <a:r>
              <a:rPr lang="it-IT" sz="1200" dirty="0">
                <a:latin typeface="Palatino Linotype" panose="02040502050505030304" pitchFamily="18" charset="0"/>
              </a:rPr>
              <a:t>Fonte ISTAT 2022</a:t>
            </a:r>
            <a:endParaRPr lang="en-US" sz="1200" dirty="0">
              <a:latin typeface="Palatino Linotype" panose="02040502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6C7B14-5003-6E0F-DE6F-990ED0919B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r>
              <a:rPr lang="it-IT" sz="3200" kern="100" dirty="0">
                <a:latin typeface="Palatino Linotype" panose="0204050205050503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21.7% DONNE ha un  r</a:t>
            </a:r>
            <a:r>
              <a:rPr lang="it-IT" sz="3200" dirty="0">
                <a:latin typeface="Palatino Linotype" panose="02040502050505030304" pitchFamily="18" charset="0"/>
              </a:rPr>
              <a:t>eddito insufficiente (inferiore ai 10.500 euro annui) contro il 19.4% degli uomini;</a:t>
            </a:r>
          </a:p>
          <a:p>
            <a:r>
              <a:rPr lang="it-IT" sz="3200" dirty="0">
                <a:latin typeface="Palatino Linotype" panose="02040502050505030304" pitchFamily="18" charset="0"/>
              </a:rPr>
              <a:t>un 10% va incontro a deprivazione materiale (esempio non può permettersi di mangiare carne o pesce ogni due giorni o di scaldare adeguatamente la casa) contro l’8.5% degli uomini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74906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58BD4-439D-647C-A580-FEF7ED499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619034" cy="821649"/>
          </a:xfrm>
        </p:spPr>
        <p:txBody>
          <a:bodyPr/>
          <a:lstStyle/>
          <a:p>
            <a:pPr algn="ctr"/>
            <a:r>
              <a:rPr lang="it-IT" dirty="0">
                <a:latin typeface="Palatino Linotype" panose="02040502050505030304" pitchFamily="18" charset="0"/>
              </a:rPr>
              <a:t>Conclusioni</a:t>
            </a:r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F9619-47F4-DA30-B0BC-963595BFB4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0379" y="1408585"/>
            <a:ext cx="10572344" cy="4700385"/>
          </a:xfrm>
        </p:spPr>
        <p:txBody>
          <a:bodyPr>
            <a:normAutofit lnSpcReduction="10000"/>
          </a:bodyPr>
          <a:lstStyle/>
          <a:p>
            <a:r>
              <a:rPr lang="it-IT" dirty="0">
                <a:latin typeface="Palatino Linotype" panose="02040502050505030304" pitchFamily="18" charset="0"/>
              </a:rPr>
              <a:t>La segregazione delle donne in settori poco resilienti e meno retribuiti fa sì che il costo opportunità tra il lavoro e l’uscire dal mercato del lavoro per svolgere il lavoro di cura NON retribuito- ancora a carico delle donne soprattutto nel sud-  sia basso;</a:t>
            </a:r>
          </a:p>
          <a:p>
            <a:r>
              <a:rPr lang="it-IT" dirty="0">
                <a:latin typeface="Palatino Linotype" panose="02040502050505030304" pitchFamily="18" charset="0"/>
              </a:rPr>
              <a:t>Le donne escono dal mercato del lavoro e questo crea esclusione sociale;</a:t>
            </a:r>
          </a:p>
          <a:p>
            <a:r>
              <a:rPr lang="it-IT" dirty="0">
                <a:latin typeface="Palatino Linotype" panose="02040502050505030304" pitchFamily="18" charset="0"/>
              </a:rPr>
              <a:t>L’esclusione sociale non riguarda solo le donne ma rigurda spesso l’intero nucleo familiare e quindi anche i minori;</a:t>
            </a:r>
          </a:p>
          <a:p>
            <a:r>
              <a:rPr lang="it-IT" dirty="0">
                <a:latin typeface="Palatino Linotype" panose="02040502050505030304" pitchFamily="18" charset="0"/>
              </a:rPr>
              <a:t> La questione femminile emerge pertanto come un problema socio-culturale nonché economico che riguarda la collettività nel suo complesso</a:t>
            </a:r>
            <a:endParaRPr lang="en-US" dirty="0">
              <a:latin typeface="Palatino Linotype" panose="02040502050505030304" pitchFamily="18" charset="0"/>
            </a:endParaRPr>
          </a:p>
          <a:p>
            <a:endParaRPr lang="it-IT" dirty="0">
              <a:latin typeface="Palatino Linotype" panose="02040502050505030304" pitchFamily="18" charset="0"/>
            </a:endParaRPr>
          </a:p>
          <a:p>
            <a:pPr marL="0" indent="0">
              <a:buNone/>
            </a:pPr>
            <a:endParaRPr lang="en-US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39593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BD845-5301-DCCF-5A51-61F1586BB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574" y="365125"/>
            <a:ext cx="10624226" cy="841105"/>
          </a:xfrm>
        </p:spPr>
        <p:txBody>
          <a:bodyPr/>
          <a:lstStyle/>
          <a:p>
            <a:pPr algn="ctr"/>
            <a:r>
              <a:rPr lang="it-IT" dirty="0">
                <a:latin typeface="Palatino Linotype" panose="02040502050505030304" pitchFamily="18" charset="0"/>
              </a:rPr>
              <a:t>Quali azioni e quali politiche?</a:t>
            </a:r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B7AE5-761B-86CD-202E-CDE7ABA33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9574" y="1342418"/>
            <a:ext cx="10624226" cy="4834546"/>
          </a:xfrm>
        </p:spPr>
        <p:txBody>
          <a:bodyPr>
            <a:normAutofit fontScale="85000" lnSpcReduction="10000"/>
          </a:bodyPr>
          <a:lstStyle/>
          <a:p>
            <a:r>
              <a:rPr lang="it-IT" dirty="0">
                <a:latin typeface="Palatino Linotype" panose="02040502050505030304" pitchFamily="18" charset="0"/>
              </a:rPr>
              <a:t>Il tema genere ed in particolare donne è multi-dimensionale e racchiude aspetti sociali, culturali, economici, giuridici. Il cambiamento è un processo che non solo richiede tempo ma richiede azioni sinergiche e coordinate;</a:t>
            </a:r>
          </a:p>
          <a:p>
            <a:r>
              <a:rPr lang="it-IT" dirty="0">
                <a:latin typeface="Palatino Linotype" panose="02040502050505030304" pitchFamily="18" charset="0"/>
              </a:rPr>
              <a:t>Occorrono politiche che favoriscano la </a:t>
            </a:r>
            <a:r>
              <a:rPr lang="it-IT" dirty="0">
                <a:solidFill>
                  <a:srgbClr val="FF0000"/>
                </a:solidFill>
                <a:latin typeface="Palatino Linotype" panose="02040502050505030304" pitchFamily="18" charset="0"/>
              </a:rPr>
              <a:t>conciliazione vita lavoro</a:t>
            </a:r>
            <a:r>
              <a:rPr lang="it-IT" dirty="0">
                <a:latin typeface="Palatino Linotype" panose="02040502050505030304" pitchFamily="18" charset="0"/>
              </a:rPr>
              <a:t>, ma anche leggi che la facilitino;</a:t>
            </a:r>
          </a:p>
          <a:p>
            <a:r>
              <a:rPr lang="it-IT" dirty="0">
                <a:latin typeface="Palatino Linotype" panose="02040502050505030304" pitchFamily="18" charset="0"/>
              </a:rPr>
              <a:t>Occorre un cambiamento della </a:t>
            </a:r>
            <a:r>
              <a:rPr lang="it-IT" dirty="0">
                <a:solidFill>
                  <a:srgbClr val="FF0000"/>
                </a:solidFill>
                <a:latin typeface="Palatino Linotype" panose="02040502050505030304" pitchFamily="18" charset="0"/>
              </a:rPr>
              <a:t>cultura sociale ed aziendale </a:t>
            </a:r>
            <a:r>
              <a:rPr lang="it-IT" dirty="0">
                <a:latin typeface="Palatino Linotype" panose="02040502050505030304" pitchFamily="18" charset="0"/>
              </a:rPr>
              <a:t>che accolga gli strumenti di conciliazione e li consideri come una opportunità:  una donna in part-time  NON è una lavoratrice di serie B;</a:t>
            </a:r>
          </a:p>
          <a:p>
            <a:r>
              <a:rPr lang="it-IT" dirty="0">
                <a:latin typeface="Palatino Linotype" panose="02040502050505030304" pitchFamily="18" charset="0"/>
              </a:rPr>
              <a:t>Servono segnali chiari che favoriscano il </a:t>
            </a:r>
            <a:r>
              <a:rPr lang="it-IT" dirty="0">
                <a:solidFill>
                  <a:srgbClr val="FF0000"/>
                </a:solidFill>
                <a:latin typeface="Palatino Linotype" panose="02040502050505030304" pitchFamily="18" charset="0"/>
              </a:rPr>
              <a:t>passaggio dal concetto di maternità a quello di genitorialità</a:t>
            </a:r>
            <a:r>
              <a:rPr lang="it-IT" dirty="0">
                <a:latin typeface="Palatino Linotype" panose="02040502050505030304" pitchFamily="18" charset="0"/>
              </a:rPr>
              <a:t>; il congedo parentale potrebbe essere dato prima alla mamma poi al papà a fasi alterne non consentendo la sovrapposizione;</a:t>
            </a:r>
          </a:p>
          <a:p>
            <a:r>
              <a:rPr lang="it-IT" dirty="0">
                <a:latin typeface="Palatino Linotype" panose="02040502050505030304" pitchFamily="18" charset="0"/>
              </a:rPr>
              <a:t>Occorrono </a:t>
            </a:r>
            <a:r>
              <a:rPr lang="it-IT" dirty="0">
                <a:solidFill>
                  <a:srgbClr val="FF0000"/>
                </a:solidFill>
                <a:latin typeface="Palatino Linotype" panose="02040502050505030304" pitchFamily="18" charset="0"/>
              </a:rPr>
              <a:t>asili nido </a:t>
            </a:r>
            <a:r>
              <a:rPr lang="it-IT" dirty="0">
                <a:latin typeface="Palatino Linotype" panose="02040502050505030304" pitchFamily="18" charset="0"/>
              </a:rPr>
              <a:t>che tengano conto delle esigenze aziendali e con costi ragionevoli per diminuire il costo opportunità lavoro-cura;</a:t>
            </a:r>
          </a:p>
        </p:txBody>
      </p:sp>
    </p:spTree>
    <p:extLst>
      <p:ext uri="{BB962C8B-B14F-4D97-AF65-F5344CB8AC3E}">
        <p14:creationId xmlns:p14="http://schemas.microsoft.com/office/powerpoint/2010/main" val="2406767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BD845-5301-DCCF-5A51-61F1586BB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574" y="365125"/>
            <a:ext cx="10624226" cy="841105"/>
          </a:xfrm>
        </p:spPr>
        <p:txBody>
          <a:bodyPr/>
          <a:lstStyle/>
          <a:p>
            <a:pPr algn="ctr"/>
            <a:r>
              <a:rPr lang="it-IT" dirty="0">
                <a:latin typeface="Palatino Linotype" panose="02040502050505030304" pitchFamily="18" charset="0"/>
              </a:rPr>
              <a:t>Quali azioni e quali politiche?</a:t>
            </a:r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B7AE5-761B-86CD-202E-CDE7ABA33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887" y="1332691"/>
            <a:ext cx="10624226" cy="4834546"/>
          </a:xfrm>
        </p:spPr>
        <p:txBody>
          <a:bodyPr>
            <a:normAutofit/>
          </a:bodyPr>
          <a:lstStyle/>
          <a:p>
            <a:r>
              <a:rPr lang="it-IT" dirty="0">
                <a:latin typeface="Palatino Linotype" panose="02040502050505030304" pitchFamily="18" charset="0"/>
              </a:rPr>
              <a:t>Occorre un ripensamento dei tempi delle scuole per favorire le mamme che lavorano;</a:t>
            </a:r>
          </a:p>
          <a:p>
            <a:r>
              <a:rPr lang="it-IT" dirty="0">
                <a:latin typeface="Palatino Linotype" panose="02040502050505030304" pitchFamily="18" charset="0"/>
              </a:rPr>
              <a:t>Occorre un ripensamento dei metodi didattici ed educativi volti a favorire l’inclusione e l’uguaglianza di genere a partire dalla scuola dell’infanzia. Il ritardo con la matematica per le bambine inizia a partire dalla scuola primaria; occorre agire prima per prevenire questo fenomeno e poter incrementare in numero di iscritte alla discipline STEM.</a:t>
            </a:r>
          </a:p>
          <a:p>
            <a:r>
              <a:rPr lang="it-IT" dirty="0">
                <a:latin typeface="Palatino Linotype" panose="02040502050505030304" pitchFamily="18" charset="0"/>
              </a:rPr>
              <a:t>Occorrono soprattutto segnali concreti da parte dei policy makers.</a:t>
            </a:r>
          </a:p>
          <a:p>
            <a:endParaRPr lang="it-IT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97514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person and person symbols on scales&#10;&#10;Description automatically generated">
            <a:extLst>
              <a:ext uri="{FF2B5EF4-FFF2-40B4-BE49-F238E27FC236}">
                <a16:creationId xmlns:a16="http://schemas.microsoft.com/office/drawing/2014/main" id="{5720F10A-E8FC-A32C-7E3F-6ACA724CAFE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36"/>
          <a:stretch/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67E844-EDD8-3687-39DC-F31502E98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5262662"/>
            <a:ext cx="5614481" cy="883709"/>
          </a:xfrm>
        </p:spPr>
        <p:txBody>
          <a:bodyPr>
            <a:normAutofit fontScale="90000"/>
          </a:bodyPr>
          <a:lstStyle/>
          <a:p>
            <a:r>
              <a:rPr lang="it-IT" sz="4000" dirty="0">
                <a:latin typeface="Palatino Linotype" panose="02040502050505030304" pitchFamily="18" charset="0"/>
              </a:rPr>
              <a:t>Grazie per l’attenzione</a:t>
            </a:r>
            <a:br>
              <a:rPr lang="en-US" sz="4000" dirty="0"/>
            </a:b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3356073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C69F3F7625CF74085CAA0E2A49F4C2D" ma:contentTypeVersion="10" ma:contentTypeDescription="Creare un nuovo documento." ma:contentTypeScope="" ma:versionID="f970594720fb6abcd21fd0ece3721bb8">
  <xsd:schema xmlns:xsd="http://www.w3.org/2001/XMLSchema" xmlns:xs="http://www.w3.org/2001/XMLSchema" xmlns:p="http://schemas.microsoft.com/office/2006/metadata/properties" xmlns:ns2="48a61d46-4d30-4b24-ac0a-556bb3cc81e4" xmlns:ns3="a89520b4-453f-4caf-a364-bd14af9a57b3" targetNamespace="http://schemas.microsoft.com/office/2006/metadata/properties" ma:root="true" ma:fieldsID="e495a74569071716296f8154eb9fe63a" ns2:_="" ns3:_="">
    <xsd:import namespace="48a61d46-4d30-4b24-ac0a-556bb3cc81e4"/>
    <xsd:import namespace="a89520b4-453f-4caf-a364-bd14af9a57b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a61d46-4d30-4b24-ac0a-556bb3cc81e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Tag immagine" ma:readOnly="false" ma:fieldId="{5cf76f15-5ced-4ddc-b409-7134ff3c332f}" ma:taxonomyMulti="true" ma:sspId="1013fbc9-b00e-4d37-9f0b-4b76e146b30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9520b4-453f-4caf-a364-bd14af9a57b3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0af5e59d-d4ac-435c-9382-48b95eae239d}" ma:internalName="TaxCatchAll" ma:showField="CatchAllData" ma:web="a89520b4-453f-4caf-a364-bd14af9a57b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89520b4-453f-4caf-a364-bd14af9a57b3" xsi:nil="true"/>
    <lcf76f155ced4ddcb4097134ff3c332f xmlns="48a61d46-4d30-4b24-ac0a-556bb3cc81e4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0ED931D3-9ED7-4209-9111-C59F6D89ADB8}"/>
</file>

<file path=customXml/itemProps2.xml><?xml version="1.0" encoding="utf-8"?>
<ds:datastoreItem xmlns:ds="http://schemas.openxmlformats.org/officeDocument/2006/customXml" ds:itemID="{187F9C88-70B3-4764-9D40-9AB754A5279E}"/>
</file>

<file path=customXml/itemProps3.xml><?xml version="1.0" encoding="utf-8"?>
<ds:datastoreItem xmlns:ds="http://schemas.openxmlformats.org/officeDocument/2006/customXml" ds:itemID="{AEC8D728-9B6A-4F4E-B043-B9CF0C79817C}"/>
</file>

<file path=docProps/app.xml><?xml version="1.0" encoding="utf-8"?>
<Properties xmlns="http://schemas.openxmlformats.org/officeDocument/2006/extended-properties" xmlns:vt="http://schemas.openxmlformats.org/officeDocument/2006/docPropsVTypes">
  <TotalTime>970</TotalTime>
  <Words>1101</Words>
  <Application>Microsoft Office PowerPoint</Application>
  <PresentationFormat>Widescreen</PresentationFormat>
  <Paragraphs>93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Palatino Linotype</vt:lpstr>
      <vt:lpstr>Office Theme</vt:lpstr>
      <vt:lpstr>GENDER &amp; INCLUSION Diversi Unici Uguali Barbara Martini</vt:lpstr>
      <vt:lpstr>Obiettivi della presentazione</vt:lpstr>
      <vt:lpstr>Tasso di attività femminile</vt:lpstr>
      <vt:lpstr>Tasso di attività maschile</vt:lpstr>
      <vt:lpstr>Differenze tra tassi di attività  maschile e femminile</vt:lpstr>
      <vt:lpstr>Tasso di inattività Fonte Istat 2023</vt:lpstr>
      <vt:lpstr>Le donne tra i 15-34 anni spesso NON studiano e non lavorano (NEET) Fonte: Istat 2023</vt:lpstr>
      <vt:lpstr>Da dove nascono le differenze?</vt:lpstr>
      <vt:lpstr>Motivo della inattività Fonte: Istat 2022</vt:lpstr>
      <vt:lpstr>Asili nido?</vt:lpstr>
      <vt:lpstr>Considerazioni conclusive sull’inattività</vt:lpstr>
      <vt:lpstr>DOVE LAVORANO LE DONNE?</vt:lpstr>
      <vt:lpstr>PowerPoint Presentation</vt:lpstr>
      <vt:lpstr>Quali sono le conseguenze della segregazione di genere?</vt:lpstr>
      <vt:lpstr>Effetti di queste scelte:  rischio di povertà ed esclusione sociale</vt:lpstr>
      <vt:lpstr>In particolare  Fonte ISTAT 2022</vt:lpstr>
      <vt:lpstr>Conclusioni</vt:lpstr>
      <vt:lpstr>Quali azioni e quali politiche?</vt:lpstr>
      <vt:lpstr>Quali azioni e quali politiche?</vt:lpstr>
      <vt:lpstr>Grazie per l’attenzione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barbara martini</dc:creator>
  <cp:lastModifiedBy>barbara martini</cp:lastModifiedBy>
  <cp:revision>67</cp:revision>
  <dcterms:created xsi:type="dcterms:W3CDTF">2024-04-02T08:37:59Z</dcterms:created>
  <dcterms:modified xsi:type="dcterms:W3CDTF">2024-06-05T09:36:45Z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0x0101002C69F3F7625CF74085CAA0E2A49F4C2D</vt:lpwstr>
  </property>
</Properties>
</file>