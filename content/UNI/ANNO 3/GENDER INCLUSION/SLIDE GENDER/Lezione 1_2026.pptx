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65" r:id="rId2"/>
    <p:sldId id="257" r:id="rId3"/>
    <p:sldId id="262" r:id="rId4"/>
    <p:sldId id="258" r:id="rId5"/>
    <p:sldId id="260" r:id="rId6"/>
    <p:sldId id="261" r:id="rId7"/>
    <p:sldId id="264" r:id="rId8"/>
    <p:sldId id="272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3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D96C2B-042D-4761-A294-A400427A857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17F4AD-D2A5-4FD8-9E93-2EBFE54B58AD}">
      <dgm:prSet/>
      <dgm:spPr/>
      <dgm:t>
        <a:bodyPr/>
        <a:lstStyle/>
        <a:p>
          <a:r>
            <a:rPr lang="it-I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volta a </a:t>
          </a:r>
          <a:r>
            <a:rPr lang="it-I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rPr>
            <a:t>settimana</a:t>
          </a:r>
          <a:r>
            <a:rPr lang="it-I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; tutti i mercoledì per 12 settimane (3 CFU)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4E7930E-7820-4CA9-978A-1A495EAA6940}" type="parTrans" cxnId="{C8AFC182-1C1E-4C5F-BDEA-6321A4101382}">
      <dgm:prSet/>
      <dgm:spPr/>
      <dgm:t>
        <a:bodyPr/>
        <a:lstStyle/>
        <a:p>
          <a:endParaRPr lang="en-US"/>
        </a:p>
      </dgm:t>
    </dgm:pt>
    <dgm:pt modelId="{CF359F6D-AEED-4B62-96C4-C1086AD03854}" type="sibTrans" cxnId="{C8AFC182-1C1E-4C5F-BDEA-6321A4101382}">
      <dgm:prSet/>
      <dgm:spPr/>
      <dgm:t>
        <a:bodyPr/>
        <a:lstStyle/>
        <a:p>
          <a:endParaRPr lang="en-US"/>
        </a:p>
      </dgm:t>
    </dgm:pt>
    <dgm:pt modelId="{3A3F140A-32CA-473D-B17B-B5DA5091FB03}">
      <dgm:prSet/>
      <dgm:spPr/>
      <dgm:t>
        <a:bodyPr/>
        <a:lstStyle/>
        <a:p>
          <a:r>
            <a:rPr lang="it-IT" dirty="0"/>
            <a:t>Ore </a:t>
          </a:r>
          <a:r>
            <a:rPr lang="it-IT" dirty="0">
              <a:latin typeface="Palatino Linotype" panose="02040502050505030304" pitchFamily="18" charset="0"/>
            </a:rPr>
            <a:t>18-19.30</a:t>
          </a:r>
          <a:r>
            <a:rPr lang="it-IT" dirty="0"/>
            <a:t> su teams</a:t>
          </a:r>
          <a:endParaRPr lang="en-US" dirty="0"/>
        </a:p>
      </dgm:t>
    </dgm:pt>
    <dgm:pt modelId="{D39C5804-6BD3-4604-B6D8-3BB8B12EABC5}" type="parTrans" cxnId="{CD6956BB-5E68-4A29-9E3C-29D2B7533DCA}">
      <dgm:prSet/>
      <dgm:spPr/>
      <dgm:t>
        <a:bodyPr/>
        <a:lstStyle/>
        <a:p>
          <a:endParaRPr lang="en-US"/>
        </a:p>
      </dgm:t>
    </dgm:pt>
    <dgm:pt modelId="{335A0E60-3E2B-457E-A4A2-D2A36CC49D70}" type="sibTrans" cxnId="{CD6956BB-5E68-4A29-9E3C-29D2B7533DCA}">
      <dgm:prSet/>
      <dgm:spPr/>
      <dgm:t>
        <a:bodyPr/>
        <a:lstStyle/>
        <a:p>
          <a:endParaRPr lang="en-US"/>
        </a:p>
      </dgm:t>
    </dgm:pt>
    <dgm:pt modelId="{C658F58E-26C5-4261-9B61-C65FC1D5F1C7}">
      <dgm:prSet/>
      <dgm:spPr/>
      <dgm:t>
        <a:bodyPr/>
        <a:lstStyle/>
        <a:p>
          <a:r>
            <a:rPr lang="it-IT" dirty="0"/>
            <a:t>La frequenza è obbligatoria? NI sarei contenta se </a:t>
          </a:r>
          <a:r>
            <a:rPr lang="it-IT" dirty="0">
              <a:latin typeface="Palatino Linotype" panose="02040502050505030304" pitchFamily="18" charset="0"/>
            </a:rPr>
            <a:t>frequentaste</a:t>
          </a:r>
          <a:r>
            <a:rPr lang="it-IT" dirty="0"/>
            <a:t> almeno il 75% delle lezioni</a:t>
          </a:r>
          <a:endParaRPr lang="en-US" dirty="0"/>
        </a:p>
      </dgm:t>
    </dgm:pt>
    <dgm:pt modelId="{F52F34F8-DD3F-48E0-857C-43DFD00D2E3C}" type="parTrans" cxnId="{CB92077B-A384-460D-9C73-ED16F74B50CA}">
      <dgm:prSet/>
      <dgm:spPr/>
      <dgm:t>
        <a:bodyPr/>
        <a:lstStyle/>
        <a:p>
          <a:endParaRPr lang="en-US"/>
        </a:p>
      </dgm:t>
    </dgm:pt>
    <dgm:pt modelId="{58739D29-0448-48E2-AFB9-3EF42C5BFBE6}" type="sibTrans" cxnId="{CB92077B-A384-460D-9C73-ED16F74B50CA}">
      <dgm:prSet/>
      <dgm:spPr/>
      <dgm:t>
        <a:bodyPr/>
        <a:lstStyle/>
        <a:p>
          <a:endParaRPr lang="en-US"/>
        </a:p>
      </dgm:t>
    </dgm:pt>
    <dgm:pt modelId="{BD86D214-72E0-4FE4-9559-835F0E8FEF33}">
      <dgm:prSet/>
      <dgm:spPr/>
      <dgm:t>
        <a:bodyPr/>
        <a:lstStyle/>
        <a:p>
          <a:r>
            <a:rPr lang="it-IT" dirty="0"/>
            <a:t>Come si svolgerà il corso? In modo interattivo e seminariale. Ogni volta volevo invitare delle persone a parlare di un tema. Ogni incontro è self-</a:t>
          </a:r>
          <a:r>
            <a:rPr lang="it-IT" dirty="0" err="1"/>
            <a:t>contained</a:t>
          </a:r>
          <a:r>
            <a:rPr lang="it-IT" dirty="0"/>
            <a:t>;</a:t>
          </a:r>
          <a:endParaRPr lang="en-US" dirty="0"/>
        </a:p>
      </dgm:t>
    </dgm:pt>
    <dgm:pt modelId="{098DCCF6-7E6F-4510-A539-A5301A126BEE}" type="parTrans" cxnId="{C118AA51-CE0B-44D2-B1A5-01DC8C9D7F8C}">
      <dgm:prSet/>
      <dgm:spPr/>
      <dgm:t>
        <a:bodyPr/>
        <a:lstStyle/>
        <a:p>
          <a:endParaRPr lang="en-US"/>
        </a:p>
      </dgm:t>
    </dgm:pt>
    <dgm:pt modelId="{7A1328FC-6B53-4C3D-8F85-29264EA546CF}" type="sibTrans" cxnId="{C118AA51-CE0B-44D2-B1A5-01DC8C9D7F8C}">
      <dgm:prSet/>
      <dgm:spPr/>
      <dgm:t>
        <a:bodyPr/>
        <a:lstStyle/>
        <a:p>
          <a:endParaRPr lang="en-US"/>
        </a:p>
      </dgm:t>
    </dgm:pt>
    <dgm:pt modelId="{6592E718-B0EE-49FD-8EEF-82CE398A46A3}">
      <dgm:prSet/>
      <dgm:spPr/>
      <dgm:t>
        <a:bodyPr/>
        <a:lstStyle/>
        <a:p>
          <a:r>
            <a:rPr lang="it-IT" dirty="0"/>
            <a:t>Si farà un esame finale? Si un project work</a:t>
          </a:r>
          <a:endParaRPr lang="en-US" dirty="0"/>
        </a:p>
      </dgm:t>
    </dgm:pt>
    <dgm:pt modelId="{D1B165B1-DF29-4C5C-A584-9E8907B2FA36}" type="parTrans" cxnId="{30BAECE0-96C6-47BE-B53A-5ABA78F0A81C}">
      <dgm:prSet/>
      <dgm:spPr/>
      <dgm:t>
        <a:bodyPr/>
        <a:lstStyle/>
        <a:p>
          <a:endParaRPr lang="en-US"/>
        </a:p>
      </dgm:t>
    </dgm:pt>
    <dgm:pt modelId="{71C0C70C-2CB9-48A3-994A-B3A78130014F}" type="sibTrans" cxnId="{30BAECE0-96C6-47BE-B53A-5ABA78F0A81C}">
      <dgm:prSet/>
      <dgm:spPr/>
      <dgm:t>
        <a:bodyPr/>
        <a:lstStyle/>
        <a:p>
          <a:endParaRPr lang="en-US"/>
        </a:p>
      </dgm:t>
    </dgm:pt>
    <dgm:pt modelId="{271E2C6D-E876-4CD3-A133-A3E8FA69BBC6}">
      <dgm:prSet/>
      <dgm:spPr/>
      <dgm:t>
        <a:bodyPr/>
        <a:lstStyle/>
        <a:p>
          <a:r>
            <a:rPr lang="it-IT" dirty="0"/>
            <a:t>Chiedete di approvare il </a:t>
          </a:r>
          <a:r>
            <a:rPr lang="it-IT" dirty="0">
              <a:latin typeface="Palatino Linotype" panose="02040502050505030304" pitchFamily="18" charset="0"/>
            </a:rPr>
            <a:t>vostro</a:t>
          </a:r>
          <a:r>
            <a:rPr lang="it-IT" dirty="0"/>
            <a:t> piano di studi</a:t>
          </a:r>
          <a:endParaRPr lang="en-US" dirty="0"/>
        </a:p>
      </dgm:t>
    </dgm:pt>
    <dgm:pt modelId="{AAFFA106-AAA3-4690-A962-488AE42D1C79}" type="parTrans" cxnId="{AB8E0830-45AC-440B-99EE-B6544C29AA25}">
      <dgm:prSet/>
      <dgm:spPr/>
      <dgm:t>
        <a:bodyPr/>
        <a:lstStyle/>
        <a:p>
          <a:endParaRPr lang="en-US"/>
        </a:p>
      </dgm:t>
    </dgm:pt>
    <dgm:pt modelId="{ED09E090-D47A-498C-9587-BE6DA1350496}" type="sibTrans" cxnId="{AB8E0830-45AC-440B-99EE-B6544C29AA25}">
      <dgm:prSet/>
      <dgm:spPr/>
      <dgm:t>
        <a:bodyPr/>
        <a:lstStyle/>
        <a:p>
          <a:endParaRPr lang="en-US"/>
        </a:p>
      </dgm:t>
    </dgm:pt>
    <dgm:pt modelId="{24489948-9FCB-4F47-8819-554DE98142B1}" type="pres">
      <dgm:prSet presAssocID="{5AD96C2B-042D-4761-A294-A400427A8576}" presName="diagram" presStyleCnt="0">
        <dgm:presLayoutVars>
          <dgm:dir/>
          <dgm:resizeHandles val="exact"/>
        </dgm:presLayoutVars>
      </dgm:prSet>
      <dgm:spPr/>
    </dgm:pt>
    <dgm:pt modelId="{89113115-1150-459D-8319-F82A716022A0}" type="pres">
      <dgm:prSet presAssocID="{2F17F4AD-D2A5-4FD8-9E93-2EBFE54B58AD}" presName="node" presStyleLbl="node1" presStyleIdx="0" presStyleCnt="6">
        <dgm:presLayoutVars>
          <dgm:bulletEnabled val="1"/>
        </dgm:presLayoutVars>
      </dgm:prSet>
      <dgm:spPr/>
    </dgm:pt>
    <dgm:pt modelId="{604F296D-D4B0-4F37-B276-E59BF647E6BD}" type="pres">
      <dgm:prSet presAssocID="{CF359F6D-AEED-4B62-96C4-C1086AD03854}" presName="sibTrans" presStyleCnt="0"/>
      <dgm:spPr/>
    </dgm:pt>
    <dgm:pt modelId="{4D8A4CA4-70A2-4C7F-86DF-34705D472DC9}" type="pres">
      <dgm:prSet presAssocID="{3A3F140A-32CA-473D-B17B-B5DA5091FB03}" presName="node" presStyleLbl="node1" presStyleIdx="1" presStyleCnt="6">
        <dgm:presLayoutVars>
          <dgm:bulletEnabled val="1"/>
        </dgm:presLayoutVars>
      </dgm:prSet>
      <dgm:spPr/>
    </dgm:pt>
    <dgm:pt modelId="{D38422A3-5C68-4EF4-B4CA-6C14F49D7F98}" type="pres">
      <dgm:prSet presAssocID="{335A0E60-3E2B-457E-A4A2-D2A36CC49D70}" presName="sibTrans" presStyleCnt="0"/>
      <dgm:spPr/>
    </dgm:pt>
    <dgm:pt modelId="{6A04B494-9176-432A-8947-582CE85EBBC0}" type="pres">
      <dgm:prSet presAssocID="{C658F58E-26C5-4261-9B61-C65FC1D5F1C7}" presName="node" presStyleLbl="node1" presStyleIdx="2" presStyleCnt="6">
        <dgm:presLayoutVars>
          <dgm:bulletEnabled val="1"/>
        </dgm:presLayoutVars>
      </dgm:prSet>
      <dgm:spPr/>
    </dgm:pt>
    <dgm:pt modelId="{4C841E18-02E0-4B26-9C26-AC72F2EE82EA}" type="pres">
      <dgm:prSet presAssocID="{58739D29-0448-48E2-AFB9-3EF42C5BFBE6}" presName="sibTrans" presStyleCnt="0"/>
      <dgm:spPr/>
    </dgm:pt>
    <dgm:pt modelId="{91551433-94D9-4859-8C80-597A1EF1FDA4}" type="pres">
      <dgm:prSet presAssocID="{BD86D214-72E0-4FE4-9559-835F0E8FEF33}" presName="node" presStyleLbl="node1" presStyleIdx="3" presStyleCnt="6">
        <dgm:presLayoutVars>
          <dgm:bulletEnabled val="1"/>
        </dgm:presLayoutVars>
      </dgm:prSet>
      <dgm:spPr/>
    </dgm:pt>
    <dgm:pt modelId="{73350E68-6AD6-4843-A467-275463C6FE52}" type="pres">
      <dgm:prSet presAssocID="{7A1328FC-6B53-4C3D-8F85-29264EA546CF}" presName="sibTrans" presStyleCnt="0"/>
      <dgm:spPr/>
    </dgm:pt>
    <dgm:pt modelId="{85CB10B0-710C-47BE-BCED-F200ADD24D62}" type="pres">
      <dgm:prSet presAssocID="{6592E718-B0EE-49FD-8EEF-82CE398A46A3}" presName="node" presStyleLbl="node1" presStyleIdx="4" presStyleCnt="6">
        <dgm:presLayoutVars>
          <dgm:bulletEnabled val="1"/>
        </dgm:presLayoutVars>
      </dgm:prSet>
      <dgm:spPr/>
    </dgm:pt>
    <dgm:pt modelId="{341072C4-86DF-4254-83FE-E2AFD632D125}" type="pres">
      <dgm:prSet presAssocID="{71C0C70C-2CB9-48A3-994A-B3A78130014F}" presName="sibTrans" presStyleCnt="0"/>
      <dgm:spPr/>
    </dgm:pt>
    <dgm:pt modelId="{69CE15D7-1E67-46CE-9A6D-8BE907540743}" type="pres">
      <dgm:prSet presAssocID="{271E2C6D-E876-4CD3-A133-A3E8FA69BBC6}" presName="node" presStyleLbl="node1" presStyleIdx="5" presStyleCnt="6">
        <dgm:presLayoutVars>
          <dgm:bulletEnabled val="1"/>
        </dgm:presLayoutVars>
      </dgm:prSet>
      <dgm:spPr/>
    </dgm:pt>
  </dgm:ptLst>
  <dgm:cxnLst>
    <dgm:cxn modelId="{AB8E0830-45AC-440B-99EE-B6544C29AA25}" srcId="{5AD96C2B-042D-4761-A294-A400427A8576}" destId="{271E2C6D-E876-4CD3-A133-A3E8FA69BBC6}" srcOrd="5" destOrd="0" parTransId="{AAFFA106-AAA3-4690-A962-488AE42D1C79}" sibTransId="{ED09E090-D47A-498C-9587-BE6DA1350496}"/>
    <dgm:cxn modelId="{BA04CD50-9EE5-4347-A4F0-7D182B10D526}" type="presOf" srcId="{C658F58E-26C5-4261-9B61-C65FC1D5F1C7}" destId="{6A04B494-9176-432A-8947-582CE85EBBC0}" srcOrd="0" destOrd="0" presId="urn:microsoft.com/office/officeart/2005/8/layout/default"/>
    <dgm:cxn modelId="{C118AA51-CE0B-44D2-B1A5-01DC8C9D7F8C}" srcId="{5AD96C2B-042D-4761-A294-A400427A8576}" destId="{BD86D214-72E0-4FE4-9559-835F0E8FEF33}" srcOrd="3" destOrd="0" parTransId="{098DCCF6-7E6F-4510-A539-A5301A126BEE}" sibTransId="{7A1328FC-6B53-4C3D-8F85-29264EA546CF}"/>
    <dgm:cxn modelId="{82AC8F7A-71BB-4743-9473-F8EC17C62CA5}" type="presOf" srcId="{3A3F140A-32CA-473D-B17B-B5DA5091FB03}" destId="{4D8A4CA4-70A2-4C7F-86DF-34705D472DC9}" srcOrd="0" destOrd="0" presId="urn:microsoft.com/office/officeart/2005/8/layout/default"/>
    <dgm:cxn modelId="{CB92077B-A384-460D-9C73-ED16F74B50CA}" srcId="{5AD96C2B-042D-4761-A294-A400427A8576}" destId="{C658F58E-26C5-4261-9B61-C65FC1D5F1C7}" srcOrd="2" destOrd="0" parTransId="{F52F34F8-DD3F-48E0-857C-43DFD00D2E3C}" sibTransId="{58739D29-0448-48E2-AFB9-3EF42C5BFBE6}"/>
    <dgm:cxn modelId="{45619480-C954-4D2E-AF82-25FDEF262AF1}" type="presOf" srcId="{5AD96C2B-042D-4761-A294-A400427A8576}" destId="{24489948-9FCB-4F47-8819-554DE98142B1}" srcOrd="0" destOrd="0" presId="urn:microsoft.com/office/officeart/2005/8/layout/default"/>
    <dgm:cxn modelId="{C8AFC182-1C1E-4C5F-BDEA-6321A4101382}" srcId="{5AD96C2B-042D-4761-A294-A400427A8576}" destId="{2F17F4AD-D2A5-4FD8-9E93-2EBFE54B58AD}" srcOrd="0" destOrd="0" parTransId="{24E7930E-7820-4CA9-978A-1A495EAA6940}" sibTransId="{CF359F6D-AEED-4B62-96C4-C1086AD03854}"/>
    <dgm:cxn modelId="{803564A0-9412-47D7-B619-E2B537D00C53}" type="presOf" srcId="{BD86D214-72E0-4FE4-9559-835F0E8FEF33}" destId="{91551433-94D9-4859-8C80-597A1EF1FDA4}" srcOrd="0" destOrd="0" presId="urn:microsoft.com/office/officeart/2005/8/layout/default"/>
    <dgm:cxn modelId="{49E42FB5-CAC0-47D5-8C85-A4267AC64AA4}" type="presOf" srcId="{271E2C6D-E876-4CD3-A133-A3E8FA69BBC6}" destId="{69CE15D7-1E67-46CE-9A6D-8BE907540743}" srcOrd="0" destOrd="0" presId="urn:microsoft.com/office/officeart/2005/8/layout/default"/>
    <dgm:cxn modelId="{CD6956BB-5E68-4A29-9E3C-29D2B7533DCA}" srcId="{5AD96C2B-042D-4761-A294-A400427A8576}" destId="{3A3F140A-32CA-473D-B17B-B5DA5091FB03}" srcOrd="1" destOrd="0" parTransId="{D39C5804-6BD3-4604-B6D8-3BB8B12EABC5}" sibTransId="{335A0E60-3E2B-457E-A4A2-D2A36CC49D70}"/>
    <dgm:cxn modelId="{30BAECE0-96C6-47BE-B53A-5ABA78F0A81C}" srcId="{5AD96C2B-042D-4761-A294-A400427A8576}" destId="{6592E718-B0EE-49FD-8EEF-82CE398A46A3}" srcOrd="4" destOrd="0" parTransId="{D1B165B1-DF29-4C5C-A584-9E8907B2FA36}" sibTransId="{71C0C70C-2CB9-48A3-994A-B3A78130014F}"/>
    <dgm:cxn modelId="{43DBC4E9-F807-4B60-B09C-41AEAD587FDD}" type="presOf" srcId="{2F17F4AD-D2A5-4FD8-9E93-2EBFE54B58AD}" destId="{89113115-1150-459D-8319-F82A716022A0}" srcOrd="0" destOrd="0" presId="urn:microsoft.com/office/officeart/2005/8/layout/default"/>
    <dgm:cxn modelId="{40A848FA-1C36-45FC-8A17-2CBE1E4F9D02}" type="presOf" srcId="{6592E718-B0EE-49FD-8EEF-82CE398A46A3}" destId="{85CB10B0-710C-47BE-BCED-F200ADD24D62}" srcOrd="0" destOrd="0" presId="urn:microsoft.com/office/officeart/2005/8/layout/default"/>
    <dgm:cxn modelId="{7854ACE0-3117-44FA-8EC8-426C88A13119}" type="presParOf" srcId="{24489948-9FCB-4F47-8819-554DE98142B1}" destId="{89113115-1150-459D-8319-F82A716022A0}" srcOrd="0" destOrd="0" presId="urn:microsoft.com/office/officeart/2005/8/layout/default"/>
    <dgm:cxn modelId="{8754F490-8BEA-46A8-AAD2-F82576C1DF58}" type="presParOf" srcId="{24489948-9FCB-4F47-8819-554DE98142B1}" destId="{604F296D-D4B0-4F37-B276-E59BF647E6BD}" srcOrd="1" destOrd="0" presId="urn:microsoft.com/office/officeart/2005/8/layout/default"/>
    <dgm:cxn modelId="{863CFA12-0C4D-4BDD-8319-0CDBBE4FF517}" type="presParOf" srcId="{24489948-9FCB-4F47-8819-554DE98142B1}" destId="{4D8A4CA4-70A2-4C7F-86DF-34705D472DC9}" srcOrd="2" destOrd="0" presId="urn:microsoft.com/office/officeart/2005/8/layout/default"/>
    <dgm:cxn modelId="{559EAAEF-E7EF-4DE0-A9E6-3384A0C5C02C}" type="presParOf" srcId="{24489948-9FCB-4F47-8819-554DE98142B1}" destId="{D38422A3-5C68-4EF4-B4CA-6C14F49D7F98}" srcOrd="3" destOrd="0" presId="urn:microsoft.com/office/officeart/2005/8/layout/default"/>
    <dgm:cxn modelId="{58C8A0BF-FD03-4E5C-BFAC-2893930D20F0}" type="presParOf" srcId="{24489948-9FCB-4F47-8819-554DE98142B1}" destId="{6A04B494-9176-432A-8947-582CE85EBBC0}" srcOrd="4" destOrd="0" presId="urn:microsoft.com/office/officeart/2005/8/layout/default"/>
    <dgm:cxn modelId="{74F2F4B0-0B83-48F6-9E69-70B877D8BA71}" type="presParOf" srcId="{24489948-9FCB-4F47-8819-554DE98142B1}" destId="{4C841E18-02E0-4B26-9C26-AC72F2EE82EA}" srcOrd="5" destOrd="0" presId="urn:microsoft.com/office/officeart/2005/8/layout/default"/>
    <dgm:cxn modelId="{A78EFFB9-F91E-4424-9F5D-8B4A759F369C}" type="presParOf" srcId="{24489948-9FCB-4F47-8819-554DE98142B1}" destId="{91551433-94D9-4859-8C80-597A1EF1FDA4}" srcOrd="6" destOrd="0" presId="urn:microsoft.com/office/officeart/2005/8/layout/default"/>
    <dgm:cxn modelId="{1EE0F9B4-0F68-4FE2-BF66-3249663356D8}" type="presParOf" srcId="{24489948-9FCB-4F47-8819-554DE98142B1}" destId="{73350E68-6AD6-4843-A467-275463C6FE52}" srcOrd="7" destOrd="0" presId="urn:microsoft.com/office/officeart/2005/8/layout/default"/>
    <dgm:cxn modelId="{0F846899-1681-46EB-9FF2-076CD1ABEA9D}" type="presParOf" srcId="{24489948-9FCB-4F47-8819-554DE98142B1}" destId="{85CB10B0-710C-47BE-BCED-F200ADD24D62}" srcOrd="8" destOrd="0" presId="urn:microsoft.com/office/officeart/2005/8/layout/default"/>
    <dgm:cxn modelId="{F52CF34F-500E-48C7-AB5C-CB34B483A42F}" type="presParOf" srcId="{24489948-9FCB-4F47-8819-554DE98142B1}" destId="{341072C4-86DF-4254-83FE-E2AFD632D125}" srcOrd="9" destOrd="0" presId="urn:microsoft.com/office/officeart/2005/8/layout/default"/>
    <dgm:cxn modelId="{1271656C-399E-4B89-AFA6-346CEE716A16}" type="presParOf" srcId="{24489948-9FCB-4F47-8819-554DE98142B1}" destId="{69CE15D7-1E67-46CE-9A6D-8BE90754074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13115-1150-459D-8319-F82A716022A0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 volta a </a:t>
          </a:r>
          <a:r>
            <a:rPr lang="it-IT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rPr>
            <a:t>settimana</a:t>
          </a:r>
          <a:r>
            <a:rPr lang="it-IT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; tutti i mercoledì per 12 settimane (3 CFU)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39687"/>
        <a:ext cx="3286125" cy="1971675"/>
      </dsp:txXfrm>
    </dsp:sp>
    <dsp:sp modelId="{4D8A4CA4-70A2-4C7F-86DF-34705D472DC9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Ore </a:t>
          </a:r>
          <a:r>
            <a:rPr lang="it-IT" sz="2000" kern="1200" dirty="0">
              <a:latin typeface="Palatino Linotype" panose="02040502050505030304" pitchFamily="18" charset="0"/>
            </a:rPr>
            <a:t>18-19.30</a:t>
          </a:r>
          <a:r>
            <a:rPr lang="it-IT" sz="2000" kern="1200" dirty="0"/>
            <a:t> su teams</a:t>
          </a:r>
          <a:endParaRPr lang="en-US" sz="2000" kern="1200" dirty="0"/>
        </a:p>
      </dsp:txBody>
      <dsp:txXfrm>
        <a:off x="3614737" y="39687"/>
        <a:ext cx="3286125" cy="1971675"/>
      </dsp:txXfrm>
    </dsp:sp>
    <dsp:sp modelId="{6A04B494-9176-432A-8947-582CE85EBBC0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La frequenza è obbligatoria? NI sarei contenta se </a:t>
          </a:r>
          <a:r>
            <a:rPr lang="it-IT" sz="2000" kern="1200" dirty="0">
              <a:latin typeface="Palatino Linotype" panose="02040502050505030304" pitchFamily="18" charset="0"/>
            </a:rPr>
            <a:t>frequentaste</a:t>
          </a:r>
          <a:r>
            <a:rPr lang="it-IT" sz="2000" kern="1200" dirty="0"/>
            <a:t> almeno il 75% delle lezioni</a:t>
          </a:r>
          <a:endParaRPr lang="en-US" sz="2000" kern="1200" dirty="0"/>
        </a:p>
      </dsp:txBody>
      <dsp:txXfrm>
        <a:off x="7229475" y="39687"/>
        <a:ext cx="3286125" cy="1971675"/>
      </dsp:txXfrm>
    </dsp:sp>
    <dsp:sp modelId="{91551433-94D9-4859-8C80-597A1EF1FDA4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Come si svolgerà il corso? In modo interattivo e seminariale. Ogni volta volevo invitare delle persone a parlare di un tema. Ogni incontro è self-</a:t>
          </a:r>
          <a:r>
            <a:rPr lang="it-IT" sz="2000" kern="1200" dirty="0" err="1"/>
            <a:t>contained</a:t>
          </a:r>
          <a:r>
            <a:rPr lang="it-IT" sz="2000" kern="1200" dirty="0"/>
            <a:t>;</a:t>
          </a:r>
          <a:endParaRPr lang="en-US" sz="2000" kern="1200" dirty="0"/>
        </a:p>
      </dsp:txBody>
      <dsp:txXfrm>
        <a:off x="0" y="2339975"/>
        <a:ext cx="3286125" cy="1971675"/>
      </dsp:txXfrm>
    </dsp:sp>
    <dsp:sp modelId="{85CB10B0-710C-47BE-BCED-F200ADD24D62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Si farà un esame finale? Si un project work</a:t>
          </a:r>
          <a:endParaRPr lang="en-US" sz="2000" kern="1200" dirty="0"/>
        </a:p>
      </dsp:txBody>
      <dsp:txXfrm>
        <a:off x="3614737" y="2339975"/>
        <a:ext cx="3286125" cy="1971675"/>
      </dsp:txXfrm>
    </dsp:sp>
    <dsp:sp modelId="{69CE15D7-1E67-46CE-9A6D-8BE907540743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Chiedete di approvare il </a:t>
          </a:r>
          <a:r>
            <a:rPr lang="it-IT" sz="2000" kern="1200" dirty="0">
              <a:latin typeface="Palatino Linotype" panose="02040502050505030304" pitchFamily="18" charset="0"/>
            </a:rPr>
            <a:t>vostro</a:t>
          </a:r>
          <a:r>
            <a:rPr lang="it-IT" sz="2000" kern="1200" dirty="0"/>
            <a:t> piano di studi</a:t>
          </a:r>
          <a:endParaRPr lang="en-US" sz="2000" kern="1200" dirty="0"/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749B-0E23-CAF3-4967-BE4BD40A5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1FD30-F2C4-249A-0D91-23B1DD9C7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C68EB-21A5-5A19-AB0C-84437472B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B3CD4-60E0-8B4B-3FFE-1D6900D4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470CB-B154-1290-C06A-C4BCEE28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9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5B9A-84BB-B9E8-E594-29E70A0A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53947-20EC-E15F-7708-06F86608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842B6-BC5A-7495-4028-98C1309E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BB35-D9F6-EB68-BE47-D76D8101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5ACD8-4328-3C04-1BAF-55F0DF06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0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585F-8612-C5EB-F080-22D1313C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8A677-9CF9-8223-26C0-D2E683D0D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F3DC5-5EAB-542A-42D5-3AA790B04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3A739-7EF5-D90D-BC1E-24D80656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168F7-5035-8565-F842-7BF0DE60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0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11B7-837E-3A6B-A774-0BA3C6D5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C8AED-5D24-2B3D-7932-82DF6A036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C785F-AF48-F7BF-1B29-99C0C0CD1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31D7D-FBC3-24CB-AB66-4780CD1E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A9D40-00FC-2CBD-AB05-6B3D5110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35E71-7FB5-71FE-5320-580B1945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6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BF6F-0FC9-2268-D24C-B5650375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E48E5-B969-CA9C-619F-6B66575E0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5D36E-7470-5DFB-7B0C-C5B6F4A65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F5386-66B7-5264-8F2B-F1B4836C6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FD8C1-C506-F505-D2D1-9E4EBB9B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08C96-00AE-B53E-92C8-D578B6C3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6FDAB-48B3-1FC2-945F-2EC42D70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6E680-082F-FD69-2DDD-2E9285D9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4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75B7-A05F-2121-BF3C-1733EC63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04B00-9DE3-EE0C-4F09-4F4F49BA4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68089-2003-0292-BD1A-273E547C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1F035-F561-D07E-84F4-47D43CE6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50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3C90D-8AAF-C2CC-EB77-FCC9E424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4AE04-AC29-D2E8-539A-EF69AFA6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012B5-0948-1469-3536-DC001B44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B6F3-1578-7796-A507-B7F8BB641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4FBC-012E-54F1-DE60-5A9501A20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7F408-DAC8-3D84-CC9C-2382DAB59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04082-9F14-97D6-8B51-82EA0DB9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A3E72-6C44-41A1-9608-09852A5C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A84CA-2B4D-488D-CEDB-22AC4DABC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C83E-020C-2882-E64D-FD105980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8D7261-E969-89C2-93C5-B0048D463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A6AD0-0682-9E5A-FC07-2FDFD60E2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C3BB1-98AB-432B-B528-3FF34573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F01F2-67E8-3ADA-1D4D-A4ADF2A6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3951E-3660-646D-3180-6B5977A4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6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6F72-BDF5-63F7-5A01-FCA78D36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7F603-E5D6-FA2F-55DB-F6E778E2E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428EC-A2F5-333E-5C68-ECED0D30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210F-2190-74AB-E8AC-01D287C8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4A6F-AC94-D89F-F5B2-89D08311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9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106AEC-CFA8-82B8-EC42-8555E883A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84A33-ADA1-011B-4C30-508575997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FF9F-6BDB-7802-2715-F1C40436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DD6B4-BDB0-D127-9638-D1BC20F5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41901-58E8-DB23-D1DE-8DDAE3B1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8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9584D-D912-023C-CB38-507750D5C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CDD50-E4B1-380C-A29F-8FBDF1800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5B0C0-6F74-7048-D512-C32CE7852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38893-9137-4687-8E3B-A9A21A0E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8541A-C543-8A15-765F-EF3AFC82E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B0B24-1171-280A-6545-6DE50F5B0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304CD-3326-47CA-BA1F-64ADE447C72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6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8139F-91F2-6329-4F42-F2B02F2E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371719"/>
            <a:ext cx="9573768" cy="222517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GENDER &amp; INCLUSION</a:t>
            </a:r>
            <a:b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Diversi </a:t>
            </a:r>
            <a:b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Unici</a:t>
            </a:r>
            <a:b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Uguali</a:t>
            </a:r>
            <a:endParaRPr lang="en-US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10" name="Content Placeholder 9" descr="A rainbow colored stripes&#10;&#10;Description automatically generated">
            <a:extLst>
              <a:ext uri="{FF2B5EF4-FFF2-40B4-BE49-F238E27FC236}">
                <a16:creationId xmlns:a16="http://schemas.microsoft.com/office/drawing/2014/main" id="{EE9C9DEF-1198-3CEB-91D7-1E99DC3AE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510" y="3429000"/>
            <a:ext cx="3747932" cy="2438400"/>
          </a:xfrm>
        </p:spPr>
      </p:pic>
      <p:pic>
        <p:nvPicPr>
          <p:cNvPr id="4" name="Content Placeholder 3" descr="A red square with white text and a symbol&#10;&#10;Description automatically generated">
            <a:extLst>
              <a:ext uri="{FF2B5EF4-FFF2-40B4-BE49-F238E27FC236}">
                <a16:creationId xmlns:a16="http://schemas.microsoft.com/office/drawing/2014/main" id="{D5196ECD-64B9-D200-7447-CFECDE7A91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58" r="-3" b="-3"/>
          <a:stretch/>
        </p:blipFill>
        <p:spPr>
          <a:xfrm>
            <a:off x="115024" y="2690859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8" name="Picture 7" descr="A logo with text and people in a circle&#10;&#10;Description automatically generated">
            <a:extLst>
              <a:ext uri="{FF2B5EF4-FFF2-40B4-BE49-F238E27FC236}">
                <a16:creationId xmlns:a16="http://schemas.microsoft.com/office/drawing/2014/main" id="{54CDB26B-41D0-BCF6-6D40-9BC04C61E65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73" b="4"/>
          <a:stretch/>
        </p:blipFill>
        <p:spPr>
          <a:xfrm>
            <a:off x="8297412" y="3249377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6" name="Picture 5" descr="A group of colorful circles&#10;&#10;Description automatically generated">
            <a:extLst>
              <a:ext uri="{FF2B5EF4-FFF2-40B4-BE49-F238E27FC236}">
                <a16:creationId xmlns:a16="http://schemas.microsoft.com/office/drawing/2014/main" id="{E750FFDF-2780-8943-6390-B1CA1D4F3B7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5" r="3079" b="-1"/>
          <a:stretch/>
        </p:blipFill>
        <p:spPr>
          <a:xfrm>
            <a:off x="7504874" y="109949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6919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82C38-A69A-448A-BA01-BE313BA12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it-IT">
                <a:latin typeface="Palatino Linotype" panose="02040502050505030304" pitchFamily="18" charset="0"/>
              </a:rPr>
              <a:t>Chi sono</a:t>
            </a:r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8AAB-A7EC-4B97-8145-17537F223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500">
                <a:latin typeface="Palatino Linotype" panose="02040502050505030304" pitchFamily="18" charset="0"/>
              </a:rPr>
              <a:t>DELEGATA DEL RETTORE ALLE PARI OPPORTUNITA’ E ALL’INCLUSIONE;</a:t>
            </a:r>
          </a:p>
          <a:p>
            <a:pPr marL="0" indent="0">
              <a:buNone/>
            </a:pPr>
            <a:r>
              <a:rPr lang="it-IT" sz="1500">
                <a:latin typeface="Palatino Linotype" panose="02040502050505030304" pitchFamily="18" charset="0"/>
              </a:rPr>
              <a:t>SONO UNA PROFESSORESSA DI ECONOMIA APPLICATA PRESSO IL DIPARTIMENTO DI INGEGNERIA DELL’IMPRESA;</a:t>
            </a:r>
          </a:p>
          <a:p>
            <a:pPr marL="0" indent="0">
              <a:buNone/>
            </a:pPr>
            <a:r>
              <a:rPr lang="it-IT" sz="1500">
                <a:latin typeface="Palatino Linotype" panose="02040502050505030304" pitchFamily="18" charset="0"/>
              </a:rPr>
              <a:t>TEMI DI RICERCA: RESILIENZA E GENDER; IN PARTICOLARE STUDIO COME LA STRUTTURA PRODUTTIVA IMPATTA SULLE DIFFERENZE DI GENERE;</a:t>
            </a:r>
          </a:p>
          <a:p>
            <a:pPr marL="0" indent="0">
              <a:buNone/>
            </a:pPr>
            <a:r>
              <a:rPr lang="it-IT" sz="1500">
                <a:latin typeface="Palatino Linotype" panose="02040502050505030304" pitchFamily="18" charset="0"/>
              </a:rPr>
              <a:t>COORDINO LA COMMISSIONE BILANCIO DI GENERE DI ATENEO;</a:t>
            </a:r>
          </a:p>
          <a:p>
            <a:pPr marL="0" indent="0">
              <a:buNone/>
            </a:pPr>
            <a:r>
              <a:rPr lang="it-IT" sz="1500">
                <a:latin typeface="Palatino Linotype" panose="02040502050505030304" pitchFamily="18" charset="0"/>
              </a:rPr>
              <a:t>HO COORDINATO LA COMMISSIONE CHE HA REDATTO IL GENDER EQUALITY PLAN DI ATENEO;</a:t>
            </a:r>
          </a:p>
          <a:p>
            <a:pPr marL="0" indent="0">
              <a:buNone/>
            </a:pPr>
            <a:r>
              <a:rPr lang="it-IT" sz="1500">
                <a:latin typeface="Palatino Linotype" panose="02040502050505030304" pitchFamily="18" charset="0"/>
              </a:rPr>
              <a:t>COSA FACCIO NEL TEMPO LIBERO? </a:t>
            </a:r>
          </a:p>
          <a:p>
            <a:pPr marL="0" indent="0">
              <a:buNone/>
            </a:pPr>
            <a:r>
              <a:rPr lang="it-IT" sz="1500">
                <a:latin typeface="Palatino Linotype" panose="02040502050505030304" pitchFamily="18" charset="0"/>
              </a:rPr>
              <a:t>MI OCCUPO DI QUESTIONI FEMMINILI; FACCIO PARTE DI SVARIATE ASSOCIAZIONI CHE PORTANO AVANTI PROGETTI SUL TEMA;</a:t>
            </a:r>
          </a:p>
          <a:p>
            <a:pPr marL="0" indent="0">
              <a:buNone/>
            </a:pPr>
            <a:endParaRPr lang="en-US" sz="15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Block Arc 20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88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blue and green background&#10;&#10;Description automatically generated">
            <a:extLst>
              <a:ext uri="{FF2B5EF4-FFF2-40B4-BE49-F238E27FC236}">
                <a16:creationId xmlns:a16="http://schemas.microsoft.com/office/drawing/2014/main" id="{B63CAD1A-2766-20A5-5298-6C40E350CB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56" b="315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9B5004-1D92-4B6A-8492-60A416C3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/>
              <a:t>Il corso: organizzazione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C755F9-5E2A-ABCE-D9B6-0FA312BCE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71130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028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A0673-E201-4E6E-98AE-DC660023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it-IT" sz="4000">
                <a:latin typeface="Palatino Linotype" panose="02040502050505030304" pitchFamily="18" charset="0"/>
              </a:rPr>
              <a:t>Cosa sono gli studi sul gender</a:t>
            </a:r>
            <a:endParaRPr lang="en-US" sz="400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DA976-0CE2-49A6-A2EF-52DF4CD57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636196"/>
            <a:ext cx="5115123" cy="372015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>
                <a:effectLst/>
                <a:latin typeface="Palatino Linotype" panose="02040502050505030304" pitchFamily="18" charset="0"/>
                <a:ea typeface="Calibri" panose="020F0502020204030204" pitchFamily="34" charset="0"/>
              </a:rPr>
              <a:t>I </a:t>
            </a:r>
            <a:r>
              <a:rPr lang="it-IT" sz="2000" b="1" dirty="0">
                <a:effectLst/>
                <a:latin typeface="Palatino Linotype" panose="02040502050505030304" pitchFamily="18" charset="0"/>
                <a:ea typeface="Calibri" panose="020F0502020204030204" pitchFamily="34" charset="0"/>
              </a:rPr>
              <a:t>Gender studies </a:t>
            </a:r>
            <a:r>
              <a:rPr lang="it-IT" sz="2000" dirty="0">
                <a:effectLst/>
                <a:latin typeface="Palatino Linotype" panose="02040502050505030304" pitchFamily="18" charset="0"/>
                <a:ea typeface="Calibri" panose="020F0502020204030204" pitchFamily="34" charset="0"/>
              </a:rPr>
              <a:t>si occupano dei significati socio-culturali legati all’identità di genere e ai ruoli di genere e sono trasversali a diverse discipline, sia scientifiche che umanistiche; ed hanno come obiettivo la sensibilizzazione degli individui al rispetto al tema dell’identità di genere anche attraverso il cambiamento di paradigmi psicologici, educativi e culturali.</a:t>
            </a:r>
            <a:endParaRPr lang="en-US" sz="2000" dirty="0">
              <a:latin typeface="Palatino Linotype" panose="02040502050505030304" pitchFamily="18" charset="0"/>
            </a:endParaRPr>
          </a:p>
        </p:txBody>
      </p:sp>
      <p:pic>
        <p:nvPicPr>
          <p:cNvPr id="5" name="Picture 4" descr="Figure scolpite colorate di esseri umani">
            <a:extLst>
              <a:ext uri="{FF2B5EF4-FFF2-40B4-BE49-F238E27FC236}">
                <a16:creationId xmlns:a16="http://schemas.microsoft.com/office/drawing/2014/main" id="{C4C55381-9392-C397-C230-924F1F1DE4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14" r="18181" b="-1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10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CDD6E-204B-44BD-88BB-572399F3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FFFFFF"/>
                </a:solidFill>
                <a:latin typeface="Palatino Linotype" panose="02040502050505030304" pitchFamily="18" charset="0"/>
              </a:rPr>
              <a:t>Perché parlare di gender e perché </a:t>
            </a:r>
            <a:r>
              <a:rPr lang="it-IT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inclusion</a:t>
            </a:r>
            <a:r>
              <a:rPr lang="it-IT" dirty="0">
                <a:solidFill>
                  <a:srgbClr val="FFFFFF"/>
                </a:solidFill>
                <a:latin typeface="Palatino Linotype" panose="02040502050505030304" pitchFamily="18" charset="0"/>
              </a:rPr>
              <a:t>???</a:t>
            </a:r>
            <a:endParaRPr lang="en-US" dirty="0">
              <a:solidFill>
                <a:srgbClr val="FFFFFF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8B94120-7BB0-410F-8F46-DCFB73E0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it-IT" sz="240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Obiettivo del corso è quello di rispondere alla seguente domanda: </a:t>
            </a:r>
          </a:p>
          <a:p>
            <a:r>
              <a:rPr lang="it-IT" sz="240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Come si ottiene un modello sociale rispettoso del gender ed inclusivo? Per rispondere a questa domanda è necessario comprendere l’origine e le conseguenze delle disuguaglianze di genere sotto il profilo economico, familiare e sociale al fine di comprendere quali azioni devono essere intraprese per diminuire le disuguaglianze. </a:t>
            </a:r>
            <a:endParaRPr lang="en-US" sz="240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4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86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042E8-4215-4281-B8A3-CBB3564B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it-IT" sz="41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Tema della lezione: </a:t>
            </a:r>
            <a:br>
              <a:rPr lang="it-IT" sz="41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</a:br>
            <a:r>
              <a:rPr lang="it-IT" sz="41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gli stereotipi di genere</a:t>
            </a:r>
            <a:endParaRPr lang="en-US" sz="41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C4E17-6235-4AAE-B0C3-89C78797E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200" dirty="0">
                <a:latin typeface="Palatino Linotype" panose="02040502050505030304" pitchFamily="18" charset="0"/>
              </a:rPr>
              <a:t>Insieme rigido di credenze condivise e trasmesse socialmente, su quelle che sono e devono essere i comportamenti, il ruolo, le occupazioni, i tratti, l’apparenza fisica di una persona, in relazione alla sua appartenenza di genere. </a:t>
            </a:r>
          </a:p>
          <a:p>
            <a:pPr marL="0" indent="0">
              <a:buNone/>
            </a:pPr>
            <a:endParaRPr lang="it-IT" sz="22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it-IT" sz="2200" dirty="0">
                <a:latin typeface="Palatino Linotype" panose="02040502050505030304" pitchFamily="18" charset="0"/>
              </a:rPr>
              <a:t>COSA COMPORTANO GLI STEREOTIPI DI GENERE E PERCHE’ DOBBIAMO COMPRENDERLI E MODIFICARE I NOSTRI COMPORTAMENTI?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0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7BA14-1498-00BB-BC3C-636E3068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62825" cy="1325563"/>
          </a:xfrm>
        </p:spPr>
        <p:txBody>
          <a:bodyPr>
            <a:normAutofit/>
          </a:bodyPr>
          <a:lstStyle/>
          <a:p>
            <a:r>
              <a:rPr lang="it-IT" sz="3400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Quale è secondo voi il più comune stereotipo di genere?</a:t>
            </a:r>
            <a:endParaRPr lang="en-US" sz="3400" dirty="0">
              <a:latin typeface="Palatino Linotype" panose="0204050205050503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C7077-C828-3D9A-5B44-8B4E79E6C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26462" cy="4351338"/>
          </a:xfrm>
        </p:spPr>
        <p:txBody>
          <a:bodyPr>
            <a:normAutofit/>
          </a:bodyPr>
          <a:lstStyle/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te la sbrighi bene, per essere una donna;</a:t>
            </a: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donna al volante, pericolo costante</a:t>
            </a:r>
            <a:r>
              <a:rPr lang="it-IT" sz="1500" b="1" dirty="0"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“com’è che una ragazza carina come te è ancora single”?</a:t>
            </a: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“dietro ogni grande uomo c’è sempre una grande donna”</a:t>
            </a:r>
            <a:endParaRPr lang="it-IT" sz="1500" b="1" dirty="0">
              <a:latin typeface="Palatino Linotype" panose="0204050205050503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“essere madre è la cosa più bella che possa succedere nella vita di una donna”</a:t>
            </a: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"Chi dice donna dice danno«</a:t>
            </a:r>
            <a:endParaRPr lang="it-IT" sz="1500" b="1" dirty="0">
              <a:latin typeface="Palatino Linotype" panose="0204050205050503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"L'amava troppo. Non sopportava di perderla…..l' ha uccisa".</a:t>
            </a:r>
            <a:endParaRPr lang="it-IT" sz="1500" b="1" dirty="0">
              <a:latin typeface="Palatino Linotype" panose="0204050205050503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"Beato chi le capisce le donne…«</a:t>
            </a: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"moglie, madre….e anche ingegnere".</a:t>
            </a:r>
            <a:endParaRPr lang="it-IT" sz="1500" b="1" dirty="0">
              <a:latin typeface="Palatino Linotype" panose="0204050205050503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"Posso parlare con suo marito?".</a:t>
            </a:r>
          </a:p>
          <a:p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Alle donne si fa sempre lo sconto: non dottoresse, scienziate, </a:t>
            </a:r>
            <a:r>
              <a:rPr lang="it-IT" sz="1500" b="1" i="0" dirty="0" err="1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austronaute</a:t>
            </a:r>
            <a:r>
              <a:rPr lang="it-IT" sz="1500" b="1" i="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ma Signora e Signorina e all'occorrenza mamma </a:t>
            </a:r>
            <a:endParaRPr lang="en-US" sz="1500" b="1" dirty="0">
              <a:latin typeface="Palatino Linotype" panose="0204050205050503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2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sX0" fmla="*/ 0 w 5649003"/>
              <a:gd name="csY0" fmla="*/ 5325836 h 10651671"/>
              <a:gd name="csX1" fmla="*/ 2824502 w 5649003"/>
              <a:gd name="csY1" fmla="*/ 0 h 10651671"/>
              <a:gd name="csX2" fmla="*/ 5649004 w 5649003"/>
              <a:gd name="csY2" fmla="*/ 5325836 h 10651671"/>
              <a:gd name="csX3" fmla="*/ 2824502 w 5649003"/>
              <a:gd name="csY3" fmla="*/ 10651672 h 10651671"/>
              <a:gd name="csX4" fmla="*/ 0 w 5649003"/>
              <a:gd name="csY4" fmla="*/ 5325836 h 10651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6018ED-25A7-A0BD-D511-1B9F791A5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150" y="1523238"/>
            <a:ext cx="7543800" cy="166116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I </a:t>
            </a:r>
            <a:r>
              <a:rPr lang="en-US" sz="66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risultati</a:t>
            </a:r>
            <a:r>
              <a:rPr lang="en-US" sz="66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 delle multi-</a:t>
            </a:r>
            <a:r>
              <a:rPr lang="en-US" sz="66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scopo</a:t>
            </a:r>
            <a:endParaRPr lang="en-US" sz="6600" kern="1200" dirty="0">
              <a:solidFill>
                <a:srgbClr val="FFFFFF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8F512-952D-820A-1E95-EA289A973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0" y="4173498"/>
            <a:ext cx="5722620" cy="111269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Gli</a:t>
            </a:r>
            <a:r>
              <a:rPr lang="en-US" sz="24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italiani</a:t>
            </a:r>
            <a:r>
              <a:rPr lang="en-US" sz="24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 &amp; le </a:t>
            </a:r>
            <a:r>
              <a:rPr lang="en-US" sz="24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italiane</a:t>
            </a:r>
            <a:r>
              <a:rPr lang="en-US" sz="24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 e </a:t>
            </a:r>
            <a:r>
              <a:rPr lang="en-US" sz="24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gli</a:t>
            </a:r>
            <a:r>
              <a:rPr lang="en-US" sz="24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stereotipi</a:t>
            </a:r>
            <a:r>
              <a:rPr lang="en-US" sz="24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 di </a:t>
            </a:r>
            <a:r>
              <a:rPr lang="en-US" sz="24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genere</a:t>
            </a:r>
            <a:r>
              <a:rPr lang="en-US" sz="24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 per </a:t>
            </a:r>
            <a:r>
              <a:rPr lang="en-US" sz="24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età</a:t>
            </a:r>
            <a:r>
              <a:rPr lang="en-US" sz="2400" kern="1200" dirty="0">
                <a:solidFill>
                  <a:srgbClr val="FFFFFF"/>
                </a:solidFill>
                <a:latin typeface="Palatino Linotype" panose="02040502050505030304" pitchFamily="18" charset="0"/>
              </a:rPr>
              <a:t> e </a:t>
            </a:r>
            <a:r>
              <a:rPr lang="en-US" sz="2400" kern="1200" dirty="0" err="1">
                <a:solidFill>
                  <a:srgbClr val="FFFFFF"/>
                </a:solidFill>
                <a:latin typeface="Palatino Linotype" panose="02040502050505030304" pitchFamily="18" charset="0"/>
              </a:rPr>
              <a:t>genere</a:t>
            </a:r>
            <a:endParaRPr lang="en-US" sz="2400" kern="1200" dirty="0">
              <a:solidFill>
                <a:srgbClr val="FFFFFF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18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365196-740B-04F5-399B-50CE42AEE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1878" y="643466"/>
            <a:ext cx="748752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58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6FE5D5-FB66-1DB9-0350-938AFA156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6075" y="649577"/>
            <a:ext cx="7353300" cy="552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07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1DB0BC-1780-D3AD-56A3-14FE969C8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048" y="1078992"/>
            <a:ext cx="6528815" cy="509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41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B463AD-EED4-6E42-EAC0-00DDBADE9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408" y="1088136"/>
            <a:ext cx="7351776" cy="508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52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428360-96F2-F87A-791D-EB9E29557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624" y="673858"/>
            <a:ext cx="7872984" cy="550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3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C63F51-4D7A-CE7B-B10F-B729B0826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960" y="181746"/>
            <a:ext cx="7680959" cy="599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89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1AF714D-6C9A-63DF-A6CF-04D8E633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Conclusione </a:t>
            </a:r>
          </a:p>
        </p:txBody>
      </p:sp>
      <p:sp>
        <p:nvSpPr>
          <p:cNvPr id="2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813C53-483A-D5F7-26BF-75CA22265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75072" cy="5885656"/>
          </a:xfrm>
        </p:spPr>
        <p:txBody>
          <a:bodyPr anchor="ctr">
            <a:normAutofit/>
          </a:bodyPr>
          <a:lstStyle/>
          <a:p>
            <a:r>
              <a:rPr lang="it-IT" sz="2000" dirty="0"/>
              <a:t>🔹 </a:t>
            </a:r>
            <a:r>
              <a:rPr lang="it-IT" sz="2000" b="1" dirty="0"/>
              <a:t>Gli stereotipi non sono solo idee.</a:t>
            </a:r>
            <a:br>
              <a:rPr lang="it-IT" sz="2000" dirty="0"/>
            </a:br>
            <a:r>
              <a:rPr lang="it-IT" sz="2000" dirty="0"/>
              <a:t>Influenzano il modo in cui interpretiamo capacità, ruoli e aspettative di uomini e donne.</a:t>
            </a:r>
          </a:p>
          <a:p>
            <a:r>
              <a:rPr lang="it-IT" sz="2000" dirty="0"/>
              <a:t>🔹 </a:t>
            </a:r>
            <a:r>
              <a:rPr lang="it-IT" sz="2000" b="1" dirty="0"/>
              <a:t>Producono effetti concreti nella società:</a:t>
            </a:r>
            <a:endParaRPr lang="it-IT" sz="2000" dirty="0"/>
          </a:p>
          <a:p>
            <a:r>
              <a:rPr lang="it-IT" sz="2000" dirty="0"/>
              <a:t>orientano </a:t>
            </a:r>
            <a:r>
              <a:rPr lang="it-IT" sz="2000" b="1" dirty="0"/>
              <a:t>le scelte educative</a:t>
            </a:r>
            <a:endParaRPr lang="it-IT" sz="2000" dirty="0"/>
          </a:p>
          <a:p>
            <a:r>
              <a:rPr lang="it-IT" sz="2000" dirty="0"/>
              <a:t>influenzano </a:t>
            </a:r>
            <a:r>
              <a:rPr lang="it-IT" sz="2000" b="1" dirty="0"/>
              <a:t>le carriere professionali</a:t>
            </a:r>
            <a:endParaRPr lang="it-IT" sz="2000" dirty="0"/>
          </a:p>
          <a:p>
            <a:r>
              <a:rPr lang="it-IT" sz="2000" dirty="0"/>
              <a:t>contribuiscono alle </a:t>
            </a:r>
            <a:r>
              <a:rPr lang="it-IT" sz="2000" b="1" dirty="0"/>
              <a:t>disuguaglianze economiche</a:t>
            </a:r>
            <a:endParaRPr lang="it-IT" sz="2000" dirty="0"/>
          </a:p>
          <a:p>
            <a:r>
              <a:rPr lang="it-IT" sz="2000" dirty="0"/>
              <a:t>incidono sulla </a:t>
            </a:r>
            <a:r>
              <a:rPr lang="it-IT" sz="2000" b="1" dirty="0"/>
              <a:t>divisione del lavoro familiare</a:t>
            </a:r>
            <a:endParaRPr lang="it-IT" sz="2000" dirty="0"/>
          </a:p>
          <a:p>
            <a:r>
              <a:rPr lang="it-IT" sz="2000" dirty="0"/>
              <a:t>🔹 </a:t>
            </a:r>
            <a:r>
              <a:rPr lang="it-IT" sz="2000" b="1" dirty="0"/>
              <a:t>Molti stereotipi agiscono in modo implicito</a:t>
            </a:r>
            <a:r>
              <a:rPr lang="it-IT" sz="2000" dirty="0"/>
              <a:t>, senza che ce ne rendiamo conto.</a:t>
            </a:r>
          </a:p>
          <a:p>
            <a:r>
              <a:rPr lang="it-IT" sz="2000" dirty="0"/>
              <a:t>🔹 </a:t>
            </a:r>
            <a:r>
              <a:rPr lang="it-IT" sz="2000" b="1" dirty="0"/>
              <a:t>Riconoscerli è il primo passo per superarli.</a:t>
            </a:r>
            <a:endParaRPr lang="it-IT" sz="2000" dirty="0"/>
          </a:p>
          <a:p>
            <a:r>
              <a:rPr lang="it-IT" sz="2000" dirty="0"/>
              <a:t>✔ comprendere i </a:t>
            </a:r>
            <a:r>
              <a:rPr lang="it-IT" sz="2000" dirty="0" err="1"/>
              <a:t>bias</a:t>
            </a:r>
            <a:br>
              <a:rPr lang="it-IT" sz="2000" dirty="0"/>
            </a:br>
            <a:r>
              <a:rPr lang="it-IT" sz="2000" dirty="0"/>
              <a:t>✔ mettere in discussione norme sociali date per scontate</a:t>
            </a:r>
            <a:br>
              <a:rPr lang="it-IT" sz="2000" dirty="0"/>
            </a:br>
            <a:r>
              <a:rPr lang="it-IT" sz="2000" dirty="0"/>
              <a:t>✔ costruire contesti </a:t>
            </a:r>
            <a:r>
              <a:rPr lang="it-IT" sz="2000" b="1" dirty="0"/>
              <a:t>più equi e inclusivi</a:t>
            </a:r>
            <a:endParaRPr lang="it-IT" sz="2000" dirty="0"/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22345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FD4F275-ACD1-C600-5380-8C78922C6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505854-BDE4-4156-D854-BA5EDC759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Una società inclusiva non elimina le differenze,</a:t>
            </a:r>
            <a:br>
              <a:rPr lang="it-IT" dirty="0"/>
            </a:br>
            <a:r>
              <a:rPr lang="it-IT" b="1" dirty="0"/>
              <a:t>ma garantisce pari opportunità indipendentemente dal genere.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41006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C69F3F7625CF74085CAA0E2A49F4C2D" ma:contentTypeVersion="10" ma:contentTypeDescription="Creare un nuovo documento." ma:contentTypeScope="" ma:versionID="f970594720fb6abcd21fd0ece3721bb8">
  <xsd:schema xmlns:xsd="http://www.w3.org/2001/XMLSchema" xmlns:xs="http://www.w3.org/2001/XMLSchema" xmlns:p="http://schemas.microsoft.com/office/2006/metadata/properties" xmlns:ns2="48a61d46-4d30-4b24-ac0a-556bb3cc81e4" xmlns:ns3="a89520b4-453f-4caf-a364-bd14af9a57b3" targetNamespace="http://schemas.microsoft.com/office/2006/metadata/properties" ma:root="true" ma:fieldsID="e495a74569071716296f8154eb9fe63a" ns2:_="" ns3:_="">
    <xsd:import namespace="48a61d46-4d30-4b24-ac0a-556bb3cc81e4"/>
    <xsd:import namespace="a89520b4-453f-4caf-a364-bd14af9a57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a61d46-4d30-4b24-ac0a-556bb3cc81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1013fbc9-b00e-4d37-9f0b-4b76e146b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9520b4-453f-4caf-a364-bd14af9a57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af5e59d-d4ac-435c-9382-48b95eae239d}" ma:internalName="TaxCatchAll" ma:showField="CatchAllData" ma:web="a89520b4-453f-4caf-a364-bd14af9a57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9520b4-453f-4caf-a364-bd14af9a57b3" xsi:nil="true"/>
    <lcf76f155ced4ddcb4097134ff3c332f xmlns="48a61d46-4d30-4b24-ac0a-556bb3cc81e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6A0911B-8C21-43D4-A1C0-5DBF3BF75C29}"/>
</file>

<file path=customXml/itemProps2.xml><?xml version="1.0" encoding="utf-8"?>
<ds:datastoreItem xmlns:ds="http://schemas.openxmlformats.org/officeDocument/2006/customXml" ds:itemID="{16906DAF-7F67-463D-B461-AB742F39959A}"/>
</file>

<file path=customXml/itemProps3.xml><?xml version="1.0" encoding="utf-8"?>
<ds:datastoreItem xmlns:ds="http://schemas.openxmlformats.org/officeDocument/2006/customXml" ds:itemID="{894F545A-083B-4E5A-AF87-F60559DF846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Words>656</Words>
  <Application>Microsoft Office PowerPoint</Application>
  <PresentationFormat>Widescreen</PresentationFormat>
  <Paragraphs>51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Palatino Linotype</vt:lpstr>
      <vt:lpstr>Office Theme</vt:lpstr>
      <vt:lpstr>GENDER &amp; INCLUSION Diversi  Unici Uguali</vt:lpstr>
      <vt:lpstr>Chi sono</vt:lpstr>
      <vt:lpstr>Il corso: organizzazione</vt:lpstr>
      <vt:lpstr>Cosa sono gli studi sul gender</vt:lpstr>
      <vt:lpstr>Perché parlare di gender e perché inclusion???</vt:lpstr>
      <vt:lpstr>Tema della lezione:  gli stereotipi di genere</vt:lpstr>
      <vt:lpstr>Quale è secondo voi il più comune stereotipo di genere?</vt:lpstr>
      <vt:lpstr>I risultati delle multi-scopo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Conclusione 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Gender&amp;Inclusion</dc:title>
  <dc:creator>Barbara Martini</dc:creator>
  <cp:lastModifiedBy>barbara martini</cp:lastModifiedBy>
  <cp:revision>15</cp:revision>
  <dcterms:created xsi:type="dcterms:W3CDTF">2022-03-02T15:24:46Z</dcterms:created>
  <dcterms:modified xsi:type="dcterms:W3CDTF">2026-03-04T14:26:33Z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0x0101002C69F3F7625CF74085CAA0E2A49F4C2D</vt:lpwstr>
  </property>
</Properties>
</file>