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18.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4"/>
  </p:notesMasterIdLst>
  <p:sldIdLst>
    <p:sldId id="256" r:id="rId3"/>
    <p:sldId id="257" r:id="rId4"/>
    <p:sldId id="258" r:id="rId5"/>
    <p:sldId id="259" r:id="rId6"/>
    <p:sldId id="260" r:id="rId7"/>
    <p:sldId id="261" r:id="rId8"/>
    <p:sldId id="262" r:id="rId9"/>
    <p:sldId id="263" r:id="rId10"/>
    <p:sldId id="279" r:id="rId11"/>
    <p:sldId id="283" r:id="rId12"/>
    <p:sldId id="264" r:id="rId13"/>
    <p:sldId id="280" r:id="rId14"/>
    <p:sldId id="265" r:id="rId15"/>
    <p:sldId id="266" r:id="rId16"/>
    <p:sldId id="284" r:id="rId17"/>
    <p:sldId id="268" r:id="rId18"/>
    <p:sldId id="270" r:id="rId19"/>
    <p:sldId id="281" r:id="rId20"/>
    <p:sldId id="282" r:id="rId21"/>
    <p:sldId id="285" r:id="rId22"/>
    <p:sldId id="273" r:id="rId23"/>
    <p:sldId id="274" r:id="rId24"/>
    <p:sldId id="288" r:id="rId25"/>
    <p:sldId id="290" r:id="rId26"/>
    <p:sldId id="291" r:id="rId27"/>
    <p:sldId id="292" r:id="rId28"/>
    <p:sldId id="293" r:id="rId29"/>
    <p:sldId id="294" r:id="rId30"/>
    <p:sldId id="275" r:id="rId31"/>
    <p:sldId id="286" r:id="rId32"/>
    <p:sldId id="276"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7" d="100"/>
          <a:sy n="57" d="100"/>
        </p:scale>
        <p:origin x="1166"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ustomXml" Target="../customXml/item1.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BE2B72-CF9C-4421-9B02-B0C1B3A886C1}" type="datetimeFigureOut">
              <a:rPr lang="it-IT" smtClean="0"/>
              <a:t>22/04/2026</a:t>
            </a:fld>
            <a:endParaRPr lang="it-IT"/>
          </a:p>
        </p:txBody>
      </p:sp>
      <p:sp>
        <p:nvSpPr>
          <p:cNvPr id="4" name="Segnaposto immagin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29F12A-A358-41B1-8B26-262E7222B6DF}" type="slidenum">
              <a:rPr lang="it-IT" smtClean="0"/>
              <a:t>‹N›</a:t>
            </a:fld>
            <a:endParaRPr lang="it-IT"/>
          </a:p>
        </p:txBody>
      </p:sp>
    </p:spTree>
    <p:extLst>
      <p:ext uri="{BB962C8B-B14F-4D97-AF65-F5344CB8AC3E}">
        <p14:creationId xmlns:p14="http://schemas.microsoft.com/office/powerpoint/2010/main" val="441644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sz="quarter" idx="5"/>
          </p:nvPr>
        </p:nvSpPr>
        <p:spPr/>
        <p:txBody>
          <a:bodyPr/>
          <a:lstStyle/>
          <a:p>
            <a:fld id="{8D29F12A-A358-41B1-8B26-262E7222B6DF}" type="slidenum">
              <a:rPr lang="it-IT" smtClean="0"/>
              <a:t>19</a:t>
            </a:fld>
            <a:endParaRPr lang="it-IT"/>
          </a:p>
        </p:txBody>
      </p:sp>
    </p:spTree>
    <p:extLst>
      <p:ext uri="{BB962C8B-B14F-4D97-AF65-F5344CB8AC3E}">
        <p14:creationId xmlns:p14="http://schemas.microsoft.com/office/powerpoint/2010/main" val="10719980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a:p>
            <a:endParaRPr lang="it-IT" dirty="0"/>
          </a:p>
        </p:txBody>
      </p:sp>
      <p:sp>
        <p:nvSpPr>
          <p:cNvPr id="4" name="Segnaposto numero diapositiva 3"/>
          <p:cNvSpPr>
            <a:spLocks noGrp="1"/>
          </p:cNvSpPr>
          <p:nvPr>
            <p:ph type="sldNum" sz="quarter" idx="5"/>
          </p:nvPr>
        </p:nvSpPr>
        <p:spPr/>
        <p:txBody>
          <a:bodyPr/>
          <a:lstStyle/>
          <a:p>
            <a:fld id="{8D29F12A-A358-41B1-8B26-262E7222B6DF}" type="slidenum">
              <a:rPr lang="it-IT" smtClean="0"/>
              <a:t>26</a:t>
            </a:fld>
            <a:endParaRPr lang="it-IT"/>
          </a:p>
        </p:txBody>
      </p:sp>
    </p:spTree>
    <p:extLst>
      <p:ext uri="{BB962C8B-B14F-4D97-AF65-F5344CB8AC3E}">
        <p14:creationId xmlns:p14="http://schemas.microsoft.com/office/powerpoint/2010/main" val="2191262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091062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904414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4217339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29342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539345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1658308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4944135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67328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683771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065838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8072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0779559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watch?v=AqAJLh9wuZ0"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image" Target="../media/image14.png"/><Relationship Id="rId4"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08993"/>
            <a:ext cx="6923558" cy="3542045"/>
          </a:xfrm>
        </p:spPr>
        <p:txBody>
          <a:bodyPr vert="horz" lIns="91440" tIns="45720" rIns="91440" bIns="45720" rtlCol="0" anchor="b">
            <a:normAutofit/>
          </a:bodyPr>
          <a:lstStyle/>
          <a:p>
            <a:pPr algn="l" defTabSz="914400">
              <a:lnSpc>
                <a:spcPct val="90000"/>
              </a:lnSpc>
            </a:pPr>
            <a:r>
              <a:rPr lang="en-US" sz="7800" kern="1200">
                <a:solidFill>
                  <a:schemeClr val="tx1"/>
                </a:solidFill>
                <a:latin typeface="+mj-lt"/>
                <a:ea typeface="+mj-ea"/>
                <a:cs typeface="+mj-cs"/>
              </a:rPr>
              <a:t>Cultura, comunicazione e genere</a:t>
            </a:r>
          </a:p>
        </p:txBody>
      </p:sp>
      <p:sp>
        <p:nvSpPr>
          <p:cNvPr id="3" name="Content Placeholder 2"/>
          <p:cNvSpPr>
            <a:spLocks noGrp="1"/>
          </p:cNvSpPr>
          <p:nvPr>
            <p:ph idx="1"/>
          </p:nvPr>
        </p:nvSpPr>
        <p:spPr>
          <a:xfrm>
            <a:off x="963930" y="4582814"/>
            <a:ext cx="5349252" cy="1312657"/>
          </a:xfrm>
        </p:spPr>
        <p:txBody>
          <a:bodyPr vert="horz" lIns="91440" tIns="45720" rIns="91440" bIns="45720" rtlCol="0" anchor="t">
            <a:normAutofit/>
          </a:bodyPr>
          <a:lstStyle/>
          <a:p>
            <a:pPr marL="0" indent="0" defTabSz="914400">
              <a:lnSpc>
                <a:spcPct val="90000"/>
              </a:lnSpc>
              <a:spcBef>
                <a:spcPts val="1000"/>
              </a:spcBef>
              <a:buNone/>
            </a:pPr>
            <a:r>
              <a:rPr lang="en-US" sz="2400" kern="1200" dirty="0" err="1">
                <a:solidFill>
                  <a:schemeClr val="tx1"/>
                </a:solidFill>
                <a:latin typeface="+mn-lt"/>
                <a:ea typeface="+mn-ea"/>
                <a:cs typeface="+mn-cs"/>
              </a:rPr>
              <a:t>Rappresentazioni</a:t>
            </a:r>
            <a:r>
              <a:rPr lang="en-US" sz="2400" kern="1200" dirty="0">
                <a:solidFill>
                  <a:schemeClr val="tx1"/>
                </a:solidFill>
                <a:latin typeface="+mn-lt"/>
                <a:ea typeface="+mn-ea"/>
                <a:cs typeface="+mn-cs"/>
              </a:rPr>
              <a:t>, </a:t>
            </a:r>
            <a:r>
              <a:rPr lang="en-US" sz="2400" kern="1200" dirty="0" err="1">
                <a:solidFill>
                  <a:schemeClr val="tx1"/>
                </a:solidFill>
                <a:latin typeface="+mn-lt"/>
                <a:ea typeface="+mn-ea"/>
                <a:cs typeface="+mn-cs"/>
              </a:rPr>
              <a:t>stereotipi</a:t>
            </a:r>
            <a:r>
              <a:rPr lang="en-US" sz="2400" kern="1200" dirty="0">
                <a:solidFill>
                  <a:schemeClr val="tx1"/>
                </a:solidFill>
                <a:latin typeface="+mn-lt"/>
                <a:ea typeface="+mn-ea"/>
                <a:cs typeface="+mn-cs"/>
              </a:rPr>
              <a:t> e </a:t>
            </a:r>
            <a:r>
              <a:rPr lang="en-US" sz="2400" kern="1200" dirty="0" err="1">
                <a:solidFill>
                  <a:schemeClr val="tx1"/>
                </a:solidFill>
                <a:latin typeface="+mn-lt"/>
                <a:ea typeface="+mn-ea"/>
                <a:cs typeface="+mn-cs"/>
              </a:rPr>
              <a:t>pratiche</a:t>
            </a:r>
            <a:r>
              <a:rPr lang="en-US" sz="2400" kern="1200" dirty="0">
                <a:solidFill>
                  <a:schemeClr val="tx1"/>
                </a:solidFill>
                <a:latin typeface="+mn-lt"/>
                <a:ea typeface="+mn-ea"/>
                <a:cs typeface="+mn-cs"/>
              </a:rPr>
              <a:t> inclusive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pPr>
              <a:lnSpc>
                <a:spcPct val="90000"/>
              </a:lnSpc>
            </a:pPr>
            <a:r>
              <a:rPr lang="en-US" sz="5400"/>
              <a:t>Obiettivi della lezione</a:t>
            </a:r>
          </a:p>
        </p:txBody>
      </p:sp>
      <p:sp>
        <p:nvSpPr>
          <p:cNvPr id="3" name="Content Placeholder 2"/>
          <p:cNvSpPr>
            <a:spLocks noGrp="1"/>
          </p:cNvSpPr>
          <p:nvPr>
            <p:ph idx="1"/>
          </p:nvPr>
        </p:nvSpPr>
        <p:spPr>
          <a:xfrm>
            <a:off x="963930" y="2969469"/>
            <a:ext cx="6056111" cy="2800395"/>
          </a:xfrm>
        </p:spPr>
        <p:txBody>
          <a:bodyPr anchor="t">
            <a:normAutofit lnSpcReduction="10000"/>
          </a:bodyPr>
          <a:lstStyle/>
          <a:p>
            <a:r>
              <a:rPr lang="it-IT" sz="2100" dirty="0"/>
              <a:t>Analizzare come la comunicazione e la cultura costruiscono e rinforzano le norme di genere</a:t>
            </a:r>
          </a:p>
          <a:p>
            <a:r>
              <a:rPr lang="it-IT" sz="2100" dirty="0"/>
              <a:t>Riconoscere gli stereotipi nei media e nelle pratiche comunicative</a:t>
            </a:r>
          </a:p>
          <a:p>
            <a:r>
              <a:rPr lang="it-IT" sz="2100" dirty="0"/>
              <a:t>Esplorare strumenti di comunicazione inclusiva</a:t>
            </a:r>
          </a:p>
          <a:p>
            <a:r>
              <a:rPr lang="it-IT" sz="2100" dirty="0"/>
              <a:t>Stimolare una lettura critica della cultura popolare e istituzionale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pPr>
              <a:lnSpc>
                <a:spcPct val="90000"/>
              </a:lnSpc>
            </a:pPr>
            <a:r>
              <a:rPr lang="en-US" sz="5400"/>
              <a:t>Che cos'è il genere?</a:t>
            </a:r>
          </a:p>
        </p:txBody>
      </p:sp>
      <p:sp>
        <p:nvSpPr>
          <p:cNvPr id="3" name="Content Placeholder 2"/>
          <p:cNvSpPr>
            <a:spLocks noGrp="1"/>
          </p:cNvSpPr>
          <p:nvPr>
            <p:ph idx="1"/>
          </p:nvPr>
        </p:nvSpPr>
        <p:spPr>
          <a:xfrm>
            <a:off x="963930" y="2969469"/>
            <a:ext cx="6056111" cy="2800395"/>
          </a:xfrm>
        </p:spPr>
        <p:txBody>
          <a:bodyPr anchor="t">
            <a:normAutofit/>
          </a:bodyPr>
          <a:lstStyle/>
          <a:p>
            <a:r>
              <a:rPr lang="it-IT" sz="2100"/>
              <a:t>Genere = costruzione sociale e culturale</a:t>
            </a:r>
          </a:p>
          <a:p>
            <a:r>
              <a:rPr lang="it-IT" sz="2100"/>
              <a:t>Differenza tra sesso biologico e genere</a:t>
            </a:r>
          </a:p>
          <a:p>
            <a:r>
              <a:rPr lang="it-IT" sz="2100"/>
              <a:t>"Non si nasce donne, lo si diventa" (Simone de Beauvoir)</a:t>
            </a:r>
          </a:p>
          <a:p>
            <a:r>
              <a:rPr lang="it-IT" sz="2100"/>
              <a:t>Judith Butler: il genere come performance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pPr>
              <a:lnSpc>
                <a:spcPct val="90000"/>
              </a:lnSpc>
            </a:pPr>
            <a:r>
              <a:rPr lang="it-IT" sz="5400"/>
              <a:t>Cultura e norme di genere</a:t>
            </a:r>
          </a:p>
        </p:txBody>
      </p:sp>
      <p:sp>
        <p:nvSpPr>
          <p:cNvPr id="3" name="Content Placeholder 2"/>
          <p:cNvSpPr>
            <a:spLocks noGrp="1"/>
          </p:cNvSpPr>
          <p:nvPr>
            <p:ph idx="1"/>
          </p:nvPr>
        </p:nvSpPr>
        <p:spPr>
          <a:xfrm>
            <a:off x="963930" y="2969469"/>
            <a:ext cx="6056111" cy="2800395"/>
          </a:xfrm>
        </p:spPr>
        <p:txBody>
          <a:bodyPr anchor="t">
            <a:normAutofit/>
          </a:bodyPr>
          <a:lstStyle/>
          <a:p>
            <a:r>
              <a:rPr lang="it-IT" sz="2100"/>
              <a:t>La cultura come veicolo di aspettative sociali</a:t>
            </a:r>
          </a:p>
          <a:p>
            <a:r>
              <a:rPr lang="it-IT" sz="2100"/>
              <a:t>Ruoli e modelli femminili e maschili</a:t>
            </a:r>
          </a:p>
          <a:p>
            <a:r>
              <a:rPr lang="it-IT" sz="2100"/>
              <a:t>Sanzioni sociali per chi devia dalle norme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pPr>
              <a:lnSpc>
                <a:spcPct val="90000"/>
              </a:lnSpc>
            </a:pPr>
            <a:r>
              <a:rPr lang="en-US" sz="5400"/>
              <a:t>Brainstorming iniziale</a:t>
            </a:r>
          </a:p>
        </p:txBody>
      </p:sp>
      <p:sp>
        <p:nvSpPr>
          <p:cNvPr id="3" name="Content Placeholder 2"/>
          <p:cNvSpPr>
            <a:spLocks noGrp="1"/>
          </p:cNvSpPr>
          <p:nvPr>
            <p:ph idx="1"/>
          </p:nvPr>
        </p:nvSpPr>
        <p:spPr>
          <a:xfrm>
            <a:off x="963930" y="2969469"/>
            <a:ext cx="6056111" cy="2800395"/>
          </a:xfrm>
        </p:spPr>
        <p:txBody>
          <a:bodyPr anchor="t">
            <a:normAutofit/>
          </a:bodyPr>
          <a:lstStyle/>
          <a:p>
            <a:pPr marL="0" indent="0">
              <a:buNone/>
            </a:pPr>
            <a:r>
              <a:rPr lang="it-IT" sz="2100"/>
              <a:t>Domanda: "Quali stereotipi di genere riconoscete nei media che consumate ogni giorno?"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pPr>
              <a:lnSpc>
                <a:spcPct val="90000"/>
              </a:lnSpc>
            </a:pPr>
            <a:r>
              <a:rPr lang="en-US" sz="5400"/>
              <a:t>Cos'è uno stereotipo?</a:t>
            </a:r>
          </a:p>
        </p:txBody>
      </p:sp>
      <p:sp>
        <p:nvSpPr>
          <p:cNvPr id="3" name="Content Placeholder 2"/>
          <p:cNvSpPr>
            <a:spLocks noGrp="1"/>
          </p:cNvSpPr>
          <p:nvPr>
            <p:ph idx="1"/>
          </p:nvPr>
        </p:nvSpPr>
        <p:spPr>
          <a:xfrm>
            <a:off x="963930" y="2969469"/>
            <a:ext cx="6056111" cy="2800395"/>
          </a:xfrm>
        </p:spPr>
        <p:txBody>
          <a:bodyPr anchor="t">
            <a:normAutofit/>
          </a:bodyPr>
          <a:lstStyle/>
          <a:p>
            <a:r>
              <a:rPr lang="it-IT" sz="2100"/>
              <a:t>Definizione: generalizzazione rigida e semplificata</a:t>
            </a:r>
          </a:p>
          <a:p>
            <a:r>
              <a:rPr lang="it-IT" sz="2100"/>
              <a:t>Funzione: rendere "leggibile" la realtà ma riduce la complessità</a:t>
            </a:r>
          </a:p>
          <a:p>
            <a:r>
              <a:rPr lang="it-IT" sz="2100"/>
              <a:t>Gli stereotipi più diffusi su uomini e donne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42517" y="1188637"/>
            <a:ext cx="7488461" cy="1597228"/>
          </a:xfrm>
        </p:spPr>
        <p:txBody>
          <a:bodyPr>
            <a:normAutofit/>
          </a:bodyPr>
          <a:lstStyle/>
          <a:p>
            <a:r>
              <a:rPr lang="en-US" sz="5200"/>
              <a:t>Media e stereotipi</a:t>
            </a:r>
          </a:p>
        </p:txBody>
      </p:sp>
      <p:pic>
        <p:nvPicPr>
          <p:cNvPr id="4" name="Picture 3">
            <a:extLst>
              <a:ext uri="{FF2B5EF4-FFF2-40B4-BE49-F238E27FC236}">
                <a16:creationId xmlns:a16="http://schemas.microsoft.com/office/drawing/2014/main" id="{C911709B-0B7D-1B5C-1A2E-B36D12E6E136}"/>
              </a:ext>
            </a:extLst>
          </p:cNvPr>
          <p:cNvPicPr>
            <a:picLocks noChangeAspect="1"/>
          </p:cNvPicPr>
          <p:nvPr/>
        </p:nvPicPr>
        <p:blipFill>
          <a:blip r:embed="rId2"/>
          <a:stretch>
            <a:fillRect/>
          </a:stretch>
        </p:blipFill>
        <p:spPr>
          <a:xfrm>
            <a:off x="943483" y="3018327"/>
            <a:ext cx="2448557" cy="2728198"/>
          </a:xfrm>
          <a:prstGeom prst="rect">
            <a:avLst/>
          </a:prstGeom>
        </p:spPr>
      </p:pic>
      <p:sp>
        <p:nvSpPr>
          <p:cNvPr id="3" name="Content Placeholder 2"/>
          <p:cNvSpPr>
            <a:spLocks noGrp="1"/>
          </p:cNvSpPr>
          <p:nvPr>
            <p:ph idx="1"/>
          </p:nvPr>
        </p:nvSpPr>
        <p:spPr>
          <a:xfrm>
            <a:off x="3941445" y="2998278"/>
            <a:ext cx="3178692" cy="2728198"/>
          </a:xfrm>
        </p:spPr>
        <p:txBody>
          <a:bodyPr anchor="t">
            <a:normAutofit/>
          </a:bodyPr>
          <a:lstStyle/>
          <a:p>
            <a:r>
              <a:rPr lang="it-IT" sz="1700"/>
              <a:t>Pubblicità, cinema, televisione, social media</a:t>
            </a:r>
          </a:p>
          <a:p>
            <a:r>
              <a:rPr lang="it-IT" sz="1700"/>
              <a:t>Immagini ricorrenti: donna oggetto, uomo dominante</a:t>
            </a:r>
          </a:p>
          <a:p>
            <a:r>
              <a:rPr lang="it-IT" sz="1700"/>
              <a:t>Il maschile attivo vs. il femminile passivo</a:t>
            </a:r>
          </a:p>
          <a:p>
            <a:endParaRPr lang="it-IT" sz="1700"/>
          </a:p>
          <a:p>
            <a:endParaRPr lang="it-IT" sz="17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r>
              <a:rPr lang="en-US" sz="6300" dirty="0"/>
              <a:t>Il test di Bechdel</a:t>
            </a:r>
          </a:p>
        </p:txBody>
      </p:sp>
      <p:sp>
        <p:nvSpPr>
          <p:cNvPr id="3" name="Content Placeholder 2"/>
          <p:cNvSpPr>
            <a:spLocks noGrp="1"/>
          </p:cNvSpPr>
          <p:nvPr>
            <p:ph idx="1"/>
          </p:nvPr>
        </p:nvSpPr>
        <p:spPr>
          <a:xfrm>
            <a:off x="963930" y="2969469"/>
            <a:ext cx="6056111" cy="2800395"/>
          </a:xfrm>
        </p:spPr>
        <p:txBody>
          <a:bodyPr anchor="t">
            <a:normAutofit lnSpcReduction="10000"/>
          </a:bodyPr>
          <a:lstStyle/>
          <a:p>
            <a:pPr marL="0" indent="0">
              <a:buNone/>
            </a:pPr>
            <a:r>
              <a:rPr lang="it-IT" sz="2800" b="1" dirty="0">
                <a:solidFill>
                  <a:srgbClr val="FF0000"/>
                </a:solidFill>
              </a:rPr>
              <a:t>- Tre criteri:</a:t>
            </a:r>
          </a:p>
          <a:p>
            <a:pPr marL="0" indent="0">
              <a:buNone/>
            </a:pPr>
            <a:r>
              <a:rPr lang="it-IT" sz="2800" dirty="0"/>
              <a:t>1. Ci sono almeno due personaggi femminili</a:t>
            </a:r>
          </a:p>
          <a:p>
            <a:pPr marL="0" indent="0">
              <a:buNone/>
            </a:pPr>
            <a:r>
              <a:rPr lang="it-IT" sz="2800" dirty="0"/>
              <a:t>2. Parlano tra loro</a:t>
            </a:r>
          </a:p>
          <a:p>
            <a:pPr marL="0" indent="0">
              <a:buNone/>
            </a:pPr>
            <a:r>
              <a:rPr lang="it-IT" sz="2800" dirty="0"/>
              <a:t>3. Parlano di qualcosa che non sia un uomo</a:t>
            </a:r>
          </a:p>
          <a:p>
            <a:pPr marL="0" indent="0">
              <a:buNone/>
            </a:pPr>
            <a:endParaRPr lang="it-IT"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7B1CCC4-DCFB-753E-5757-8CCC1C22B343}"/>
              </a:ext>
            </a:extLst>
          </p:cNvPr>
          <p:cNvPicPr>
            <a:picLocks noChangeAspect="1"/>
          </p:cNvPicPr>
          <p:nvPr/>
        </p:nvPicPr>
        <p:blipFill>
          <a:blip r:embed="rId2"/>
          <a:stretch>
            <a:fillRect/>
          </a:stretch>
        </p:blipFill>
        <p:spPr>
          <a:xfrm>
            <a:off x="466257" y="856107"/>
            <a:ext cx="2905593" cy="2179194"/>
          </a:xfrm>
          <a:prstGeom prst="rect">
            <a:avLst/>
          </a:prstGeom>
        </p:spPr>
      </p:pic>
      <p:pic>
        <p:nvPicPr>
          <p:cNvPr id="4" name="Picture 3">
            <a:extLst>
              <a:ext uri="{FF2B5EF4-FFF2-40B4-BE49-F238E27FC236}">
                <a16:creationId xmlns:a16="http://schemas.microsoft.com/office/drawing/2014/main" id="{B2881252-9CF6-4556-ED61-246B547CD4D2}"/>
              </a:ext>
            </a:extLst>
          </p:cNvPr>
          <p:cNvPicPr>
            <a:picLocks noChangeAspect="1"/>
          </p:cNvPicPr>
          <p:nvPr/>
        </p:nvPicPr>
        <p:blipFill>
          <a:blip r:embed="rId3"/>
          <a:stretch>
            <a:fillRect/>
          </a:stretch>
        </p:blipFill>
        <p:spPr>
          <a:xfrm>
            <a:off x="523963" y="3586297"/>
            <a:ext cx="2790181" cy="2644860"/>
          </a:xfrm>
          <a:prstGeom prst="rect">
            <a:avLst/>
          </a:prstGeom>
        </p:spPr>
      </p:pic>
      <p:sp>
        <p:nvSpPr>
          <p:cNvPr id="12" name="Right Triangle 11">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32021" y="623275"/>
            <a:ext cx="4928098"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81C097-AC14-4C1E-04E2-4BB512AD109B}"/>
              </a:ext>
            </a:extLst>
          </p:cNvPr>
          <p:cNvSpPr>
            <a:spLocks noGrp="1"/>
          </p:cNvSpPr>
          <p:nvPr>
            <p:ph type="title"/>
          </p:nvPr>
        </p:nvSpPr>
        <p:spPr>
          <a:xfrm>
            <a:off x="4099244" y="1188637"/>
            <a:ext cx="4231734" cy="1597228"/>
          </a:xfrm>
        </p:spPr>
        <p:txBody>
          <a:bodyPr>
            <a:normAutofit/>
          </a:bodyPr>
          <a:lstStyle/>
          <a:p>
            <a:r>
              <a:rPr lang="it-IT" sz="4700"/>
              <a:t>TEST</a:t>
            </a:r>
            <a:endParaRPr lang="en-US" sz="4700"/>
          </a:p>
        </p:txBody>
      </p:sp>
      <p:sp>
        <p:nvSpPr>
          <p:cNvPr id="3" name="Content Placeholder 2">
            <a:extLst>
              <a:ext uri="{FF2B5EF4-FFF2-40B4-BE49-F238E27FC236}">
                <a16:creationId xmlns:a16="http://schemas.microsoft.com/office/drawing/2014/main" id="{AF5C2020-EAAA-97C0-8881-C6340EFD9423}"/>
              </a:ext>
            </a:extLst>
          </p:cNvPr>
          <p:cNvSpPr>
            <a:spLocks noGrp="1"/>
          </p:cNvSpPr>
          <p:nvPr>
            <p:ph idx="1"/>
          </p:nvPr>
        </p:nvSpPr>
        <p:spPr>
          <a:xfrm>
            <a:off x="4099245" y="2998278"/>
            <a:ext cx="3379240" cy="2728198"/>
          </a:xfrm>
        </p:spPr>
        <p:txBody>
          <a:bodyPr anchor="t">
            <a:normAutofit/>
          </a:bodyPr>
          <a:lstStyle/>
          <a:p>
            <a:pPr marL="0" indent="0">
              <a:buNone/>
            </a:pPr>
            <a:r>
              <a:rPr lang="en-US" sz="2100"/>
              <a:t>Orange Is the New Black</a:t>
            </a:r>
            <a:endParaRPr lang="it-IT" sz="2100"/>
          </a:p>
          <a:p>
            <a:pPr marL="0" indent="0">
              <a:buNone/>
            </a:pPr>
            <a:endParaRPr lang="en-US" sz="2100"/>
          </a:p>
        </p:txBody>
      </p:sp>
    </p:spTree>
    <p:extLst>
      <p:ext uri="{BB962C8B-B14F-4D97-AF65-F5344CB8AC3E}">
        <p14:creationId xmlns:p14="http://schemas.microsoft.com/office/powerpoint/2010/main" val="3664866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41CE82-44EB-360C-235B-23A8DD4FF2B9}"/>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AE972FD-3CB5-4A8D-BC59-4A988A941E18}"/>
              </a:ext>
            </a:extLst>
          </p:cNvPr>
          <p:cNvPicPr>
            <a:picLocks noChangeAspect="1"/>
          </p:cNvPicPr>
          <p:nvPr/>
        </p:nvPicPr>
        <p:blipFill>
          <a:blip r:embed="rId2"/>
          <a:stretch>
            <a:fillRect/>
          </a:stretch>
        </p:blipFill>
        <p:spPr>
          <a:xfrm>
            <a:off x="466257" y="856107"/>
            <a:ext cx="2905593" cy="2179195"/>
          </a:xfrm>
          <a:prstGeom prst="rect">
            <a:avLst/>
          </a:prstGeom>
        </p:spPr>
      </p:pic>
      <p:pic>
        <p:nvPicPr>
          <p:cNvPr id="5" name="Picture 4">
            <a:extLst>
              <a:ext uri="{FF2B5EF4-FFF2-40B4-BE49-F238E27FC236}">
                <a16:creationId xmlns:a16="http://schemas.microsoft.com/office/drawing/2014/main" id="{CFE26682-008D-8B33-DEC6-E1BB739A3E9B}"/>
              </a:ext>
            </a:extLst>
          </p:cNvPr>
          <p:cNvPicPr>
            <a:picLocks noChangeAspect="1"/>
          </p:cNvPicPr>
          <p:nvPr/>
        </p:nvPicPr>
        <p:blipFill>
          <a:blip r:embed="rId3"/>
          <a:stretch>
            <a:fillRect/>
          </a:stretch>
        </p:blipFill>
        <p:spPr>
          <a:xfrm>
            <a:off x="520182" y="3586297"/>
            <a:ext cx="2797742" cy="2644860"/>
          </a:xfrm>
          <a:prstGeom prst="rect">
            <a:avLst/>
          </a:prstGeom>
        </p:spPr>
      </p:pic>
      <p:sp>
        <p:nvSpPr>
          <p:cNvPr id="12" name="Right Triangle 11">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32021" y="623275"/>
            <a:ext cx="4928098"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749214-AD1D-C4A4-0EB2-AC2E4D241DB4}"/>
              </a:ext>
            </a:extLst>
          </p:cNvPr>
          <p:cNvSpPr>
            <a:spLocks noGrp="1"/>
          </p:cNvSpPr>
          <p:nvPr>
            <p:ph type="title"/>
          </p:nvPr>
        </p:nvSpPr>
        <p:spPr>
          <a:xfrm>
            <a:off x="4099244" y="1188637"/>
            <a:ext cx="3352143" cy="708257"/>
          </a:xfrm>
        </p:spPr>
        <p:txBody>
          <a:bodyPr>
            <a:normAutofit fontScale="90000"/>
          </a:bodyPr>
          <a:lstStyle/>
          <a:p>
            <a:r>
              <a:rPr lang="it-IT" sz="4700" dirty="0"/>
              <a:t>TEST</a:t>
            </a:r>
            <a:endParaRPr lang="en-US" sz="4700" dirty="0"/>
          </a:p>
        </p:txBody>
      </p:sp>
      <p:sp>
        <p:nvSpPr>
          <p:cNvPr id="3" name="Content Placeholder 2">
            <a:extLst>
              <a:ext uri="{FF2B5EF4-FFF2-40B4-BE49-F238E27FC236}">
                <a16:creationId xmlns:a16="http://schemas.microsoft.com/office/drawing/2014/main" id="{ADC867E7-AE77-54C0-4087-DEFE40701B4A}"/>
              </a:ext>
            </a:extLst>
          </p:cNvPr>
          <p:cNvSpPr>
            <a:spLocks noGrp="1"/>
          </p:cNvSpPr>
          <p:nvPr>
            <p:ph idx="1"/>
          </p:nvPr>
        </p:nvSpPr>
        <p:spPr>
          <a:xfrm>
            <a:off x="3968683" y="2354095"/>
            <a:ext cx="4231734" cy="3560322"/>
          </a:xfrm>
        </p:spPr>
        <p:txBody>
          <a:bodyPr anchor="t">
            <a:normAutofit fontScale="92500" lnSpcReduction="10000"/>
          </a:bodyPr>
          <a:lstStyle/>
          <a:p>
            <a:pPr>
              <a:lnSpc>
                <a:spcPct val="90000"/>
              </a:lnSpc>
              <a:buNone/>
            </a:pPr>
            <a:endParaRPr lang="it-IT" sz="1200" i="1" dirty="0"/>
          </a:p>
          <a:p>
            <a:pPr>
              <a:lnSpc>
                <a:spcPct val="90000"/>
              </a:lnSpc>
              <a:buNone/>
            </a:pPr>
            <a:endParaRPr lang="it-IT" sz="1200" i="1" dirty="0"/>
          </a:p>
          <a:p>
            <a:pPr>
              <a:lnSpc>
                <a:spcPct val="90000"/>
              </a:lnSpc>
              <a:buNone/>
            </a:pPr>
            <a:endParaRPr lang="it-IT" sz="1800" i="1" dirty="0"/>
          </a:p>
          <a:p>
            <a:pPr>
              <a:lnSpc>
                <a:spcPct val="90000"/>
              </a:lnSpc>
              <a:buNone/>
            </a:pPr>
            <a:r>
              <a:rPr lang="it-IT" sz="1800" i="1" dirty="0"/>
              <a:t>Sex and the City</a:t>
            </a:r>
            <a:r>
              <a:rPr lang="it-IT" sz="1800" dirty="0"/>
              <a:t> supera il test </a:t>
            </a:r>
          </a:p>
          <a:p>
            <a:pPr>
              <a:lnSpc>
                <a:spcPct val="90000"/>
              </a:lnSpc>
              <a:buNone/>
            </a:pPr>
            <a:r>
              <a:rPr lang="it-IT" sz="1800" b="1" dirty="0"/>
              <a:t>non significa</a:t>
            </a:r>
            <a:r>
              <a:rPr lang="it-IT" sz="1800" dirty="0"/>
              <a:t> che sia immune da critiche:</a:t>
            </a:r>
          </a:p>
          <a:p>
            <a:pPr marL="0" indent="0">
              <a:lnSpc>
                <a:spcPct val="90000"/>
              </a:lnSpc>
              <a:buNone/>
            </a:pPr>
            <a:r>
              <a:rPr lang="it-IT" sz="1800" b="1" dirty="0"/>
              <a:t>Focus predominante sulle relazioni amorose etero</a:t>
            </a:r>
            <a:r>
              <a:rPr lang="it-IT" sz="1800" dirty="0"/>
              <a:t>.</a:t>
            </a:r>
          </a:p>
          <a:p>
            <a:pPr marL="0" indent="0">
              <a:lnSpc>
                <a:spcPct val="90000"/>
              </a:lnSpc>
              <a:buNone/>
            </a:pPr>
            <a:endParaRPr lang="it-IT" sz="1800" dirty="0"/>
          </a:p>
          <a:p>
            <a:pPr marL="0" indent="0">
              <a:lnSpc>
                <a:spcPct val="90000"/>
              </a:lnSpc>
              <a:buNone/>
            </a:pPr>
            <a:r>
              <a:rPr lang="it-IT" sz="1800" dirty="0"/>
              <a:t>Visione spesso limitata della </a:t>
            </a:r>
            <a:r>
              <a:rPr lang="it-IT" sz="1800" b="1" dirty="0"/>
              <a:t>diversità culturale</a:t>
            </a:r>
            <a:r>
              <a:rPr lang="it-IT" sz="1800" dirty="0"/>
              <a:t> (cast molto bianco, classe medio-alta).</a:t>
            </a:r>
          </a:p>
          <a:p>
            <a:pPr marL="0" indent="0">
              <a:lnSpc>
                <a:spcPct val="90000"/>
              </a:lnSpc>
              <a:buNone/>
            </a:pPr>
            <a:r>
              <a:rPr lang="it-IT" sz="1800" dirty="0"/>
              <a:t>Alcuni stereotipi sulle donne (shopping, moda, “trovare l’uomo giusto” come scopo di vita).</a:t>
            </a:r>
          </a:p>
          <a:p>
            <a:pPr>
              <a:lnSpc>
                <a:spcPct val="90000"/>
              </a:lnSpc>
            </a:pPr>
            <a:endParaRPr lang="en-US" sz="1200" dirty="0"/>
          </a:p>
        </p:txBody>
      </p:sp>
    </p:spTree>
    <p:extLst>
      <p:ext uri="{BB962C8B-B14F-4D97-AF65-F5344CB8AC3E}">
        <p14:creationId xmlns:p14="http://schemas.microsoft.com/office/powerpoint/2010/main" val="868082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pPr>
              <a:lnSpc>
                <a:spcPct val="90000"/>
              </a:lnSpc>
            </a:pPr>
            <a:r>
              <a:rPr lang="en-US" sz="5400" dirty="0" err="1"/>
              <a:t>Invisibilizzazione</a:t>
            </a:r>
            <a:r>
              <a:rPr lang="en-US" sz="5400" dirty="0"/>
              <a:t> e </a:t>
            </a:r>
            <a:r>
              <a:rPr lang="en-US" sz="5400" dirty="0" err="1"/>
              <a:t>ipervisibilità</a:t>
            </a:r>
            <a:endParaRPr lang="en-US" sz="5400" dirty="0"/>
          </a:p>
        </p:txBody>
      </p:sp>
      <p:sp>
        <p:nvSpPr>
          <p:cNvPr id="3" name="Content Placeholder 2"/>
          <p:cNvSpPr>
            <a:spLocks noGrp="1"/>
          </p:cNvSpPr>
          <p:nvPr>
            <p:ph idx="1"/>
          </p:nvPr>
        </p:nvSpPr>
        <p:spPr>
          <a:xfrm>
            <a:off x="963930" y="2969469"/>
            <a:ext cx="6056111" cy="2800395"/>
          </a:xfrm>
        </p:spPr>
        <p:txBody>
          <a:bodyPr anchor="t">
            <a:normAutofit/>
          </a:bodyPr>
          <a:lstStyle/>
          <a:p>
            <a:pPr>
              <a:lnSpc>
                <a:spcPct val="90000"/>
              </a:lnSpc>
            </a:pPr>
            <a:r>
              <a:rPr lang="it-IT" sz="1900" dirty="0"/>
              <a:t>Persone LGBTQIA+, donne nere o disabili: assenti o stereotipate</a:t>
            </a:r>
          </a:p>
          <a:p>
            <a:pPr>
              <a:lnSpc>
                <a:spcPct val="90000"/>
              </a:lnSpc>
              <a:buNone/>
            </a:pPr>
            <a:r>
              <a:rPr lang="it-IT" sz="1900" b="1" dirty="0"/>
              <a:t>❌ </a:t>
            </a:r>
            <a:r>
              <a:rPr lang="it-IT" sz="1900" b="1" i="1" dirty="0"/>
              <a:t>Philadelphia</a:t>
            </a:r>
            <a:r>
              <a:rPr lang="it-IT" sz="1900" b="1" dirty="0"/>
              <a:t> (1993)</a:t>
            </a:r>
          </a:p>
          <a:p>
            <a:pPr>
              <a:lnSpc>
                <a:spcPct val="90000"/>
              </a:lnSpc>
            </a:pPr>
            <a:r>
              <a:rPr lang="it-IT" sz="1900" dirty="0"/>
              <a:t>Pur essendo uno dei primi film mainstream a trattare l'HIV/AIDS e l'omofobia, è stato criticato per rappresentare il personaggio gay interpretato da Tom Hanks come una figura tragica e vittimizzata, contribuendo a una narrazione che associa l'omosessualità alla sofferenza e alla morte.</a:t>
            </a:r>
          </a:p>
          <a:p>
            <a:pPr>
              <a:lnSpc>
                <a:spcPct val="90000"/>
              </a:lnSpc>
            </a:pPr>
            <a:endParaRPr lang="it-IT" sz="1900" dirty="0"/>
          </a:p>
        </p:txBody>
      </p:sp>
      <p:pic>
        <p:nvPicPr>
          <p:cNvPr id="4" name="Picture 3">
            <a:extLst>
              <a:ext uri="{FF2B5EF4-FFF2-40B4-BE49-F238E27FC236}">
                <a16:creationId xmlns:a16="http://schemas.microsoft.com/office/drawing/2014/main" id="{1136A614-0893-BFA9-6FFE-676087CA67D0}"/>
              </a:ext>
            </a:extLst>
          </p:cNvPr>
          <p:cNvPicPr>
            <a:picLocks noChangeAspect="1"/>
          </p:cNvPicPr>
          <p:nvPr/>
        </p:nvPicPr>
        <p:blipFill>
          <a:blip r:embed="rId2"/>
          <a:stretch>
            <a:fillRect/>
          </a:stretch>
        </p:blipFill>
        <p:spPr>
          <a:xfrm>
            <a:off x="7000235" y="1436613"/>
            <a:ext cx="1428750" cy="21431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Triangle 10">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person and person kissing each other&#10;&#10;AI-generated content may be incorrect.">
            <a:extLst>
              <a:ext uri="{FF2B5EF4-FFF2-40B4-BE49-F238E27FC236}">
                <a16:creationId xmlns:a16="http://schemas.microsoft.com/office/drawing/2014/main" id="{337EADD6-08D9-5E7B-C1B5-B4455DE475E8}"/>
              </a:ext>
            </a:extLst>
          </p:cNvPr>
          <p:cNvPicPr>
            <a:picLocks noChangeAspect="1"/>
          </p:cNvPicPr>
          <p:nvPr/>
        </p:nvPicPr>
        <p:blipFill>
          <a:blip r:embed="rId2"/>
          <a:stretch>
            <a:fillRect/>
          </a:stretch>
        </p:blipFill>
        <p:spPr>
          <a:xfrm>
            <a:off x="842517" y="1560754"/>
            <a:ext cx="2650489" cy="3813653"/>
          </a:xfrm>
          <a:prstGeom prst="rect">
            <a:avLst/>
          </a:prstGeom>
        </p:spPr>
      </p:pic>
      <p:sp>
        <p:nvSpPr>
          <p:cNvPr id="3" name="Content Placeholder 2">
            <a:extLst>
              <a:ext uri="{FF2B5EF4-FFF2-40B4-BE49-F238E27FC236}">
                <a16:creationId xmlns:a16="http://schemas.microsoft.com/office/drawing/2014/main" id="{1492EB00-60E8-2E6C-B89F-0371227BAB9F}"/>
              </a:ext>
            </a:extLst>
          </p:cNvPr>
          <p:cNvSpPr>
            <a:spLocks noGrp="1"/>
          </p:cNvSpPr>
          <p:nvPr>
            <p:ph idx="1"/>
          </p:nvPr>
        </p:nvSpPr>
        <p:spPr>
          <a:xfrm>
            <a:off x="3941445" y="1702340"/>
            <a:ext cx="4718675" cy="4024136"/>
          </a:xfrm>
        </p:spPr>
        <p:txBody>
          <a:bodyPr anchor="t">
            <a:normAutofit fontScale="92500"/>
          </a:bodyPr>
          <a:lstStyle/>
          <a:p>
            <a:pPr>
              <a:lnSpc>
                <a:spcPct val="90000"/>
              </a:lnSpc>
              <a:buNone/>
            </a:pPr>
            <a:r>
              <a:rPr lang="it-IT" sz="1700" b="1" dirty="0"/>
              <a:t>❌ </a:t>
            </a:r>
            <a:r>
              <a:rPr lang="it-IT" sz="2800" b="1" i="1" dirty="0" err="1"/>
              <a:t>Gone</a:t>
            </a:r>
            <a:r>
              <a:rPr lang="it-IT" sz="2800" b="1" i="1" dirty="0"/>
              <a:t> with the Wind</a:t>
            </a:r>
            <a:r>
              <a:rPr lang="it-IT" sz="2800" b="1" dirty="0"/>
              <a:t> (1939)</a:t>
            </a:r>
          </a:p>
          <a:p>
            <a:pPr>
              <a:lnSpc>
                <a:spcPct val="90000"/>
              </a:lnSpc>
            </a:pPr>
            <a:r>
              <a:rPr lang="it-IT" sz="2800" dirty="0"/>
              <a:t>Considerato un classico, il film presenta rappresentazioni del cinema razziste e stereotipate delle persone nere, in particolare attraverso il personaggio di </a:t>
            </a:r>
            <a:r>
              <a:rPr lang="it-IT" sz="2800" dirty="0" err="1"/>
              <a:t>Mammy</a:t>
            </a:r>
            <a:r>
              <a:rPr lang="it-IT" sz="2800" dirty="0"/>
              <a:t>, che incarna lo stereotipo della domestica nera fedele e sottomessa.</a:t>
            </a:r>
          </a:p>
          <a:p>
            <a:pPr>
              <a:lnSpc>
                <a:spcPct val="90000"/>
              </a:lnSpc>
            </a:pPr>
            <a:endParaRPr lang="en-US" sz="1700" dirty="0"/>
          </a:p>
        </p:txBody>
      </p:sp>
    </p:spTree>
    <p:extLst>
      <p:ext uri="{BB962C8B-B14F-4D97-AF65-F5344CB8AC3E}">
        <p14:creationId xmlns:p14="http://schemas.microsoft.com/office/powerpoint/2010/main" val="2827011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25F302-27C5-414F-97F8-6EA0A6C028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830A36F8-48C2-4842-A87B-8CE8DF4E7F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F451A30-466B-4996-9BA5-CD6ABCC6D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941445" y="1188637"/>
            <a:ext cx="4389533" cy="1597228"/>
          </a:xfrm>
        </p:spPr>
        <p:txBody>
          <a:bodyPr>
            <a:normAutofit/>
          </a:bodyPr>
          <a:lstStyle/>
          <a:p>
            <a:r>
              <a:rPr lang="en-US" sz="5200"/>
              <a:t>Discussione</a:t>
            </a:r>
          </a:p>
        </p:txBody>
      </p:sp>
      <p:pic>
        <p:nvPicPr>
          <p:cNvPr id="7" name="Graphic 6" descr="Video camera">
            <a:extLst>
              <a:ext uri="{FF2B5EF4-FFF2-40B4-BE49-F238E27FC236}">
                <a16:creationId xmlns:a16="http://schemas.microsoft.com/office/drawing/2014/main" id="{8EF49009-1949-045C-FEED-8F5ABC4B187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42517" y="2142336"/>
            <a:ext cx="2650489" cy="2650489"/>
          </a:xfrm>
          <a:prstGeom prst="rect">
            <a:avLst/>
          </a:prstGeom>
        </p:spPr>
      </p:pic>
      <p:sp>
        <p:nvSpPr>
          <p:cNvPr id="3" name="Content Placeholder 2"/>
          <p:cNvSpPr>
            <a:spLocks noGrp="1"/>
          </p:cNvSpPr>
          <p:nvPr>
            <p:ph idx="1"/>
          </p:nvPr>
        </p:nvSpPr>
        <p:spPr>
          <a:xfrm>
            <a:off x="3941445" y="2998278"/>
            <a:ext cx="3321177" cy="2728198"/>
          </a:xfrm>
        </p:spPr>
        <p:txBody>
          <a:bodyPr anchor="t">
            <a:normAutofit/>
          </a:bodyPr>
          <a:lstStyle/>
          <a:p>
            <a:pPr marL="0" indent="0">
              <a:buNone/>
            </a:pPr>
            <a:r>
              <a:rPr lang="it-IT" sz="1700" dirty="0"/>
              <a:t>Domanda: "Avete esempi di media recenti (serie, film, video) che vi sembrano problematici o innovativi?"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Il linguaggio conta</a:t>
            </a:r>
          </a:p>
        </p:txBody>
      </p:sp>
      <p:sp>
        <p:nvSpPr>
          <p:cNvPr id="3" name="Content Placeholder 2"/>
          <p:cNvSpPr>
            <a:spLocks noGrp="1"/>
          </p:cNvSpPr>
          <p:nvPr>
            <p:ph idx="1"/>
          </p:nvPr>
        </p:nvSpPr>
        <p:spPr/>
        <p:txBody>
          <a:bodyPr/>
          <a:lstStyle/>
          <a:p>
            <a:r>
              <a:rPr dirty="0"/>
              <a:t>Il </a:t>
            </a:r>
            <a:r>
              <a:rPr dirty="0" err="1"/>
              <a:t>linguaggio</a:t>
            </a:r>
            <a:r>
              <a:rPr dirty="0"/>
              <a:t> </a:t>
            </a:r>
            <a:r>
              <a:rPr dirty="0" err="1"/>
              <a:t>crea</a:t>
            </a:r>
            <a:r>
              <a:rPr dirty="0"/>
              <a:t> </a:t>
            </a:r>
            <a:r>
              <a:rPr dirty="0" err="1"/>
              <a:t>realtà</a:t>
            </a:r>
            <a:r>
              <a:rPr dirty="0"/>
              <a:t>: non è </a:t>
            </a:r>
            <a:r>
              <a:rPr dirty="0" err="1"/>
              <a:t>neutro</a:t>
            </a:r>
            <a:endParaRPr dirty="0"/>
          </a:p>
          <a:p>
            <a:r>
              <a:rPr dirty="0" err="1"/>
              <a:t>Maschile</a:t>
            </a:r>
            <a:r>
              <a:rPr dirty="0"/>
              <a:t> </a:t>
            </a:r>
            <a:r>
              <a:rPr dirty="0" err="1"/>
              <a:t>sovraesteso</a:t>
            </a:r>
            <a:r>
              <a:rPr dirty="0"/>
              <a:t> e le sue </a:t>
            </a:r>
            <a:r>
              <a:rPr dirty="0" err="1"/>
              <a:t>implicazioni</a:t>
            </a:r>
            <a:endParaRPr dirty="0"/>
          </a:p>
          <a:p>
            <a:r>
              <a:rPr dirty="0" err="1"/>
              <a:t>Esempi</a:t>
            </a:r>
            <a:r>
              <a:rPr dirty="0"/>
              <a:t>: "i </a:t>
            </a:r>
            <a:r>
              <a:rPr dirty="0" err="1"/>
              <a:t>cittadini</a:t>
            </a:r>
            <a:r>
              <a:rPr dirty="0"/>
              <a:t>", "i professori"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6FD7672-78BE-4D6F-A711-2CDB79B52D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8496" y="323519"/>
            <a:ext cx="3242924" cy="6212748"/>
          </a:xfrm>
          <a:custGeom>
            <a:avLst/>
            <a:gdLst>
              <a:gd name="connsiteX0" fmla="*/ 0 w 4323899"/>
              <a:gd name="connsiteY0" fmla="*/ 0 h 6212748"/>
              <a:gd name="connsiteX1" fmla="*/ 742501 w 4323899"/>
              <a:gd name="connsiteY1" fmla="*/ 0 h 6212748"/>
              <a:gd name="connsiteX2" fmla="*/ 4323899 w 4323899"/>
              <a:gd name="connsiteY2" fmla="*/ 0 h 6212748"/>
              <a:gd name="connsiteX3" fmla="*/ 4323899 w 4323899"/>
              <a:gd name="connsiteY3" fmla="*/ 2864954 h 6212748"/>
              <a:gd name="connsiteX4" fmla="*/ 880454 w 4323899"/>
              <a:gd name="connsiteY4" fmla="*/ 6212748 h 6212748"/>
              <a:gd name="connsiteX5" fmla="*/ 0 w 4323899"/>
              <a:gd name="connsiteY5" fmla="*/ 6212748 h 6212748"/>
              <a:gd name="connsiteX6" fmla="*/ 0 w 4323899"/>
              <a:gd name="connsiteY6" fmla="*/ 6210962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23899" h="6212748">
                <a:moveTo>
                  <a:pt x="0" y="0"/>
                </a:moveTo>
                <a:lnTo>
                  <a:pt x="742501" y="0"/>
                </a:lnTo>
                <a:lnTo>
                  <a:pt x="4323899" y="0"/>
                </a:lnTo>
                <a:lnTo>
                  <a:pt x="4323899" y="2864954"/>
                </a:lnTo>
                <a:lnTo>
                  <a:pt x="880454" y="6212748"/>
                </a:lnTo>
                <a:lnTo>
                  <a:pt x="0" y="6212748"/>
                </a:lnTo>
                <a:lnTo>
                  <a:pt x="0" y="6210962"/>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ight Triangle 1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4A62647B-1222-407C-8740-5A497612B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2C749C-7B8F-D282-CCEC-169332DFAEF9}"/>
              </a:ext>
            </a:extLst>
          </p:cNvPr>
          <p:cNvSpPr>
            <a:spLocks noGrp="1"/>
          </p:cNvSpPr>
          <p:nvPr>
            <p:ph type="title"/>
          </p:nvPr>
        </p:nvSpPr>
        <p:spPr>
          <a:xfrm>
            <a:off x="6021969" y="806364"/>
            <a:ext cx="2515977" cy="2847413"/>
          </a:xfrm>
        </p:spPr>
        <p:txBody>
          <a:bodyPr vert="horz" lIns="91440" tIns="45720" rIns="91440" bIns="45720" rtlCol="0" anchor="b">
            <a:normAutofit/>
          </a:bodyPr>
          <a:lstStyle/>
          <a:p>
            <a:pPr algn="l" defTabSz="914400">
              <a:lnSpc>
                <a:spcPct val="90000"/>
              </a:lnSpc>
            </a:pPr>
            <a:r>
              <a:rPr lang="en-US" sz="3800" kern="1200">
                <a:solidFill>
                  <a:schemeClr val="tx1"/>
                </a:solidFill>
                <a:latin typeface="+mj-lt"/>
                <a:ea typeface="+mj-ea"/>
                <a:cs typeface="+mj-cs"/>
              </a:rPr>
              <a:t>Sostantivi collettivi inclusivi</a:t>
            </a:r>
          </a:p>
        </p:txBody>
      </p:sp>
      <p:graphicFrame>
        <p:nvGraphicFramePr>
          <p:cNvPr id="4" name="Content Placeholder 3">
            <a:extLst>
              <a:ext uri="{FF2B5EF4-FFF2-40B4-BE49-F238E27FC236}">
                <a16:creationId xmlns:a16="http://schemas.microsoft.com/office/drawing/2014/main" id="{8A677226-6CC9-C1FC-217F-803E363F4823}"/>
              </a:ext>
            </a:extLst>
          </p:cNvPr>
          <p:cNvGraphicFramePr>
            <a:graphicFrameLocks noGrp="1"/>
          </p:cNvGraphicFramePr>
          <p:nvPr>
            <p:ph idx="1"/>
            <p:extLst>
              <p:ext uri="{D42A27DB-BD31-4B8C-83A1-F6EECF244321}">
                <p14:modId xmlns:p14="http://schemas.microsoft.com/office/powerpoint/2010/main" val="1722377315"/>
              </p:ext>
            </p:extLst>
          </p:nvPr>
        </p:nvGraphicFramePr>
        <p:xfrm>
          <a:off x="700391" y="806365"/>
          <a:ext cx="5078998" cy="5424792"/>
        </p:xfrm>
        <a:graphic>
          <a:graphicData uri="http://schemas.openxmlformats.org/drawingml/2006/table">
            <a:tbl>
              <a:tblPr>
                <a:tableStyleId>{8EC20E35-A176-4012-BC5E-935CFFF8708E}</a:tableStyleId>
              </a:tblPr>
              <a:tblGrid>
                <a:gridCol w="2465461">
                  <a:extLst>
                    <a:ext uri="{9D8B030D-6E8A-4147-A177-3AD203B41FA5}">
                      <a16:colId xmlns:a16="http://schemas.microsoft.com/office/drawing/2014/main" val="3763618927"/>
                    </a:ext>
                  </a:extLst>
                </a:gridCol>
                <a:gridCol w="2613537">
                  <a:extLst>
                    <a:ext uri="{9D8B030D-6E8A-4147-A177-3AD203B41FA5}">
                      <a16:colId xmlns:a16="http://schemas.microsoft.com/office/drawing/2014/main" val="2319255880"/>
                    </a:ext>
                  </a:extLst>
                </a:gridCol>
              </a:tblGrid>
              <a:tr h="799671">
                <a:tc>
                  <a:txBody>
                    <a:bodyPr/>
                    <a:lstStyle/>
                    <a:p>
                      <a:r>
                        <a:rPr lang="en-US" sz="1800"/>
                        <a:t>Espressione maschile sovraestesa</a:t>
                      </a:r>
                    </a:p>
                  </a:txBody>
                  <a:tcPr marL="73530" marR="73530" marT="36765" marB="36765" anchor="ctr"/>
                </a:tc>
                <a:tc>
                  <a:txBody>
                    <a:bodyPr/>
                    <a:lstStyle/>
                    <a:p>
                      <a:r>
                        <a:rPr lang="en-US" sz="1800"/>
                        <a:t>Alternativa con sostantivo collettivo</a:t>
                      </a:r>
                    </a:p>
                  </a:txBody>
                  <a:tcPr marL="73530" marR="73530" marT="36765" marB="36765" anchor="ctr"/>
                </a:tc>
                <a:extLst>
                  <a:ext uri="{0D108BD9-81ED-4DB2-BD59-A6C34878D82A}">
                    <a16:rowId xmlns:a16="http://schemas.microsoft.com/office/drawing/2014/main" val="2055560152"/>
                  </a:ext>
                </a:extLst>
              </a:tr>
              <a:tr h="475479">
                <a:tc>
                  <a:txBody>
                    <a:bodyPr/>
                    <a:lstStyle/>
                    <a:p>
                      <a:r>
                        <a:rPr lang="en-US" sz="1800"/>
                        <a:t>I </a:t>
                      </a:r>
                      <a:r>
                        <a:rPr lang="en-US" sz="1800" b="1"/>
                        <a:t>professori</a:t>
                      </a:r>
                      <a:endParaRPr lang="en-US" sz="1800"/>
                    </a:p>
                  </a:txBody>
                  <a:tcPr marL="73530" marR="73530" marT="36765" marB="36765" anchor="ctr"/>
                </a:tc>
                <a:tc>
                  <a:txBody>
                    <a:bodyPr/>
                    <a:lstStyle/>
                    <a:p>
                      <a:r>
                        <a:rPr lang="en-US" sz="1800"/>
                        <a:t>Il </a:t>
                      </a:r>
                      <a:r>
                        <a:rPr lang="en-US" sz="1800" b="1"/>
                        <a:t>corpo docente</a:t>
                      </a:r>
                      <a:endParaRPr lang="en-US" sz="1800"/>
                    </a:p>
                  </a:txBody>
                  <a:tcPr marL="73530" marR="73530" marT="36765" marB="36765" anchor="ctr"/>
                </a:tc>
                <a:extLst>
                  <a:ext uri="{0D108BD9-81ED-4DB2-BD59-A6C34878D82A}">
                    <a16:rowId xmlns:a16="http://schemas.microsoft.com/office/drawing/2014/main" val="2365289725"/>
                  </a:ext>
                </a:extLst>
              </a:tr>
              <a:tr h="475479">
                <a:tc>
                  <a:txBody>
                    <a:bodyPr/>
                    <a:lstStyle/>
                    <a:p>
                      <a:r>
                        <a:rPr lang="en-US" sz="1800"/>
                        <a:t>I </a:t>
                      </a:r>
                      <a:r>
                        <a:rPr lang="en-US" sz="1800" b="1"/>
                        <a:t>medici</a:t>
                      </a:r>
                      <a:endParaRPr lang="en-US" sz="1800"/>
                    </a:p>
                  </a:txBody>
                  <a:tcPr marL="73530" marR="73530" marT="36765" marB="36765" anchor="ctr"/>
                </a:tc>
                <a:tc>
                  <a:txBody>
                    <a:bodyPr/>
                    <a:lstStyle/>
                    <a:p>
                      <a:r>
                        <a:rPr lang="en-US" sz="1800"/>
                        <a:t>Il </a:t>
                      </a:r>
                      <a:r>
                        <a:rPr lang="en-US" sz="1800" b="1"/>
                        <a:t>personale sanitario</a:t>
                      </a:r>
                      <a:endParaRPr lang="en-US" sz="1800"/>
                    </a:p>
                  </a:txBody>
                  <a:tcPr marL="73530" marR="73530" marT="36765" marB="36765" anchor="ctr"/>
                </a:tc>
                <a:extLst>
                  <a:ext uri="{0D108BD9-81ED-4DB2-BD59-A6C34878D82A}">
                    <a16:rowId xmlns:a16="http://schemas.microsoft.com/office/drawing/2014/main" val="21583897"/>
                  </a:ext>
                </a:extLst>
              </a:tr>
              <a:tr h="799671">
                <a:tc>
                  <a:txBody>
                    <a:bodyPr/>
                    <a:lstStyle/>
                    <a:p>
                      <a:r>
                        <a:rPr lang="en-US" sz="1800" dirty="0"/>
                        <a:t>Gli </a:t>
                      </a:r>
                      <a:r>
                        <a:rPr lang="en-US" sz="1800" b="1" dirty="0" err="1"/>
                        <a:t>studenti</a:t>
                      </a:r>
                      <a:endParaRPr lang="en-US" sz="1800" dirty="0"/>
                    </a:p>
                  </a:txBody>
                  <a:tcPr marL="73530" marR="73530" marT="36765" marB="36765" anchor="ctr"/>
                </a:tc>
                <a:tc>
                  <a:txBody>
                    <a:bodyPr/>
                    <a:lstStyle/>
                    <a:p>
                      <a:r>
                        <a:rPr lang="it-IT" sz="1800"/>
                        <a:t>La </a:t>
                      </a:r>
                      <a:r>
                        <a:rPr lang="it-IT" sz="1800" b="1"/>
                        <a:t>popolazione studentesca</a:t>
                      </a:r>
                      <a:r>
                        <a:rPr lang="it-IT" sz="1800"/>
                        <a:t> / chi studia</a:t>
                      </a:r>
                    </a:p>
                  </a:txBody>
                  <a:tcPr marL="73530" marR="73530" marT="36765" marB="36765" anchor="ctr"/>
                </a:tc>
                <a:extLst>
                  <a:ext uri="{0D108BD9-81ED-4DB2-BD59-A6C34878D82A}">
                    <a16:rowId xmlns:a16="http://schemas.microsoft.com/office/drawing/2014/main" val="3241760738"/>
                  </a:ext>
                </a:extLst>
              </a:tr>
              <a:tr h="475479">
                <a:tc>
                  <a:txBody>
                    <a:bodyPr/>
                    <a:lstStyle/>
                    <a:p>
                      <a:r>
                        <a:rPr lang="en-US" sz="1800"/>
                        <a:t>I </a:t>
                      </a:r>
                      <a:r>
                        <a:rPr lang="en-US" sz="1800" b="1"/>
                        <a:t>cittadini</a:t>
                      </a:r>
                      <a:endParaRPr lang="en-US" sz="1800"/>
                    </a:p>
                  </a:txBody>
                  <a:tcPr marL="73530" marR="73530" marT="36765" marB="36765" anchor="ctr"/>
                </a:tc>
                <a:tc>
                  <a:txBody>
                    <a:bodyPr/>
                    <a:lstStyle/>
                    <a:p>
                      <a:r>
                        <a:rPr lang="en-US" sz="1800"/>
                        <a:t>La </a:t>
                      </a:r>
                      <a:r>
                        <a:rPr lang="en-US" sz="1800" b="1"/>
                        <a:t>cittadinanza</a:t>
                      </a:r>
                      <a:endParaRPr lang="en-US" sz="1800"/>
                    </a:p>
                  </a:txBody>
                  <a:tcPr marL="73530" marR="73530" marT="36765" marB="36765" anchor="ctr"/>
                </a:tc>
                <a:extLst>
                  <a:ext uri="{0D108BD9-81ED-4DB2-BD59-A6C34878D82A}">
                    <a16:rowId xmlns:a16="http://schemas.microsoft.com/office/drawing/2014/main" val="3316847368"/>
                  </a:ext>
                </a:extLst>
              </a:tr>
              <a:tr h="799671">
                <a:tc>
                  <a:txBody>
                    <a:bodyPr/>
                    <a:lstStyle/>
                    <a:p>
                      <a:r>
                        <a:rPr lang="en-US" sz="1800"/>
                        <a:t>Gli </a:t>
                      </a:r>
                      <a:r>
                        <a:rPr lang="en-US" sz="1800" b="1"/>
                        <a:t>impiegati</a:t>
                      </a:r>
                      <a:endParaRPr lang="en-US" sz="1800"/>
                    </a:p>
                  </a:txBody>
                  <a:tcPr marL="73530" marR="73530" marT="36765" marB="36765" anchor="ctr"/>
                </a:tc>
                <a:tc>
                  <a:txBody>
                    <a:bodyPr/>
                    <a:lstStyle/>
                    <a:p>
                      <a:r>
                        <a:rPr lang="en-US" sz="1800"/>
                        <a:t>Il </a:t>
                      </a:r>
                      <a:r>
                        <a:rPr lang="en-US" sz="1800" b="1"/>
                        <a:t>personale amministrativo</a:t>
                      </a:r>
                      <a:endParaRPr lang="en-US" sz="1800"/>
                    </a:p>
                  </a:txBody>
                  <a:tcPr marL="73530" marR="73530" marT="36765" marB="36765" anchor="ctr"/>
                </a:tc>
                <a:extLst>
                  <a:ext uri="{0D108BD9-81ED-4DB2-BD59-A6C34878D82A}">
                    <a16:rowId xmlns:a16="http://schemas.microsoft.com/office/drawing/2014/main" val="3845445968"/>
                  </a:ext>
                </a:extLst>
              </a:tr>
              <a:tr h="799671">
                <a:tc>
                  <a:txBody>
                    <a:bodyPr/>
                    <a:lstStyle/>
                    <a:p>
                      <a:r>
                        <a:rPr lang="en-US" sz="1800"/>
                        <a:t>I </a:t>
                      </a:r>
                      <a:r>
                        <a:rPr lang="en-US" sz="1800" b="1"/>
                        <a:t>giovani</a:t>
                      </a:r>
                      <a:endParaRPr lang="en-US" sz="1800"/>
                    </a:p>
                  </a:txBody>
                  <a:tcPr marL="73530" marR="73530" marT="36765" marB="36765" anchor="ctr"/>
                </a:tc>
                <a:tc>
                  <a:txBody>
                    <a:bodyPr/>
                    <a:lstStyle/>
                    <a:p>
                      <a:r>
                        <a:rPr lang="it-IT" sz="1800"/>
                        <a:t>La </a:t>
                      </a:r>
                      <a:r>
                        <a:rPr lang="it-IT" sz="1800" b="1"/>
                        <a:t>gioventù</a:t>
                      </a:r>
                      <a:r>
                        <a:rPr lang="it-IT" sz="1800"/>
                        <a:t> / le </a:t>
                      </a:r>
                      <a:r>
                        <a:rPr lang="it-IT" sz="1800" b="1"/>
                        <a:t>nuove generazioni</a:t>
                      </a:r>
                      <a:endParaRPr lang="it-IT" sz="1800"/>
                    </a:p>
                  </a:txBody>
                  <a:tcPr marL="73530" marR="73530" marT="36765" marB="36765" anchor="ctr"/>
                </a:tc>
                <a:extLst>
                  <a:ext uri="{0D108BD9-81ED-4DB2-BD59-A6C34878D82A}">
                    <a16:rowId xmlns:a16="http://schemas.microsoft.com/office/drawing/2014/main" val="1620212706"/>
                  </a:ext>
                </a:extLst>
              </a:tr>
              <a:tr h="799671">
                <a:tc>
                  <a:txBody>
                    <a:bodyPr/>
                    <a:lstStyle/>
                    <a:p>
                      <a:r>
                        <a:rPr lang="en-US" sz="1800"/>
                        <a:t>I </a:t>
                      </a:r>
                      <a:r>
                        <a:rPr lang="en-US" sz="1800" b="1"/>
                        <a:t>lavoratori</a:t>
                      </a:r>
                      <a:endParaRPr lang="en-US" sz="1800"/>
                    </a:p>
                  </a:txBody>
                  <a:tcPr marL="73530" marR="73530" marT="36765" marB="36765" anchor="ctr"/>
                </a:tc>
                <a:tc>
                  <a:txBody>
                    <a:bodyPr/>
                    <a:lstStyle/>
                    <a:p>
                      <a:r>
                        <a:rPr lang="it-IT" sz="1800" dirty="0"/>
                        <a:t>Il </a:t>
                      </a:r>
                      <a:r>
                        <a:rPr lang="it-IT" sz="1800" b="1" dirty="0"/>
                        <a:t>personale</a:t>
                      </a:r>
                      <a:r>
                        <a:rPr lang="it-IT" sz="1800" dirty="0"/>
                        <a:t> / la </a:t>
                      </a:r>
                      <a:r>
                        <a:rPr lang="it-IT" sz="1800" b="1" dirty="0"/>
                        <a:t>forza lavoro</a:t>
                      </a:r>
                      <a:endParaRPr lang="it-IT" sz="1800" dirty="0"/>
                    </a:p>
                  </a:txBody>
                  <a:tcPr marL="73530" marR="73530" marT="36765" marB="36765" anchor="ctr"/>
                </a:tc>
                <a:extLst>
                  <a:ext uri="{0D108BD9-81ED-4DB2-BD59-A6C34878D82A}">
                    <a16:rowId xmlns:a16="http://schemas.microsoft.com/office/drawing/2014/main" val="116155982"/>
                  </a:ext>
                </a:extLst>
              </a:tr>
            </a:tbl>
          </a:graphicData>
        </a:graphic>
      </p:graphicFrame>
    </p:spTree>
    <p:extLst>
      <p:ext uri="{BB962C8B-B14F-4D97-AF65-F5344CB8AC3E}">
        <p14:creationId xmlns:p14="http://schemas.microsoft.com/office/powerpoint/2010/main" val="335016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Linee guida istituzionali</a:t>
            </a:r>
          </a:p>
        </p:txBody>
      </p:sp>
      <p:sp>
        <p:nvSpPr>
          <p:cNvPr id="3" name="Content Placeholder 2"/>
          <p:cNvSpPr>
            <a:spLocks noGrp="1"/>
          </p:cNvSpPr>
          <p:nvPr>
            <p:ph idx="1"/>
          </p:nvPr>
        </p:nvSpPr>
        <p:spPr/>
        <p:txBody>
          <a:bodyPr/>
          <a:lstStyle/>
          <a:p>
            <a:r>
              <a:rPr dirty="0"/>
              <a:t>- Linee </a:t>
            </a:r>
            <a:r>
              <a:rPr dirty="0" err="1"/>
              <a:t>guida</a:t>
            </a:r>
            <a:r>
              <a:rPr dirty="0"/>
              <a:t> RAI, UNESCO, </a:t>
            </a:r>
            <a:r>
              <a:rPr dirty="0" err="1"/>
              <a:t>università</a:t>
            </a:r>
            <a:endParaRPr dirty="0"/>
          </a:p>
          <a:p>
            <a:r>
              <a:rPr dirty="0"/>
              <a:t>- </a:t>
            </a:r>
            <a:r>
              <a:rPr dirty="0" err="1"/>
              <a:t>Alcuni</a:t>
            </a:r>
            <a:r>
              <a:rPr dirty="0"/>
              <a:t> </a:t>
            </a:r>
            <a:r>
              <a:rPr dirty="0" err="1"/>
              <a:t>esempi</a:t>
            </a:r>
            <a:r>
              <a:rPr dirty="0"/>
              <a:t> </a:t>
            </a:r>
            <a:r>
              <a:rPr dirty="0" err="1"/>
              <a:t>concreti</a:t>
            </a:r>
            <a:r>
              <a:rPr dirty="0"/>
              <a:t> di </a:t>
            </a:r>
            <a:r>
              <a:rPr dirty="0" err="1"/>
              <a:t>buone</a:t>
            </a:r>
            <a:r>
              <a:rPr dirty="0"/>
              <a:t> </a:t>
            </a:r>
            <a:r>
              <a:rPr dirty="0" err="1"/>
              <a:t>pratiche</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Cultura pop e genere</a:t>
            </a:r>
          </a:p>
        </p:txBody>
      </p:sp>
      <p:sp>
        <p:nvSpPr>
          <p:cNvPr id="3" name="Content Placeholder 2"/>
          <p:cNvSpPr>
            <a:spLocks noGrp="1"/>
          </p:cNvSpPr>
          <p:nvPr>
            <p:ph idx="1"/>
          </p:nvPr>
        </p:nvSpPr>
        <p:spPr/>
        <p:txBody>
          <a:bodyPr/>
          <a:lstStyle/>
          <a:p>
            <a:r>
              <a:rPr dirty="0"/>
              <a:t> Musica, </a:t>
            </a:r>
            <a:r>
              <a:rPr dirty="0" err="1"/>
              <a:t>moda</a:t>
            </a:r>
            <a:r>
              <a:rPr dirty="0"/>
              <a:t>, </a:t>
            </a:r>
            <a:r>
              <a:rPr dirty="0" err="1"/>
              <a:t>videogiochi</a:t>
            </a:r>
            <a:r>
              <a:rPr dirty="0"/>
              <a:t>, social</a:t>
            </a:r>
          </a:p>
          <a:p>
            <a:r>
              <a:rPr dirty="0"/>
              <a:t> </a:t>
            </a:r>
            <a:r>
              <a:rPr dirty="0" err="1"/>
              <a:t>Modelli</a:t>
            </a:r>
            <a:r>
              <a:rPr dirty="0"/>
              <a:t> di </a:t>
            </a:r>
            <a:r>
              <a:rPr dirty="0" err="1"/>
              <a:t>femminilità</a:t>
            </a:r>
            <a:r>
              <a:rPr dirty="0"/>
              <a:t> e </a:t>
            </a:r>
            <a:r>
              <a:rPr dirty="0" err="1"/>
              <a:t>mascolinità</a:t>
            </a:r>
            <a:r>
              <a:rPr dirty="0"/>
              <a:t> </a:t>
            </a:r>
            <a:r>
              <a:rPr dirty="0" err="1"/>
              <a:t>alternativi</a:t>
            </a:r>
            <a:endParaRPr dirty="0"/>
          </a:p>
          <a:p>
            <a:r>
              <a:rPr dirty="0"/>
              <a:t>-</a:t>
            </a:r>
            <a:r>
              <a:rPr dirty="0" err="1"/>
              <a:t>Femminismo</a:t>
            </a:r>
            <a:r>
              <a:rPr dirty="0"/>
              <a:t> pop: Beyoncé, Taylor Swift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6D826-B121-C30C-90C2-AC4BD78D57D7}"/>
              </a:ext>
            </a:extLst>
          </p:cNvPr>
          <p:cNvSpPr>
            <a:spLocks noGrp="1"/>
          </p:cNvSpPr>
          <p:nvPr>
            <p:ph type="title"/>
          </p:nvPr>
        </p:nvSpPr>
        <p:spPr/>
        <p:txBody>
          <a:bodyPr/>
          <a:lstStyle/>
          <a:p>
            <a:r>
              <a:rPr lang="en-US" dirty="0"/>
              <a:t>Beyoncé</a:t>
            </a:r>
          </a:p>
        </p:txBody>
      </p:sp>
      <p:pic>
        <p:nvPicPr>
          <p:cNvPr id="4" name="Content Placeholder 3">
            <a:extLst>
              <a:ext uri="{FF2B5EF4-FFF2-40B4-BE49-F238E27FC236}">
                <a16:creationId xmlns:a16="http://schemas.microsoft.com/office/drawing/2014/main" id="{A3E1B9E4-B5EB-62D3-7B12-DEE747AD2C17}"/>
              </a:ext>
            </a:extLst>
          </p:cNvPr>
          <p:cNvPicPr>
            <a:picLocks noGrp="1" noChangeAspect="1"/>
          </p:cNvPicPr>
          <p:nvPr>
            <p:ph idx="1"/>
          </p:nvPr>
        </p:nvPicPr>
        <p:blipFill>
          <a:blip r:embed="rId2"/>
          <a:stretch>
            <a:fillRect/>
          </a:stretch>
        </p:blipFill>
        <p:spPr>
          <a:xfrm>
            <a:off x="708903" y="2441475"/>
            <a:ext cx="2666595" cy="2666595"/>
          </a:xfrm>
          <a:prstGeom prst="rect">
            <a:avLst/>
          </a:prstGeom>
        </p:spPr>
      </p:pic>
      <p:pic>
        <p:nvPicPr>
          <p:cNvPr id="5" name="Picture 4">
            <a:extLst>
              <a:ext uri="{FF2B5EF4-FFF2-40B4-BE49-F238E27FC236}">
                <a16:creationId xmlns:a16="http://schemas.microsoft.com/office/drawing/2014/main" id="{618E616B-B2E8-39C9-54EE-EBE0A5405B22}"/>
              </a:ext>
            </a:extLst>
          </p:cNvPr>
          <p:cNvPicPr>
            <a:picLocks noChangeAspect="1"/>
          </p:cNvPicPr>
          <p:nvPr/>
        </p:nvPicPr>
        <p:blipFill>
          <a:blip r:embed="rId3"/>
          <a:stretch>
            <a:fillRect/>
          </a:stretch>
        </p:blipFill>
        <p:spPr>
          <a:xfrm>
            <a:off x="3797637" y="2354094"/>
            <a:ext cx="3338636" cy="3715966"/>
          </a:xfrm>
          <a:prstGeom prst="rect">
            <a:avLst/>
          </a:prstGeom>
        </p:spPr>
      </p:pic>
    </p:spTree>
    <p:extLst>
      <p:ext uri="{BB962C8B-B14F-4D97-AF65-F5344CB8AC3E}">
        <p14:creationId xmlns:p14="http://schemas.microsoft.com/office/powerpoint/2010/main" val="1340402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AF5432-BD75-25EA-2178-552294A47612}"/>
              </a:ext>
            </a:extLst>
          </p:cNvPr>
          <p:cNvSpPr>
            <a:spLocks noGrp="1"/>
          </p:cNvSpPr>
          <p:nvPr>
            <p:ph type="title"/>
          </p:nvPr>
        </p:nvSpPr>
        <p:spPr>
          <a:xfrm>
            <a:off x="806825" y="1188637"/>
            <a:ext cx="2241175" cy="4480726"/>
          </a:xfrm>
        </p:spPr>
        <p:txBody>
          <a:bodyPr>
            <a:normAutofit/>
          </a:bodyPr>
          <a:lstStyle/>
          <a:p>
            <a:pPr algn="r"/>
            <a:r>
              <a:rPr lang="it-IT" sz="5700"/>
              <a:t>Taylor Switf</a:t>
            </a:r>
            <a:endParaRPr lang="en-US" sz="5700"/>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0CA007A-B659-DF3A-6151-F9563F47F761}"/>
              </a:ext>
            </a:extLst>
          </p:cNvPr>
          <p:cNvSpPr>
            <a:spLocks noGrp="1"/>
          </p:cNvSpPr>
          <p:nvPr>
            <p:ph idx="1"/>
          </p:nvPr>
        </p:nvSpPr>
        <p:spPr>
          <a:xfrm>
            <a:off x="3732006" y="1051634"/>
            <a:ext cx="4928114" cy="5008698"/>
          </a:xfrm>
        </p:spPr>
        <p:txBody>
          <a:bodyPr anchor="ctr">
            <a:normAutofit/>
          </a:bodyPr>
          <a:lstStyle/>
          <a:p>
            <a:pPr marL="0" indent="0">
              <a:lnSpc>
                <a:spcPct val="90000"/>
              </a:lnSpc>
              <a:buNone/>
            </a:pPr>
            <a:r>
              <a:rPr lang="it-IT" sz="1200" b="1" dirty="0"/>
              <a:t>Una donna che scrive canzoni autobiografiche è patetica, un uomo è geniale.”</a:t>
            </a:r>
          </a:p>
          <a:p>
            <a:pPr marL="0" indent="0">
              <a:lnSpc>
                <a:spcPct val="90000"/>
              </a:lnSpc>
              <a:buNone/>
            </a:pPr>
            <a:br>
              <a:rPr lang="it-IT" sz="1200" dirty="0"/>
            </a:br>
            <a:r>
              <a:rPr lang="it-IT" sz="1200" b="1" dirty="0"/>
              <a:t>“La cosa più importante è che una ragazza giovane possa guardare me e dire: posso dire quello che penso.” </a:t>
            </a:r>
          </a:p>
          <a:p>
            <a:pPr marL="0" indent="0">
              <a:lnSpc>
                <a:spcPct val="90000"/>
              </a:lnSpc>
              <a:buNone/>
            </a:pPr>
            <a:endParaRPr lang="it-IT" sz="1200" b="1" dirty="0"/>
          </a:p>
          <a:p>
            <a:pPr marL="0" indent="0">
              <a:lnSpc>
                <a:spcPct val="90000"/>
              </a:lnSpc>
              <a:buNone/>
            </a:pPr>
            <a:r>
              <a:rPr lang="it-IT" sz="1200" b="1" dirty="0"/>
              <a:t>Nel videoclip di "The Man", </a:t>
            </a:r>
            <a:r>
              <a:rPr lang="it-IT" sz="1200" dirty="0"/>
              <a:t>Taylor Swift si trasforma in un uomo per esplorare e criticare i privilegi maschili nella società. Diretto e scritto dalla stessa artista, il video presenta il personaggio di "Tyler Swift", interpretato da Taylor con un trucco prostetico realizzato dal make-up </a:t>
            </a:r>
            <a:r>
              <a:rPr lang="it-IT" sz="1200" dirty="0" err="1"/>
              <a:t>artist</a:t>
            </a:r>
            <a:r>
              <a:rPr lang="it-IT" sz="1200" dirty="0"/>
              <a:t> Bill Corso, che impiegava circa sei ore per completare la trasformazione .​The Man" funge da satira sociale, evidenziando come un uomo possa comportarsi in modo arrogante e ottenere approvazione senza subire le stesse critiche che una donna riceverebbe. Il video mostra Tyler mentre fuma in metropolitana, urina in pubblico, si comporta in modo arrogante con le sue dipendenti e viene idolatrato per il suo comportamento sessista .​</a:t>
            </a:r>
            <a:r>
              <a:rPr lang="it-IT" sz="1200" dirty="0" err="1"/>
              <a:t>DireDonnaAlla</a:t>
            </a:r>
            <a:r>
              <a:rPr lang="it-IT" sz="1200" dirty="0"/>
              <a:t> fine del video, viene rivelato che Tyler è in realtà Taylor Swift, doppiata da Dwayne "The Rock" Johnson, in un incontro tra i due personaggi sul set di un film. Questa conclusione sottolinea l'intento della cantante di riflettere su come sarebbe percepita se fosse un uomo, mettendo in luce le disuguaglianze di genere esistenti .</a:t>
            </a:r>
            <a:r>
              <a:rPr lang="it-IT" sz="1200" b="1" dirty="0"/>
              <a:t>​</a:t>
            </a:r>
          </a:p>
          <a:p>
            <a:pPr marL="0" indent="0">
              <a:lnSpc>
                <a:spcPct val="90000"/>
              </a:lnSpc>
              <a:buNone/>
            </a:pPr>
            <a:r>
              <a:rPr lang="en-US" sz="1200" dirty="0">
                <a:hlinkClick r:id="rId3"/>
              </a:rPr>
              <a:t>https://www.youtube.com/watch?v=AqAJLh9wuZ0</a:t>
            </a:r>
            <a:endParaRPr lang="it-IT" sz="1200" b="1" dirty="0"/>
          </a:p>
          <a:p>
            <a:pPr marL="0" indent="0">
              <a:lnSpc>
                <a:spcPct val="90000"/>
              </a:lnSpc>
              <a:buNone/>
            </a:pPr>
            <a:endParaRPr lang="en-US" sz="800" dirty="0"/>
          </a:p>
        </p:txBody>
      </p:sp>
    </p:spTree>
    <p:extLst>
      <p:ext uri="{BB962C8B-B14F-4D97-AF65-F5344CB8AC3E}">
        <p14:creationId xmlns:p14="http://schemas.microsoft.com/office/powerpoint/2010/main" val="2294712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49088-41D4-A5E4-5512-6D0B7CBA1884}"/>
              </a:ext>
            </a:extLst>
          </p:cNvPr>
          <p:cNvSpPr>
            <a:spLocks noGrp="1"/>
          </p:cNvSpPr>
          <p:nvPr>
            <p:ph type="title"/>
          </p:nvPr>
        </p:nvSpPr>
        <p:spPr>
          <a:xfrm>
            <a:off x="2727542" y="4313948"/>
            <a:ext cx="3703452" cy="1022411"/>
          </a:xfrm>
        </p:spPr>
        <p:txBody>
          <a:bodyPr vert="horz" lIns="91440" tIns="45720" rIns="91440" bIns="45720" rtlCol="0" anchor="t">
            <a:normAutofit/>
          </a:bodyPr>
          <a:lstStyle/>
          <a:p>
            <a:pPr algn="l" defTabSz="914400">
              <a:lnSpc>
                <a:spcPct val="90000"/>
              </a:lnSpc>
            </a:pPr>
            <a:r>
              <a:rPr lang="en-US" sz="3300"/>
              <a:t>Nuove mascolinità</a:t>
            </a:r>
            <a:br>
              <a:rPr lang="en-US" sz="3300"/>
            </a:br>
            <a:endParaRPr lang="en-US" sz="3300"/>
          </a:p>
        </p:txBody>
      </p:sp>
      <p:sp>
        <p:nvSpPr>
          <p:cNvPr id="15" name="Freeform: Shape 14">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5288" y="-3753"/>
            <a:ext cx="3601933" cy="2083455"/>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350">
              <a:solidFill>
                <a:prstClr val="white"/>
              </a:solidFill>
              <a:latin typeface="Calibri" panose="020F0502020204030204"/>
            </a:endParaRPr>
          </a:p>
        </p:txBody>
      </p:sp>
      <p:sp>
        <p:nvSpPr>
          <p:cNvPr id="17" name="Freeform: Shape 16">
            <a:extLst>
              <a:ext uri="{FF2B5EF4-FFF2-40B4-BE49-F238E27FC236}">
                <a16:creationId xmlns:a16="http://schemas.microsoft.com/office/drawing/2014/main" id="{1208BC59-C84F-483F-80CD-FAEC74229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7591" y="2063"/>
            <a:ext cx="3322473" cy="1940047"/>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5" name="Picture 4">
            <a:extLst>
              <a:ext uri="{FF2B5EF4-FFF2-40B4-BE49-F238E27FC236}">
                <a16:creationId xmlns:a16="http://schemas.microsoft.com/office/drawing/2014/main" id="{E4285337-A5AF-C1AF-77FA-A1FFB8D3F516}"/>
              </a:ext>
            </a:extLst>
          </p:cNvPr>
          <p:cNvPicPr>
            <a:picLocks noChangeAspect="1"/>
          </p:cNvPicPr>
          <p:nvPr/>
        </p:nvPicPr>
        <p:blipFill>
          <a:blip r:embed="rId2"/>
          <a:stretch>
            <a:fillRect/>
          </a:stretch>
        </p:blipFill>
        <p:spPr>
          <a:xfrm>
            <a:off x="873494" y="128404"/>
            <a:ext cx="2231948" cy="1255470"/>
          </a:xfrm>
          <a:prstGeom prst="rect">
            <a:avLst/>
          </a:prstGeom>
        </p:spPr>
      </p:pic>
      <p:sp>
        <p:nvSpPr>
          <p:cNvPr id="19" name="Freeform: Shape 18">
            <a:extLst>
              <a:ext uri="{FF2B5EF4-FFF2-40B4-BE49-F238E27FC236}">
                <a16:creationId xmlns:a16="http://schemas.microsoft.com/office/drawing/2014/main" id="{2E2D6188-24E5-426A-BB2A-3FA2D6B9C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0" y="3430748"/>
            <a:ext cx="2673479" cy="3427251"/>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21" name="Freeform: Shape 20">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0" y="3306163"/>
            <a:ext cx="2798064" cy="3551837"/>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350">
              <a:solidFill>
                <a:prstClr val="white"/>
              </a:solidFill>
              <a:latin typeface="Calibri" panose="020F0502020204030204"/>
            </a:endParaRPr>
          </a:p>
        </p:txBody>
      </p:sp>
      <p:sp>
        <p:nvSpPr>
          <p:cNvPr id="23" name="Freeform: Shape 22">
            <a:extLst>
              <a:ext uri="{FF2B5EF4-FFF2-40B4-BE49-F238E27FC236}">
                <a16:creationId xmlns:a16="http://schemas.microsoft.com/office/drawing/2014/main" id="{A1DABD52-05DF-4F31-AFB9-B330D8BE46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33629" y="991141"/>
            <a:ext cx="2550236" cy="2550236"/>
          </a:xfrm>
          <a:custGeom>
            <a:avLst/>
            <a:gdLst>
              <a:gd name="connsiteX0" fmla="*/ 1426464 w 2852928"/>
              <a:gd name="connsiteY0" fmla="*/ 0 h 2852928"/>
              <a:gd name="connsiteX1" fmla="*/ 2852928 w 2852928"/>
              <a:gd name="connsiteY1" fmla="*/ 1426464 h 2852928"/>
              <a:gd name="connsiteX2" fmla="*/ 1426464 w 2852928"/>
              <a:gd name="connsiteY2" fmla="*/ 2852928 h 2852928"/>
              <a:gd name="connsiteX3" fmla="*/ 0 w 2852928"/>
              <a:gd name="connsiteY3" fmla="*/ 1426464 h 2852928"/>
              <a:gd name="connsiteX4" fmla="*/ 1426464 w 2852928"/>
              <a:gd name="connsiteY4" fmla="*/ 0 h 2852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2928" h="2852928">
                <a:moveTo>
                  <a:pt x="1426464" y="0"/>
                </a:moveTo>
                <a:cubicBezTo>
                  <a:pt x="2214278" y="0"/>
                  <a:pt x="2852928" y="638650"/>
                  <a:pt x="2852928" y="1426464"/>
                </a:cubicBezTo>
                <a:cubicBezTo>
                  <a:pt x="2852928" y="2214278"/>
                  <a:pt x="2214278" y="2852928"/>
                  <a:pt x="1426464" y="2852928"/>
                </a:cubicBezTo>
                <a:cubicBezTo>
                  <a:pt x="638650" y="2852928"/>
                  <a:pt x="0" y="2214278"/>
                  <a:pt x="0" y="1426464"/>
                </a:cubicBezTo>
                <a:cubicBezTo>
                  <a:pt x="0" y="638650"/>
                  <a:pt x="638650" y="0"/>
                  <a:pt x="1426464"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25" name="Oval 24">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6500" y="834351"/>
            <a:ext cx="2844494" cy="2844494"/>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panose="020F0502020204030204"/>
            </a:endParaRPr>
          </a:p>
        </p:txBody>
      </p:sp>
      <p:pic>
        <p:nvPicPr>
          <p:cNvPr id="4" name="Content Placeholder 3">
            <a:extLst>
              <a:ext uri="{FF2B5EF4-FFF2-40B4-BE49-F238E27FC236}">
                <a16:creationId xmlns:a16="http://schemas.microsoft.com/office/drawing/2014/main" id="{87F2F47D-1E33-D8CB-5DD6-4B51853AAA6E}"/>
              </a:ext>
            </a:extLst>
          </p:cNvPr>
          <p:cNvPicPr>
            <a:picLocks noGrp="1" noChangeAspect="1"/>
          </p:cNvPicPr>
          <p:nvPr>
            <p:ph idx="1"/>
          </p:nvPr>
        </p:nvPicPr>
        <p:blipFill>
          <a:blip r:embed="rId3"/>
          <a:stretch>
            <a:fillRect/>
          </a:stretch>
        </p:blipFill>
        <p:spPr>
          <a:xfrm>
            <a:off x="4190982" y="1448494"/>
            <a:ext cx="1635529" cy="1635529"/>
          </a:xfrm>
          <a:prstGeom prst="rect">
            <a:avLst/>
          </a:prstGeom>
        </p:spPr>
      </p:pic>
      <p:sp>
        <p:nvSpPr>
          <p:cNvPr id="27" name="Freeform: Shape 26">
            <a:extLst>
              <a:ext uri="{FF2B5EF4-FFF2-40B4-BE49-F238E27FC236}">
                <a16:creationId xmlns:a16="http://schemas.microsoft.com/office/drawing/2014/main" id="{6B9D64DB-4D5C-4A91-B45F-F301E3174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4426" y="-3754"/>
            <a:ext cx="2579574" cy="2662562"/>
          </a:xfrm>
          <a:custGeom>
            <a:avLst/>
            <a:gdLst>
              <a:gd name="connsiteX0" fmla="*/ 115336 w 3439432"/>
              <a:gd name="connsiteY0" fmla="*/ 0 h 3550083"/>
              <a:gd name="connsiteX1" fmla="*/ 3439432 w 3439432"/>
              <a:gd name="connsiteY1" fmla="*/ 0 h 3550083"/>
              <a:gd name="connsiteX2" fmla="*/ 3439432 w 3439432"/>
              <a:gd name="connsiteY2" fmla="*/ 3462762 h 3550083"/>
              <a:gd name="connsiteX3" fmla="*/ 3318024 w 3439432"/>
              <a:gd name="connsiteY3" fmla="*/ 3493980 h 3550083"/>
              <a:gd name="connsiteX4" fmla="*/ 2761488 w 3439432"/>
              <a:gd name="connsiteY4" fmla="*/ 3550083 h 3550083"/>
              <a:gd name="connsiteX5" fmla="*/ 0 w 3439432"/>
              <a:gd name="connsiteY5" fmla="*/ 788595 h 3550083"/>
              <a:gd name="connsiteX6" fmla="*/ 70713 w 3439432"/>
              <a:gd name="connsiteY6" fmla="*/ 164949 h 355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550083">
                <a:moveTo>
                  <a:pt x="115336" y="0"/>
                </a:moveTo>
                <a:lnTo>
                  <a:pt x="3439432" y="0"/>
                </a:lnTo>
                <a:lnTo>
                  <a:pt x="3439432" y="3462762"/>
                </a:lnTo>
                <a:lnTo>
                  <a:pt x="3318024" y="3493980"/>
                </a:lnTo>
                <a:cubicBezTo>
                  <a:pt x="3138258" y="3530765"/>
                  <a:pt x="2952129" y="3550083"/>
                  <a:pt x="2761488" y="3550083"/>
                </a:cubicBezTo>
                <a:cubicBezTo>
                  <a:pt x="1236360" y="3550083"/>
                  <a:pt x="0" y="2313723"/>
                  <a:pt x="0" y="788595"/>
                </a:cubicBezTo>
                <a:cubicBezTo>
                  <a:pt x="0" y="574124"/>
                  <a:pt x="24450" y="365364"/>
                  <a:pt x="70713" y="164949"/>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350" dirty="0">
              <a:solidFill>
                <a:prstClr val="white"/>
              </a:solidFill>
              <a:latin typeface="Calibri" panose="020F0502020204030204"/>
            </a:endParaRPr>
          </a:p>
        </p:txBody>
      </p:sp>
      <p:sp>
        <p:nvSpPr>
          <p:cNvPr id="29" name="Freeform: Shape 28">
            <a:extLst>
              <a:ext uri="{FF2B5EF4-FFF2-40B4-BE49-F238E27FC236}">
                <a16:creationId xmlns:a16="http://schemas.microsoft.com/office/drawing/2014/main" id="{8E4F04B5-4D4A-4F70-8549-384AF53513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89071" y="-3753"/>
            <a:ext cx="2454929" cy="2537918"/>
          </a:xfrm>
          <a:custGeom>
            <a:avLst/>
            <a:gdLst>
              <a:gd name="connsiteX0" fmla="*/ 122841 w 3273238"/>
              <a:gd name="connsiteY0" fmla="*/ 0 h 3383891"/>
              <a:gd name="connsiteX1" fmla="*/ 3273238 w 3273238"/>
              <a:gd name="connsiteY1" fmla="*/ 0 h 3383891"/>
              <a:gd name="connsiteX2" fmla="*/ 3273238 w 3273238"/>
              <a:gd name="connsiteY2" fmla="*/ 3291335 h 3383891"/>
              <a:gd name="connsiteX3" fmla="*/ 3118338 w 3273238"/>
              <a:gd name="connsiteY3" fmla="*/ 3331164 h 3383891"/>
              <a:gd name="connsiteX4" fmla="*/ 2595295 w 3273238"/>
              <a:gd name="connsiteY4" fmla="*/ 3383891 h 3383891"/>
              <a:gd name="connsiteX5" fmla="*/ 0 w 3273238"/>
              <a:gd name="connsiteY5" fmla="*/ 788596 h 3383891"/>
              <a:gd name="connsiteX6" fmla="*/ 116679 w 3273238"/>
              <a:gd name="connsiteY6" fmla="*/ 16835 h 3383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383891">
                <a:moveTo>
                  <a:pt x="122841" y="0"/>
                </a:moveTo>
                <a:lnTo>
                  <a:pt x="3273238" y="0"/>
                </a:lnTo>
                <a:lnTo>
                  <a:pt x="3273238" y="3291335"/>
                </a:lnTo>
                <a:lnTo>
                  <a:pt x="3118338" y="3331164"/>
                </a:lnTo>
                <a:cubicBezTo>
                  <a:pt x="2949390" y="3365736"/>
                  <a:pt x="2774463" y="3383891"/>
                  <a:pt x="2595295" y="3383891"/>
                </a:cubicBezTo>
                <a:cubicBezTo>
                  <a:pt x="1161953" y="3383891"/>
                  <a:pt x="0" y="2221938"/>
                  <a:pt x="0" y="788596"/>
                </a:cubicBezTo>
                <a:cubicBezTo>
                  <a:pt x="0" y="519845"/>
                  <a:pt x="40850" y="260634"/>
                  <a:pt x="116679" y="1683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10" name="Picture 9" descr="A person in a suit and tie&#10;&#10;AI-generated content may be incorrect.">
            <a:extLst>
              <a:ext uri="{FF2B5EF4-FFF2-40B4-BE49-F238E27FC236}">
                <a16:creationId xmlns:a16="http://schemas.microsoft.com/office/drawing/2014/main" id="{FF6E1217-BB9D-C3D2-D41F-31C7A1AB93E0}"/>
              </a:ext>
            </a:extLst>
          </p:cNvPr>
          <p:cNvPicPr>
            <a:picLocks noChangeAspect="1"/>
          </p:cNvPicPr>
          <p:nvPr/>
        </p:nvPicPr>
        <p:blipFill>
          <a:blip r:embed="rId4"/>
          <a:stretch>
            <a:fillRect/>
          </a:stretch>
        </p:blipFill>
        <p:spPr>
          <a:xfrm>
            <a:off x="7599795" y="161496"/>
            <a:ext cx="1188559" cy="1780614"/>
          </a:xfrm>
          <a:prstGeom prst="rect">
            <a:avLst/>
          </a:prstGeom>
        </p:spPr>
      </p:pic>
      <p:pic>
        <p:nvPicPr>
          <p:cNvPr id="6" name="Picture 5">
            <a:extLst>
              <a:ext uri="{FF2B5EF4-FFF2-40B4-BE49-F238E27FC236}">
                <a16:creationId xmlns:a16="http://schemas.microsoft.com/office/drawing/2014/main" id="{F793A31A-79A7-5ACB-C9B9-9CD8098773CF}"/>
              </a:ext>
            </a:extLst>
          </p:cNvPr>
          <p:cNvPicPr>
            <a:picLocks noChangeAspect="1"/>
          </p:cNvPicPr>
          <p:nvPr/>
        </p:nvPicPr>
        <p:blipFill>
          <a:blip r:embed="rId5"/>
          <a:stretch>
            <a:fillRect/>
          </a:stretch>
        </p:blipFill>
        <p:spPr>
          <a:xfrm>
            <a:off x="249183" y="4201805"/>
            <a:ext cx="1576590" cy="2361933"/>
          </a:xfrm>
          <a:prstGeom prst="rect">
            <a:avLst/>
          </a:prstGeom>
        </p:spPr>
      </p:pic>
      <p:sp>
        <p:nvSpPr>
          <p:cNvPr id="31" name="Freeform: Shape 30">
            <a:extLst>
              <a:ext uri="{FF2B5EF4-FFF2-40B4-BE49-F238E27FC236}">
                <a16:creationId xmlns:a16="http://schemas.microsoft.com/office/drawing/2014/main" id="{0D14DB62-3EB3-452E-89EE-30B0CDB0C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4754" y="3814717"/>
            <a:ext cx="3089246" cy="3043284"/>
          </a:xfrm>
          <a:custGeom>
            <a:avLst/>
            <a:gdLst>
              <a:gd name="connsiteX0" fmla="*/ 1888236 w 2828765"/>
              <a:gd name="connsiteY0" fmla="*/ 0 h 2786678"/>
              <a:gd name="connsiteX1" fmla="*/ 2788281 w 2828765"/>
              <a:gd name="connsiteY1" fmla="*/ 227900 h 2786678"/>
              <a:gd name="connsiteX2" fmla="*/ 2828765 w 2828765"/>
              <a:gd name="connsiteY2" fmla="*/ 252495 h 2786678"/>
              <a:gd name="connsiteX3" fmla="*/ 2828765 w 2828765"/>
              <a:gd name="connsiteY3" fmla="*/ 2786678 h 2786678"/>
              <a:gd name="connsiteX4" fmla="*/ 227128 w 2828765"/>
              <a:gd name="connsiteY4" fmla="*/ 2786678 h 2786678"/>
              <a:gd name="connsiteX5" fmla="*/ 148387 w 2828765"/>
              <a:gd name="connsiteY5" fmla="*/ 2623223 h 2786678"/>
              <a:gd name="connsiteX6" fmla="*/ 0 w 2828765"/>
              <a:gd name="connsiteY6" fmla="*/ 1888236 h 2786678"/>
              <a:gd name="connsiteX7" fmla="*/ 1888236 w 2828765"/>
              <a:gd name="connsiteY7" fmla="*/ 0 h 278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28765" h="2786678">
                <a:moveTo>
                  <a:pt x="1888236" y="0"/>
                </a:moveTo>
                <a:cubicBezTo>
                  <a:pt x="2214125" y="0"/>
                  <a:pt x="2520731" y="82558"/>
                  <a:pt x="2788281" y="227900"/>
                </a:cubicBezTo>
                <a:lnTo>
                  <a:pt x="2828765" y="252495"/>
                </a:lnTo>
                <a:lnTo>
                  <a:pt x="2828765" y="2786678"/>
                </a:lnTo>
                <a:lnTo>
                  <a:pt x="227128" y="2786678"/>
                </a:lnTo>
                <a:lnTo>
                  <a:pt x="148387" y="2623223"/>
                </a:lnTo>
                <a:cubicBezTo>
                  <a:pt x="52837" y="2397318"/>
                  <a:pt x="0" y="2148947"/>
                  <a:pt x="0" y="1888236"/>
                </a:cubicBezTo>
                <a:cubicBezTo>
                  <a:pt x="0" y="845392"/>
                  <a:pt x="845392" y="0"/>
                  <a:pt x="1888236"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sp>
        <p:nvSpPr>
          <p:cNvPr id="33" name="Freeform: Shape 32">
            <a:extLst>
              <a:ext uri="{FF2B5EF4-FFF2-40B4-BE49-F238E27FC236}">
                <a16:creationId xmlns:a16="http://schemas.microsoft.com/office/drawing/2014/main" id="{CB14CE1B-4BC5-4EF2-BE3D-05E4F580B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5722" y="3675122"/>
            <a:ext cx="3228278" cy="3182878"/>
          </a:xfrm>
          <a:custGeom>
            <a:avLst/>
            <a:gdLst>
              <a:gd name="connsiteX0" fmla="*/ 2052140 w 2992669"/>
              <a:gd name="connsiteY0" fmla="*/ 0 h 2950582"/>
              <a:gd name="connsiteX1" fmla="*/ 2850926 w 2992669"/>
              <a:gd name="connsiteY1" fmla="*/ 161267 h 2950582"/>
              <a:gd name="connsiteX2" fmla="*/ 2992669 w 2992669"/>
              <a:gd name="connsiteY2" fmla="*/ 229549 h 2950582"/>
              <a:gd name="connsiteX3" fmla="*/ 2992669 w 2992669"/>
              <a:gd name="connsiteY3" fmla="*/ 2950582 h 2950582"/>
              <a:gd name="connsiteX4" fmla="*/ 209274 w 2992669"/>
              <a:gd name="connsiteY4" fmla="*/ 2950582 h 2950582"/>
              <a:gd name="connsiteX5" fmla="*/ 161267 w 2992669"/>
              <a:gd name="connsiteY5" fmla="*/ 2850926 h 2950582"/>
              <a:gd name="connsiteX6" fmla="*/ 0 w 2992669"/>
              <a:gd name="connsiteY6" fmla="*/ 2052140 h 2950582"/>
              <a:gd name="connsiteX7" fmla="*/ 2052140 w 2992669"/>
              <a:gd name="connsiteY7" fmla="*/ 0 h 295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92669" h="2950582">
                <a:moveTo>
                  <a:pt x="2052140" y="0"/>
                </a:moveTo>
                <a:cubicBezTo>
                  <a:pt x="2335482" y="0"/>
                  <a:pt x="2605411" y="57424"/>
                  <a:pt x="2850926" y="161267"/>
                </a:cubicBezTo>
                <a:lnTo>
                  <a:pt x="2992669" y="229549"/>
                </a:lnTo>
                <a:lnTo>
                  <a:pt x="2992669" y="2950582"/>
                </a:lnTo>
                <a:lnTo>
                  <a:pt x="209274" y="2950582"/>
                </a:lnTo>
                <a:lnTo>
                  <a:pt x="161267" y="2850926"/>
                </a:lnTo>
                <a:cubicBezTo>
                  <a:pt x="57423" y="2605411"/>
                  <a:pt x="0" y="2335482"/>
                  <a:pt x="0" y="2052140"/>
                </a:cubicBezTo>
                <a:cubicBezTo>
                  <a:pt x="0" y="918774"/>
                  <a:pt x="918774" y="0"/>
                  <a:pt x="205214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85800">
              <a:defRPr/>
            </a:pPr>
            <a:endParaRPr lang="en-US" sz="1350">
              <a:solidFill>
                <a:prstClr val="white"/>
              </a:solidFill>
              <a:latin typeface="Calibri" panose="020F0502020204030204"/>
            </a:endParaRPr>
          </a:p>
        </p:txBody>
      </p:sp>
      <p:pic>
        <p:nvPicPr>
          <p:cNvPr id="8" name="Picture 7" descr="A close-up of a doctor&#10;&#10;AI-generated content may be incorrect.">
            <a:extLst>
              <a:ext uri="{FF2B5EF4-FFF2-40B4-BE49-F238E27FC236}">
                <a16:creationId xmlns:a16="http://schemas.microsoft.com/office/drawing/2014/main" id="{CAAE7510-770F-F157-59C4-3706054E0A3C}"/>
              </a:ext>
            </a:extLst>
          </p:cNvPr>
          <p:cNvPicPr>
            <a:picLocks noChangeAspect="1"/>
          </p:cNvPicPr>
          <p:nvPr/>
        </p:nvPicPr>
        <p:blipFill>
          <a:blip r:embed="rId6"/>
          <a:stretch>
            <a:fillRect/>
          </a:stretch>
        </p:blipFill>
        <p:spPr>
          <a:xfrm>
            <a:off x="6813033" y="4705815"/>
            <a:ext cx="1966253" cy="1966253"/>
          </a:xfrm>
          <a:prstGeom prst="rect">
            <a:avLst/>
          </a:prstGeom>
        </p:spPr>
      </p:pic>
    </p:spTree>
    <p:extLst>
      <p:ext uri="{BB962C8B-B14F-4D97-AF65-F5344CB8AC3E}">
        <p14:creationId xmlns:p14="http://schemas.microsoft.com/office/powerpoint/2010/main" val="3352663340"/>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pPr>
              <a:lnSpc>
                <a:spcPct val="90000"/>
              </a:lnSpc>
            </a:pPr>
            <a:r>
              <a:rPr lang="en-US" sz="5400"/>
              <a:t>Comunicazione istituzionale</a:t>
            </a:r>
          </a:p>
        </p:txBody>
      </p:sp>
      <p:sp>
        <p:nvSpPr>
          <p:cNvPr id="3" name="Content Placeholder 2"/>
          <p:cNvSpPr>
            <a:spLocks noGrp="1"/>
          </p:cNvSpPr>
          <p:nvPr>
            <p:ph idx="1"/>
          </p:nvPr>
        </p:nvSpPr>
        <p:spPr>
          <a:xfrm>
            <a:off x="963930" y="2969469"/>
            <a:ext cx="6056111" cy="2800395"/>
          </a:xfrm>
        </p:spPr>
        <p:txBody>
          <a:bodyPr anchor="t">
            <a:normAutofit/>
          </a:bodyPr>
          <a:lstStyle/>
          <a:p>
            <a:r>
              <a:rPr lang="it-IT" sz="2100"/>
              <a:t> Come parlano le istituzioni?</a:t>
            </a:r>
          </a:p>
          <a:p>
            <a:r>
              <a:rPr lang="it-IT" sz="2100"/>
              <a:t> Siti web, campagne pubbliche, comunicazione politica</a:t>
            </a:r>
          </a:p>
          <a:p>
            <a:r>
              <a:rPr lang="it-IT" sz="2100"/>
              <a:t>Inclusione o esclusione?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r>
              <a:rPr lang="en-US" sz="6300"/>
              <a:t>Intersezionalità</a:t>
            </a:r>
          </a:p>
        </p:txBody>
      </p:sp>
      <p:sp>
        <p:nvSpPr>
          <p:cNvPr id="3" name="Content Placeholder 2"/>
          <p:cNvSpPr>
            <a:spLocks noGrp="1"/>
          </p:cNvSpPr>
          <p:nvPr>
            <p:ph idx="1"/>
          </p:nvPr>
        </p:nvSpPr>
        <p:spPr>
          <a:xfrm>
            <a:off x="963930" y="2969469"/>
            <a:ext cx="6056111" cy="2800395"/>
          </a:xfrm>
        </p:spPr>
        <p:txBody>
          <a:bodyPr anchor="t">
            <a:normAutofit/>
          </a:bodyPr>
          <a:lstStyle/>
          <a:p>
            <a:r>
              <a:rPr lang="it-IT" sz="2100" dirty="0"/>
              <a:t>Concetto introdotto da </a:t>
            </a:r>
            <a:r>
              <a:rPr lang="it-IT" sz="2100" dirty="0" err="1"/>
              <a:t>Kimberlé</a:t>
            </a:r>
            <a:r>
              <a:rPr lang="it-IT" sz="2100" dirty="0"/>
              <a:t> </a:t>
            </a:r>
            <a:r>
              <a:rPr lang="it-IT" sz="2100" dirty="0" err="1"/>
              <a:t>Crenshaw</a:t>
            </a:r>
            <a:endParaRPr lang="it-IT" sz="2100" dirty="0"/>
          </a:p>
          <a:p>
            <a:r>
              <a:rPr lang="it-IT" sz="2100" dirty="0"/>
              <a:t> Incrocio di genere, razza, classe, disabilità</a:t>
            </a:r>
          </a:p>
          <a:p>
            <a:r>
              <a:rPr lang="it-IT" sz="2100" dirty="0"/>
              <a:t> Comunicazione intersezionale: perché serve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r>
              <a:rPr lang="it-IT" sz="6300"/>
              <a:t>Classificazione</a:t>
            </a:r>
          </a:p>
        </p:txBody>
      </p:sp>
      <p:sp>
        <p:nvSpPr>
          <p:cNvPr id="3" name="Content Placeholder 2"/>
          <p:cNvSpPr>
            <a:spLocks noGrp="1"/>
          </p:cNvSpPr>
          <p:nvPr>
            <p:ph idx="1"/>
          </p:nvPr>
        </p:nvSpPr>
        <p:spPr>
          <a:xfrm>
            <a:off x="963930" y="2969469"/>
            <a:ext cx="6056111" cy="2800395"/>
          </a:xfrm>
        </p:spPr>
        <p:txBody>
          <a:bodyPr anchor="t">
            <a:normAutofit/>
          </a:bodyPr>
          <a:lstStyle/>
          <a:p>
            <a:pPr>
              <a:lnSpc>
                <a:spcPct val="90000"/>
              </a:lnSpc>
            </a:pPr>
            <a:r>
              <a:rPr lang="it-IT" sz="1900"/>
              <a:t>Inclusività forte → trasforma le norme</a:t>
            </a:r>
          </a:p>
          <a:p>
            <a:pPr>
              <a:lnSpc>
                <a:spcPct val="90000"/>
              </a:lnSpc>
            </a:pPr>
            <a:r>
              <a:rPr lang="it-IT" sz="1900"/>
              <a:t>Inclusività debole → rappresenta ma non cambia</a:t>
            </a:r>
          </a:p>
          <a:p>
            <a:pPr>
              <a:lnSpc>
                <a:spcPct val="90000"/>
              </a:lnSpc>
            </a:pPr>
            <a:r>
              <a:rPr lang="it-IT" sz="1900"/>
              <a:t>Pseudo-inclusività → marketing</a:t>
            </a:r>
          </a:p>
          <a:p>
            <a:pPr>
              <a:lnSpc>
                <a:spcPct val="90000"/>
              </a:lnSpc>
            </a:pPr>
            <a:endParaRPr lang="it-IT" sz="1900"/>
          </a:p>
          <a:p>
            <a:pPr>
              <a:lnSpc>
                <a:spcPct val="90000"/>
              </a:lnSpc>
            </a:pPr>
            <a:r>
              <a:rPr lang="it-IT" sz="1900"/>
              <a:t>Criteri:</a:t>
            </a:r>
          </a:p>
          <a:p>
            <a:pPr>
              <a:lnSpc>
                <a:spcPct val="90000"/>
              </a:lnSpc>
            </a:pPr>
            <a:r>
              <a:rPr lang="it-IT" sz="1900"/>
              <a:t>- Coerenza</a:t>
            </a:r>
          </a:p>
          <a:p>
            <a:pPr>
              <a:lnSpc>
                <a:spcPct val="90000"/>
              </a:lnSpc>
            </a:pPr>
            <a:r>
              <a:rPr lang="it-IT" sz="1900"/>
              <a:t>- Profondità</a:t>
            </a:r>
          </a:p>
          <a:p>
            <a:pPr>
              <a:lnSpc>
                <a:spcPct val="90000"/>
              </a:lnSpc>
            </a:pPr>
            <a:r>
              <a:rPr lang="it-IT" sz="1900"/>
              <a:t>- Impatto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F762D030-AAA9-999D-41AE-1C891440E7B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7483" r="13816" b="1606"/>
          <a:stretch>
            <a:fillRect/>
          </a:stretch>
        </p:blipFill>
        <p:spPr bwMode="auto">
          <a:xfrm>
            <a:off x="2642616" y="10"/>
            <a:ext cx="6501384"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olo 1">
            <a:extLst>
              <a:ext uri="{FF2B5EF4-FFF2-40B4-BE49-F238E27FC236}">
                <a16:creationId xmlns:a16="http://schemas.microsoft.com/office/drawing/2014/main" id="{AEA799A5-5433-B346-08DE-C24FFC990B6E}"/>
              </a:ext>
            </a:extLst>
          </p:cNvPr>
          <p:cNvSpPr>
            <a:spLocks noGrp="1"/>
          </p:cNvSpPr>
          <p:nvPr>
            <p:ph type="title"/>
          </p:nvPr>
        </p:nvSpPr>
        <p:spPr>
          <a:xfrm>
            <a:off x="358485" y="1122363"/>
            <a:ext cx="3017520" cy="3204134"/>
          </a:xfrm>
        </p:spPr>
        <p:txBody>
          <a:bodyPr vert="horz" lIns="91440" tIns="45720" rIns="91440" bIns="45720" rtlCol="0" anchor="b">
            <a:normAutofit/>
          </a:bodyPr>
          <a:lstStyle/>
          <a:p>
            <a:pPr algn="l" defTabSz="914400">
              <a:lnSpc>
                <a:spcPct val="90000"/>
              </a:lnSpc>
            </a:pPr>
            <a:r>
              <a:rPr lang="en-US" sz="4200">
                <a:solidFill>
                  <a:schemeClr val="bg1"/>
                </a:solidFill>
              </a:rPr>
              <a:t>Inclusività forte- Nike</a:t>
            </a:r>
          </a:p>
        </p:txBody>
      </p:sp>
      <p:sp>
        <p:nvSpPr>
          <p:cNvPr id="1035" name="Rectangle 103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7" name="Rectangle 103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4362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BCA29D2-B7F1-B542-E6F8-ECB5F94DC9B9}"/>
              </a:ext>
            </a:extLst>
          </p:cNvPr>
          <p:cNvSpPr>
            <a:spLocks noGrp="1"/>
          </p:cNvSpPr>
          <p:nvPr>
            <p:ph type="title"/>
          </p:nvPr>
        </p:nvSpPr>
        <p:spPr>
          <a:xfrm>
            <a:off x="480060" y="5576887"/>
            <a:ext cx="8183880" cy="640081"/>
          </a:xfrm>
        </p:spPr>
        <p:txBody>
          <a:bodyPr vert="horz" lIns="91440" tIns="45720" rIns="91440" bIns="45720" rtlCol="0" anchor="ctr">
            <a:normAutofit/>
          </a:bodyPr>
          <a:lstStyle/>
          <a:p>
            <a:pPr defTabSz="914400">
              <a:lnSpc>
                <a:spcPct val="90000"/>
              </a:lnSpc>
            </a:pPr>
            <a:r>
              <a:rPr lang="en-US" sz="2000"/>
              <a:t>Inclusività debole- </a:t>
            </a:r>
            <a:br>
              <a:rPr lang="en-US" sz="2000"/>
            </a:br>
            <a:r>
              <a:rPr lang="en-US" sz="2000"/>
              <a:t>tardiva ed opportunistica</a:t>
            </a:r>
          </a:p>
        </p:txBody>
      </p:sp>
      <p:pic>
        <p:nvPicPr>
          <p:cNvPr id="2050" name="Picture 2" descr="The Daily Scoop: Victoria’s Secret works to be a better model of brand inclusivity  - PR Daily">
            <a:extLst>
              <a:ext uri="{FF2B5EF4-FFF2-40B4-BE49-F238E27FC236}">
                <a16:creationId xmlns:a16="http://schemas.microsoft.com/office/drawing/2014/main" id="{7A156446-6D9B-E5DF-4BDD-DFB1E0BEAE2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1" b="11460"/>
          <a:stretch>
            <a:fillRect/>
          </a:stretch>
        </p:blipFill>
        <p:spPr bwMode="auto">
          <a:xfrm>
            <a:off x="480060" y="640080"/>
            <a:ext cx="8183880" cy="4836795"/>
          </a:xfrm>
          <a:prstGeom prst="rect">
            <a:avLst/>
          </a:prstGeom>
          <a:noFill/>
          <a:ln w="19050">
            <a:solidFill>
              <a:schemeClr val="tx1"/>
            </a:solidFill>
            <a:miter lim="800000"/>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2708853"/>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90B9AAB5-0448-881E-6D20-4C5A3F5B712D}"/>
              </a:ext>
            </a:extLst>
          </p:cNvPr>
          <p:cNvSpPr>
            <a:spLocks noGrp="1"/>
          </p:cNvSpPr>
          <p:nvPr>
            <p:ph type="title"/>
          </p:nvPr>
        </p:nvSpPr>
        <p:spPr>
          <a:xfrm>
            <a:off x="963930" y="1050595"/>
            <a:ext cx="6056111" cy="1618489"/>
          </a:xfrm>
        </p:spPr>
        <p:txBody>
          <a:bodyPr anchor="ctr">
            <a:normAutofit/>
          </a:bodyPr>
          <a:lstStyle/>
          <a:p>
            <a:pPr>
              <a:lnSpc>
                <a:spcPct val="90000"/>
              </a:lnSpc>
            </a:pPr>
            <a:r>
              <a:rPr lang="it-IT" sz="5400"/>
              <a:t>Pseudo inclusività- </a:t>
            </a:r>
            <a:br>
              <a:rPr lang="it-IT" sz="5400"/>
            </a:br>
            <a:r>
              <a:rPr lang="it-IT" sz="5400"/>
              <a:t>pepsi: banalizzazione</a:t>
            </a:r>
          </a:p>
        </p:txBody>
      </p:sp>
      <p:sp>
        <p:nvSpPr>
          <p:cNvPr id="3" name="Segnaposto contenuto 2">
            <a:extLst>
              <a:ext uri="{FF2B5EF4-FFF2-40B4-BE49-F238E27FC236}">
                <a16:creationId xmlns:a16="http://schemas.microsoft.com/office/drawing/2014/main" id="{AD207C05-3E4C-B1A6-CAF5-3EA58EB5A9D7}"/>
              </a:ext>
            </a:extLst>
          </p:cNvPr>
          <p:cNvSpPr>
            <a:spLocks noGrp="1"/>
          </p:cNvSpPr>
          <p:nvPr>
            <p:ph idx="1"/>
          </p:nvPr>
        </p:nvSpPr>
        <p:spPr>
          <a:xfrm>
            <a:off x="963930" y="2969469"/>
            <a:ext cx="6056111" cy="2800395"/>
          </a:xfrm>
        </p:spPr>
        <p:txBody>
          <a:bodyPr anchor="t">
            <a:normAutofit/>
          </a:bodyPr>
          <a:lstStyle/>
          <a:p>
            <a:pPr marL="0" indent="0">
              <a:buNone/>
            </a:pPr>
            <a:r>
              <a:rPr lang="it-IT" sz="2100" b="1"/>
              <a:t>Contenuto dello spot:</a:t>
            </a:r>
            <a:r>
              <a:rPr lang="it-IT" sz="2100"/>
              <a:t> Nel video, la modella Kendall Jenner abbandona uno shooting fotografico per unirsi a una protesta di piazza in stile parata, che ricorda le marce per i diritti civili. La situazione di tensione tra manifestanti e poliziotti viene "risolta" dalla Jenner, che offre una lattina di Pepsi a un agente, portando la pace.</a:t>
            </a:r>
          </a:p>
          <a:p>
            <a:endParaRPr lang="it-IT" sz="2100"/>
          </a:p>
        </p:txBody>
      </p:sp>
    </p:spTree>
    <p:extLst>
      <p:ext uri="{BB962C8B-B14F-4D97-AF65-F5344CB8AC3E}">
        <p14:creationId xmlns:p14="http://schemas.microsoft.com/office/powerpoint/2010/main" val="1885955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Kim Kardashian accused of 'blackface' in new beauty campaign - Yahoo Life UK">
            <a:extLst>
              <a:ext uri="{FF2B5EF4-FFF2-40B4-BE49-F238E27FC236}">
                <a16:creationId xmlns:a16="http://schemas.microsoft.com/office/drawing/2014/main" id="{D3D93C96-03D6-5FC0-838A-E18C2AEE73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14995" r="12339" b="1"/>
          <a:stretch>
            <a:fillRect/>
          </a:stretch>
        </p:blipFill>
        <p:spPr bwMode="auto">
          <a:xfrm>
            <a:off x="20" y="10"/>
            <a:ext cx="9143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4103" name="Rectangle 4102">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9144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olo 1">
            <a:extLst>
              <a:ext uri="{FF2B5EF4-FFF2-40B4-BE49-F238E27FC236}">
                <a16:creationId xmlns:a16="http://schemas.microsoft.com/office/drawing/2014/main" id="{60D3B055-0307-266C-5496-6CA358830B4C}"/>
              </a:ext>
            </a:extLst>
          </p:cNvPr>
          <p:cNvSpPr>
            <a:spLocks noGrp="1"/>
          </p:cNvSpPr>
          <p:nvPr>
            <p:ph type="title"/>
          </p:nvPr>
        </p:nvSpPr>
        <p:spPr>
          <a:xfrm>
            <a:off x="392906" y="5317240"/>
            <a:ext cx="8408194" cy="744836"/>
          </a:xfrm>
        </p:spPr>
        <p:txBody>
          <a:bodyPr vert="horz" lIns="91440" tIns="45720" rIns="91440" bIns="45720" rtlCol="0" anchor="ctr">
            <a:normAutofit/>
          </a:bodyPr>
          <a:lstStyle/>
          <a:p>
            <a:pPr defTabSz="914400">
              <a:lnSpc>
                <a:spcPct val="90000"/>
              </a:lnSpc>
            </a:pPr>
            <a:r>
              <a:rPr lang="en-US" sz="3100">
                <a:solidFill>
                  <a:schemeClr val="tx1">
                    <a:lumMod val="85000"/>
                    <a:lumOff val="15000"/>
                  </a:schemeClr>
                </a:solidFill>
              </a:rPr>
              <a:t>Kim Kardashian</a:t>
            </a:r>
          </a:p>
        </p:txBody>
      </p:sp>
      <p:cxnSp>
        <p:nvCxnSpPr>
          <p:cNvPr id="4105" name="Straight Connector 4104">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9144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4107" name="Straight Connector 4106">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9144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2998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egnaposto contenuto 2">
            <a:extLst>
              <a:ext uri="{FF2B5EF4-FFF2-40B4-BE49-F238E27FC236}">
                <a16:creationId xmlns:a16="http://schemas.microsoft.com/office/drawing/2014/main" id="{27351F8E-E158-D9B4-FA4A-0B91EEE26FEA}"/>
              </a:ext>
            </a:extLst>
          </p:cNvPr>
          <p:cNvSpPr>
            <a:spLocks noGrp="1"/>
          </p:cNvSpPr>
          <p:nvPr>
            <p:ph idx="1"/>
          </p:nvPr>
        </p:nvSpPr>
        <p:spPr>
          <a:xfrm>
            <a:off x="900953" y="874059"/>
            <a:ext cx="7516905" cy="5533465"/>
          </a:xfrm>
        </p:spPr>
        <p:txBody>
          <a:bodyPr anchor="t">
            <a:normAutofit/>
          </a:bodyPr>
          <a:lstStyle/>
          <a:p>
            <a:pPr marL="0" indent="0">
              <a:buNone/>
            </a:pPr>
            <a:r>
              <a:rPr lang="it-IT" dirty="0"/>
              <a:t>Copertina 7Hollywood (2019): La polemica più accesa è scoppiata a dicembre 2019 per un servizio fotografico sulla rivista 7Hollywood, in cui Kim appariva con la carnagione notevolmente più scura e acconciature ispirate alle dive jazz degli anni '60, attirando accuse di </a:t>
            </a:r>
            <a:r>
              <a:rPr lang="it-IT" b="1" dirty="0" err="1"/>
              <a:t>blackface</a:t>
            </a:r>
            <a:r>
              <a:rPr lang="it-IT" dirty="0"/>
              <a:t> e razzismo. </a:t>
            </a:r>
          </a:p>
        </p:txBody>
      </p:sp>
    </p:spTree>
    <p:extLst>
      <p:ext uri="{BB962C8B-B14F-4D97-AF65-F5344CB8AC3E}">
        <p14:creationId xmlns:p14="http://schemas.microsoft.com/office/powerpoint/2010/main" val="23419889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6825" y="1188637"/>
            <a:ext cx="2241175" cy="4480726"/>
          </a:xfrm>
        </p:spPr>
        <p:txBody>
          <a:bodyPr>
            <a:normAutofit/>
          </a:bodyPr>
          <a:lstStyle/>
          <a:p>
            <a:pPr algn="r"/>
            <a:r>
              <a:rPr lang="en-US" sz="3100"/>
              <a:t>Campagne inclusive</a:t>
            </a:r>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722"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941445" y="1648870"/>
            <a:ext cx="3527136" cy="3560260"/>
          </a:xfrm>
        </p:spPr>
        <p:txBody>
          <a:bodyPr anchor="ctr">
            <a:normAutofit/>
          </a:bodyPr>
          <a:lstStyle/>
          <a:p>
            <a:r>
              <a:rPr lang="it-IT" sz="1900"/>
              <a:t>Esempi: Dove, Barbie Diversity, UN Women</a:t>
            </a:r>
          </a:p>
          <a:p>
            <a:r>
              <a:rPr lang="it-IT" sz="1900"/>
              <a:t>Analisi di immagini e messaggi</a:t>
            </a:r>
          </a:p>
          <a:p>
            <a:pPr marL="0" indent="0">
              <a:buNone/>
            </a:pPr>
            <a:r>
              <a:rPr lang="it-IT" sz="1900"/>
              <a:t>Come queste campagne riescono a rappresentare la diversità e l'inclusione? Riflettere sull'impatto che queste campagne possono avere sulla percezione sociale e sull'autostima degli individui.​</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F4A86-9583-AD36-F27C-1885B9BF6025}"/>
              </a:ext>
            </a:extLst>
          </p:cNvPr>
          <p:cNvSpPr>
            <a:spLocks noGrp="1"/>
          </p:cNvSpPr>
          <p:nvPr>
            <p:ph type="title"/>
          </p:nvPr>
        </p:nvSpPr>
        <p:spPr>
          <a:xfrm>
            <a:off x="571500" y="5074024"/>
            <a:ext cx="7581900" cy="598032"/>
          </a:xfrm>
        </p:spPr>
        <p:txBody>
          <a:bodyPr vert="horz" lIns="91440" tIns="45720" rIns="91440" bIns="45720" rtlCol="0" anchor="ctr">
            <a:normAutofit/>
          </a:bodyPr>
          <a:lstStyle/>
          <a:p>
            <a:pPr algn="l" defTabSz="914400">
              <a:lnSpc>
                <a:spcPct val="90000"/>
              </a:lnSpc>
            </a:pPr>
            <a:r>
              <a:rPr lang="it-IT" sz="3100" kern="1200" dirty="0">
                <a:solidFill>
                  <a:schemeClr val="tx1"/>
                </a:solidFill>
                <a:latin typeface="+mj-lt"/>
                <a:ea typeface="+mj-ea"/>
                <a:cs typeface="+mj-cs"/>
              </a:rPr>
              <a:t>Diversità &amp; inclusione</a:t>
            </a:r>
            <a:endParaRPr lang="en-US" sz="3100" kern="1200" dirty="0">
              <a:solidFill>
                <a:schemeClr val="tx1"/>
              </a:solidFill>
              <a:latin typeface="+mj-lt"/>
              <a:ea typeface="+mj-ea"/>
              <a:cs typeface="+mj-cs"/>
            </a:endParaRPr>
          </a:p>
        </p:txBody>
      </p:sp>
      <p:pic>
        <p:nvPicPr>
          <p:cNvPr id="4" name="Content Placeholder 3">
            <a:extLst>
              <a:ext uri="{FF2B5EF4-FFF2-40B4-BE49-F238E27FC236}">
                <a16:creationId xmlns:a16="http://schemas.microsoft.com/office/drawing/2014/main" id="{781851F4-34C8-CFD5-77C1-245EC9C0B568}"/>
              </a:ext>
            </a:extLst>
          </p:cNvPr>
          <p:cNvPicPr>
            <a:picLocks noGrp="1" noChangeAspect="1"/>
          </p:cNvPicPr>
          <p:nvPr>
            <p:ph idx="1"/>
          </p:nvPr>
        </p:nvPicPr>
        <p:blipFill>
          <a:blip r:embed="rId2"/>
          <a:srcRect l="25866" r="17161" b="2"/>
          <a:stretch/>
        </p:blipFill>
        <p:spPr>
          <a:xfrm>
            <a:off x="20" y="-40"/>
            <a:ext cx="4571980" cy="4172827"/>
          </a:xfrm>
          <a:prstGeom prst="rect">
            <a:avLst/>
          </a:prstGeom>
        </p:spPr>
      </p:pic>
      <p:pic>
        <p:nvPicPr>
          <p:cNvPr id="5" name="Picture 4">
            <a:extLst>
              <a:ext uri="{FF2B5EF4-FFF2-40B4-BE49-F238E27FC236}">
                <a16:creationId xmlns:a16="http://schemas.microsoft.com/office/drawing/2014/main" id="{3C596C60-1742-26B8-E3C5-B54ABE5CC709}"/>
              </a:ext>
            </a:extLst>
          </p:cNvPr>
          <p:cNvPicPr>
            <a:picLocks noChangeAspect="1"/>
          </p:cNvPicPr>
          <p:nvPr/>
        </p:nvPicPr>
        <p:blipFill>
          <a:blip r:embed="rId3"/>
          <a:srcRect l="13997" r="3826" b="-3"/>
          <a:stretch/>
        </p:blipFill>
        <p:spPr>
          <a:xfrm>
            <a:off x="4572000" y="-43"/>
            <a:ext cx="4572000" cy="4172829"/>
          </a:xfrm>
          <a:prstGeom prst="rect">
            <a:avLst/>
          </a:prstGeom>
        </p:spPr>
      </p:pic>
      <p:cxnSp>
        <p:nvCxnSpPr>
          <p:cNvPr id="10" name="Straight Connector 9">
            <a:extLst>
              <a:ext uri="{FF2B5EF4-FFF2-40B4-BE49-F238E27FC236}">
                <a16:creationId xmlns:a16="http://schemas.microsoft.com/office/drawing/2014/main" id="{7667AA61-5C27-F30F-D229-06CBE5709F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8855" y="4811517"/>
            <a:ext cx="552705"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93389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3930" y="1050595"/>
            <a:ext cx="6056111" cy="1618489"/>
          </a:xfrm>
        </p:spPr>
        <p:txBody>
          <a:bodyPr anchor="ctr">
            <a:normAutofit/>
          </a:bodyPr>
          <a:lstStyle/>
          <a:p>
            <a:r>
              <a:rPr lang="en-US" sz="5800"/>
              <a:t>Riflessione finale</a:t>
            </a:r>
          </a:p>
        </p:txBody>
      </p:sp>
      <p:sp>
        <p:nvSpPr>
          <p:cNvPr id="3" name="Content Placeholder 2"/>
          <p:cNvSpPr>
            <a:spLocks noGrp="1"/>
          </p:cNvSpPr>
          <p:nvPr>
            <p:ph idx="1"/>
          </p:nvPr>
        </p:nvSpPr>
        <p:spPr>
          <a:xfrm>
            <a:off x="963930" y="2969469"/>
            <a:ext cx="6056111" cy="2800395"/>
          </a:xfrm>
        </p:spPr>
        <p:txBody>
          <a:bodyPr anchor="t">
            <a:normAutofit/>
          </a:bodyPr>
          <a:lstStyle/>
          <a:p>
            <a:r>
              <a:rPr lang="it-IT" sz="2100"/>
              <a:t>La comunicazione è uno strumento potente</a:t>
            </a:r>
          </a:p>
          <a:p>
            <a:r>
              <a:rPr lang="it-IT" sz="2100"/>
              <a:t>Possiamo scegliere di usarla per includere</a:t>
            </a:r>
          </a:p>
          <a:p>
            <a:r>
              <a:rPr lang="it-IT" sz="2100"/>
              <a:t>Ognuno ha responsabilità comunicative nel proprio contesto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Palatino Linotype"/>
        <a:ea typeface=""/>
        <a:cs typeface=""/>
      </a:majorFont>
      <a:minorFont>
        <a:latin typeface="Palatino Linotyp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C69F3F7625CF74085CAA0E2A49F4C2D" ma:contentTypeVersion="10" ma:contentTypeDescription="Creare un nuovo documento." ma:contentTypeScope="" ma:versionID="f970594720fb6abcd21fd0ece3721bb8">
  <xsd:schema xmlns:xsd="http://www.w3.org/2001/XMLSchema" xmlns:xs="http://www.w3.org/2001/XMLSchema" xmlns:p="http://schemas.microsoft.com/office/2006/metadata/properties" xmlns:ns2="48a61d46-4d30-4b24-ac0a-556bb3cc81e4" xmlns:ns3="a89520b4-453f-4caf-a364-bd14af9a57b3" targetNamespace="http://schemas.microsoft.com/office/2006/metadata/properties" ma:root="true" ma:fieldsID="e495a74569071716296f8154eb9fe63a" ns2:_="" ns3:_="">
    <xsd:import namespace="48a61d46-4d30-4b24-ac0a-556bb3cc81e4"/>
    <xsd:import namespace="a89520b4-453f-4caf-a364-bd14af9a57b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a61d46-4d30-4b24-ac0a-556bb3cc81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Tag immagine" ma:readOnly="false" ma:fieldId="{5cf76f15-5ced-4ddc-b409-7134ff3c332f}" ma:taxonomyMulti="true" ma:sspId="1013fbc9-b00e-4d37-9f0b-4b76e146b3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89520b4-453f-4caf-a364-bd14af9a57b3"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0af5e59d-d4ac-435c-9382-48b95eae239d}" ma:internalName="TaxCatchAll" ma:showField="CatchAllData" ma:web="a89520b4-453f-4caf-a364-bd14af9a57b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a89520b4-453f-4caf-a364-bd14af9a57b3" xsi:nil="true"/>
    <lcf76f155ced4ddcb4097134ff3c332f xmlns="48a61d46-4d30-4b24-ac0a-556bb3cc81e4">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BF2EE0E-F11D-4B45-A1F1-EF04E086CF87}"/>
</file>

<file path=customXml/itemProps2.xml><?xml version="1.0" encoding="utf-8"?>
<ds:datastoreItem xmlns:ds="http://schemas.openxmlformats.org/officeDocument/2006/customXml" ds:itemID="{1B5FF887-1F54-4C8C-A1D8-76E3B67201E5}"/>
</file>

<file path=customXml/itemProps3.xml><?xml version="1.0" encoding="utf-8"?>
<ds:datastoreItem xmlns:ds="http://schemas.openxmlformats.org/officeDocument/2006/customXml" ds:itemID="{3128923B-7430-467A-BF5E-CB72D4C6AD93}"/>
</file>

<file path=docProps/app.xml><?xml version="1.0" encoding="utf-8"?>
<Properties xmlns="http://schemas.openxmlformats.org/officeDocument/2006/extended-properties" xmlns:vt="http://schemas.openxmlformats.org/officeDocument/2006/docPropsVTypes">
  <TotalTime>207</TotalTime>
  <Words>1055</Words>
  <Application>Microsoft Office PowerPoint</Application>
  <PresentationFormat>Presentazione su schermo (4:3)</PresentationFormat>
  <Paragraphs>121</Paragraphs>
  <Slides>31</Slides>
  <Notes>2</Notes>
  <HiddenSlides>0</HiddenSlides>
  <MMClips>0</MMClips>
  <ScaleCrop>false</ScaleCrop>
  <HeadingPairs>
    <vt:vector size="6" baseType="variant">
      <vt:variant>
        <vt:lpstr>Caratteri utilizzati</vt:lpstr>
      </vt:variant>
      <vt:variant>
        <vt:i4>4</vt:i4>
      </vt:variant>
      <vt:variant>
        <vt:lpstr>Tema</vt:lpstr>
      </vt:variant>
      <vt:variant>
        <vt:i4>2</vt:i4>
      </vt:variant>
      <vt:variant>
        <vt:lpstr>Titoli diapositive</vt:lpstr>
      </vt:variant>
      <vt:variant>
        <vt:i4>31</vt:i4>
      </vt:variant>
    </vt:vector>
  </HeadingPairs>
  <TitlesOfParts>
    <vt:vector size="37" baseType="lpstr">
      <vt:lpstr>Aptos</vt:lpstr>
      <vt:lpstr>Arial</vt:lpstr>
      <vt:lpstr>Calibri</vt:lpstr>
      <vt:lpstr>Palatino Linotype</vt:lpstr>
      <vt:lpstr>Office Theme</vt:lpstr>
      <vt:lpstr>1_Office Theme</vt:lpstr>
      <vt:lpstr>Cultura, comunicazione e genere</vt:lpstr>
      <vt:lpstr>Obiettivi della lezione</vt:lpstr>
      <vt:lpstr>Che cos'è il genere?</vt:lpstr>
      <vt:lpstr>Cultura e norme di genere</vt:lpstr>
      <vt:lpstr>Brainstorming iniziale</vt:lpstr>
      <vt:lpstr>Cos'è uno stereotipo?</vt:lpstr>
      <vt:lpstr>Media e stereotipi</vt:lpstr>
      <vt:lpstr>Il test di Bechdel</vt:lpstr>
      <vt:lpstr>TEST</vt:lpstr>
      <vt:lpstr>TEST</vt:lpstr>
      <vt:lpstr>Invisibilizzazione e ipervisibilità</vt:lpstr>
      <vt:lpstr>Presentazione standard di PowerPoint</vt:lpstr>
      <vt:lpstr>Discussione</vt:lpstr>
      <vt:lpstr>Il linguaggio conta</vt:lpstr>
      <vt:lpstr>Sostantivi collettivi inclusivi</vt:lpstr>
      <vt:lpstr>Linee guida istituzionali</vt:lpstr>
      <vt:lpstr>Cultura pop e genere</vt:lpstr>
      <vt:lpstr>Beyoncé</vt:lpstr>
      <vt:lpstr>Taylor Switf</vt:lpstr>
      <vt:lpstr>Nuove mascolinità </vt:lpstr>
      <vt:lpstr>Comunicazione istituzionale</vt:lpstr>
      <vt:lpstr>Intersezionalità</vt:lpstr>
      <vt:lpstr>Classificazione</vt:lpstr>
      <vt:lpstr>Inclusività forte- Nike</vt:lpstr>
      <vt:lpstr>Inclusività debole-  tardiva ed opportunistica</vt:lpstr>
      <vt:lpstr>Pseudo inclusività-  pepsi: banalizzazione</vt:lpstr>
      <vt:lpstr>Kim Kardashian</vt:lpstr>
      <vt:lpstr>Presentazione standard di PowerPoint</vt:lpstr>
      <vt:lpstr>Campagne inclusive</vt:lpstr>
      <vt:lpstr>Diversità &amp; inclusione</vt:lpstr>
      <vt:lpstr>Riflessione finale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Barbara Martini</dc:creator>
  <cp:keywords/>
  <dc:description>generated using python-pptx</dc:description>
  <cp:lastModifiedBy>barbara martini</cp:lastModifiedBy>
  <cp:revision>19</cp:revision>
  <dcterms:created xsi:type="dcterms:W3CDTF">2013-01-27T09:14:16Z</dcterms:created>
  <dcterms:modified xsi:type="dcterms:W3CDTF">2026-04-22T17:55:12Z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0x0101002C69F3F7625CF74085CAA0E2A49F4C2D</vt:lpwstr>
  </property>
</Properties>
</file>