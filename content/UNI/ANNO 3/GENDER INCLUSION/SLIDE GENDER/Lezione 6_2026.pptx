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5" r:id="rId3"/>
    <p:sldId id="256" r:id="rId4"/>
    <p:sldId id="257" r:id="rId5"/>
    <p:sldId id="269" r:id="rId6"/>
    <p:sldId id="267" r:id="rId7"/>
    <p:sldId id="268" r:id="rId8"/>
    <p:sldId id="270" r:id="rId9"/>
    <p:sldId id="271" r:id="rId10"/>
    <p:sldId id="258" r:id="rId11"/>
    <p:sldId id="259" r:id="rId12"/>
    <p:sldId id="260" r:id="rId13"/>
    <p:sldId id="261" r:id="rId14"/>
    <p:sldId id="272" r:id="rId15"/>
    <p:sldId id="262" r:id="rId16"/>
    <p:sldId id="263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166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ustomXml" Target="../customXml/item3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3D1D76-1F96-4512-8747-84CEDBD843CD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8887D25-E8A2-4843-BF8C-ECB60AB59C60}">
      <dgm:prSet/>
      <dgm:spPr/>
      <dgm:t>
        <a:bodyPr/>
        <a:lstStyle/>
        <a:p>
          <a:r>
            <a:rPr lang="en-US"/>
            <a:t>Errore sistematico nel pensiero che influenza giudizi e decisioni.</a:t>
          </a:r>
        </a:p>
      </dgm:t>
    </dgm:pt>
    <dgm:pt modelId="{75C9B9F6-BEF6-4315-B846-4153E3257652}" type="parTrans" cxnId="{6E37AC56-2DCC-4FC0-8951-C932465526AE}">
      <dgm:prSet/>
      <dgm:spPr/>
      <dgm:t>
        <a:bodyPr/>
        <a:lstStyle/>
        <a:p>
          <a:endParaRPr lang="en-US"/>
        </a:p>
      </dgm:t>
    </dgm:pt>
    <dgm:pt modelId="{1DD7A8A9-A15A-4650-A0AD-504D97DAAF1D}" type="sibTrans" cxnId="{6E37AC56-2DCC-4FC0-8951-C932465526AE}">
      <dgm:prSet/>
      <dgm:spPr/>
      <dgm:t>
        <a:bodyPr/>
        <a:lstStyle/>
        <a:p>
          <a:endParaRPr lang="en-US"/>
        </a:p>
      </dgm:t>
    </dgm:pt>
    <dgm:pt modelId="{A7C90F5A-9D0D-4555-AD07-7AA3B92F0610}">
      <dgm:prSet/>
      <dgm:spPr/>
      <dgm:t>
        <a:bodyPr/>
        <a:lstStyle/>
        <a:p>
          <a:r>
            <a:rPr lang="en-US"/>
            <a:t>Origine evolutiva: scorciatoie mentali (heuristics).</a:t>
          </a:r>
        </a:p>
      </dgm:t>
    </dgm:pt>
    <dgm:pt modelId="{CCD69F9D-76E3-4751-B436-5DADE488D75E}" type="parTrans" cxnId="{072C1CAC-2317-47B0-974C-B2D2E1B1AB96}">
      <dgm:prSet/>
      <dgm:spPr/>
      <dgm:t>
        <a:bodyPr/>
        <a:lstStyle/>
        <a:p>
          <a:endParaRPr lang="en-US"/>
        </a:p>
      </dgm:t>
    </dgm:pt>
    <dgm:pt modelId="{5F0BB504-7197-4C4B-B568-2703E3068393}" type="sibTrans" cxnId="{072C1CAC-2317-47B0-974C-B2D2E1B1AB96}">
      <dgm:prSet/>
      <dgm:spPr/>
      <dgm:t>
        <a:bodyPr/>
        <a:lstStyle/>
        <a:p>
          <a:endParaRPr lang="en-US"/>
        </a:p>
      </dgm:t>
    </dgm:pt>
    <dgm:pt modelId="{DD51A077-A414-444C-8DDE-3AA97185532F}">
      <dgm:prSet/>
      <dgm:spPr/>
      <dgm:t>
        <a:bodyPr/>
        <a:lstStyle/>
        <a:p>
          <a:r>
            <a:rPr lang="en-US"/>
            <a:t>Possono essere utili, ma spesso distorcono la realtà.</a:t>
          </a:r>
        </a:p>
      </dgm:t>
    </dgm:pt>
    <dgm:pt modelId="{77BE3341-3170-446B-877E-AA2F0654EFFC}" type="parTrans" cxnId="{0EA72C53-E5FE-48BC-A7E1-001EF0275899}">
      <dgm:prSet/>
      <dgm:spPr/>
      <dgm:t>
        <a:bodyPr/>
        <a:lstStyle/>
        <a:p>
          <a:endParaRPr lang="en-US"/>
        </a:p>
      </dgm:t>
    </dgm:pt>
    <dgm:pt modelId="{950483AA-4C42-4A82-AB8A-D20E2B799A0F}" type="sibTrans" cxnId="{0EA72C53-E5FE-48BC-A7E1-001EF0275899}">
      <dgm:prSet/>
      <dgm:spPr/>
      <dgm:t>
        <a:bodyPr/>
        <a:lstStyle/>
        <a:p>
          <a:endParaRPr lang="en-US"/>
        </a:p>
      </dgm:t>
    </dgm:pt>
    <dgm:pt modelId="{DC4A34A7-48C0-4CBE-83BF-8139FD7D8DA0}" type="pres">
      <dgm:prSet presAssocID="{D23D1D76-1F96-4512-8747-84CEDBD843CD}" presName="linear" presStyleCnt="0">
        <dgm:presLayoutVars>
          <dgm:animLvl val="lvl"/>
          <dgm:resizeHandles val="exact"/>
        </dgm:presLayoutVars>
      </dgm:prSet>
      <dgm:spPr/>
    </dgm:pt>
    <dgm:pt modelId="{0C5F2AA6-82D1-4E48-8941-4E0F3AD008EB}" type="pres">
      <dgm:prSet presAssocID="{48887D25-E8A2-4843-BF8C-ECB60AB59C6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B52EAEF-06EC-43E9-8F31-FC9EA6A6D88C}" type="pres">
      <dgm:prSet presAssocID="{1DD7A8A9-A15A-4650-A0AD-504D97DAAF1D}" presName="spacer" presStyleCnt="0"/>
      <dgm:spPr/>
    </dgm:pt>
    <dgm:pt modelId="{B5739C7D-FD87-4A90-804A-062B93DDC991}" type="pres">
      <dgm:prSet presAssocID="{A7C90F5A-9D0D-4555-AD07-7AA3B92F061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916FBD5-B1BB-41D6-989D-19E5283FD75C}" type="pres">
      <dgm:prSet presAssocID="{5F0BB504-7197-4C4B-B568-2703E3068393}" presName="spacer" presStyleCnt="0"/>
      <dgm:spPr/>
    </dgm:pt>
    <dgm:pt modelId="{3422740A-2030-436A-B40D-A6B38687FDF4}" type="pres">
      <dgm:prSet presAssocID="{DD51A077-A414-444C-8DDE-3AA97185532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4E33610-E8CE-4B18-A7E0-2E990CD53DC3}" type="presOf" srcId="{DD51A077-A414-444C-8DDE-3AA97185532F}" destId="{3422740A-2030-436A-B40D-A6B38687FDF4}" srcOrd="0" destOrd="0" presId="urn:microsoft.com/office/officeart/2005/8/layout/vList2"/>
    <dgm:cxn modelId="{E275D460-5007-4516-BFE5-7247D82B4650}" type="presOf" srcId="{48887D25-E8A2-4843-BF8C-ECB60AB59C60}" destId="{0C5F2AA6-82D1-4E48-8941-4E0F3AD008EB}" srcOrd="0" destOrd="0" presId="urn:microsoft.com/office/officeart/2005/8/layout/vList2"/>
    <dgm:cxn modelId="{0EA72C53-E5FE-48BC-A7E1-001EF0275899}" srcId="{D23D1D76-1F96-4512-8747-84CEDBD843CD}" destId="{DD51A077-A414-444C-8DDE-3AA97185532F}" srcOrd="2" destOrd="0" parTransId="{77BE3341-3170-446B-877E-AA2F0654EFFC}" sibTransId="{950483AA-4C42-4A82-AB8A-D20E2B799A0F}"/>
    <dgm:cxn modelId="{6E37AC56-2DCC-4FC0-8951-C932465526AE}" srcId="{D23D1D76-1F96-4512-8747-84CEDBD843CD}" destId="{48887D25-E8A2-4843-BF8C-ECB60AB59C60}" srcOrd="0" destOrd="0" parTransId="{75C9B9F6-BEF6-4315-B846-4153E3257652}" sibTransId="{1DD7A8A9-A15A-4650-A0AD-504D97DAAF1D}"/>
    <dgm:cxn modelId="{B5F4EA7D-3A27-408A-9885-CE637F3B0C14}" type="presOf" srcId="{A7C90F5A-9D0D-4555-AD07-7AA3B92F0610}" destId="{B5739C7D-FD87-4A90-804A-062B93DDC991}" srcOrd="0" destOrd="0" presId="urn:microsoft.com/office/officeart/2005/8/layout/vList2"/>
    <dgm:cxn modelId="{91A77B8B-E8DB-4B20-A822-57D43274B151}" type="presOf" srcId="{D23D1D76-1F96-4512-8747-84CEDBD843CD}" destId="{DC4A34A7-48C0-4CBE-83BF-8139FD7D8DA0}" srcOrd="0" destOrd="0" presId="urn:microsoft.com/office/officeart/2005/8/layout/vList2"/>
    <dgm:cxn modelId="{072C1CAC-2317-47B0-974C-B2D2E1B1AB96}" srcId="{D23D1D76-1F96-4512-8747-84CEDBD843CD}" destId="{A7C90F5A-9D0D-4555-AD07-7AA3B92F0610}" srcOrd="1" destOrd="0" parTransId="{CCD69F9D-76E3-4751-B436-5DADE488D75E}" sibTransId="{5F0BB504-7197-4C4B-B568-2703E3068393}"/>
    <dgm:cxn modelId="{4A5C8453-FA23-40B4-B187-3272CA5D7911}" type="presParOf" srcId="{DC4A34A7-48C0-4CBE-83BF-8139FD7D8DA0}" destId="{0C5F2AA6-82D1-4E48-8941-4E0F3AD008EB}" srcOrd="0" destOrd="0" presId="urn:microsoft.com/office/officeart/2005/8/layout/vList2"/>
    <dgm:cxn modelId="{EB8A71F3-6183-488A-8B2D-4EC2545FB9C6}" type="presParOf" srcId="{DC4A34A7-48C0-4CBE-83BF-8139FD7D8DA0}" destId="{1B52EAEF-06EC-43E9-8F31-FC9EA6A6D88C}" srcOrd="1" destOrd="0" presId="urn:microsoft.com/office/officeart/2005/8/layout/vList2"/>
    <dgm:cxn modelId="{DAA40159-DB43-45D9-97B7-F6E68EA812D6}" type="presParOf" srcId="{DC4A34A7-48C0-4CBE-83BF-8139FD7D8DA0}" destId="{B5739C7D-FD87-4A90-804A-062B93DDC991}" srcOrd="2" destOrd="0" presId="urn:microsoft.com/office/officeart/2005/8/layout/vList2"/>
    <dgm:cxn modelId="{63311002-2C3F-4BD1-81F1-1A28FBBEB4A0}" type="presParOf" srcId="{DC4A34A7-48C0-4CBE-83BF-8139FD7D8DA0}" destId="{C916FBD5-B1BB-41D6-989D-19E5283FD75C}" srcOrd="3" destOrd="0" presId="urn:microsoft.com/office/officeart/2005/8/layout/vList2"/>
    <dgm:cxn modelId="{8F609659-312E-47EE-A08C-52B04B0039AB}" type="presParOf" srcId="{DC4A34A7-48C0-4CBE-83BF-8139FD7D8DA0}" destId="{3422740A-2030-436A-B40D-A6B38687FDF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5F2AA6-82D1-4E48-8941-4E0F3AD008EB}">
      <dsp:nvSpPr>
        <dsp:cNvPr id="0" name=""/>
        <dsp:cNvSpPr/>
      </dsp:nvSpPr>
      <dsp:spPr>
        <a:xfrm>
          <a:off x="0" y="91039"/>
          <a:ext cx="5000124" cy="1703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Errore sistematico nel pensiero che influenza giudizi e decisioni.</a:t>
          </a:r>
        </a:p>
      </dsp:txBody>
      <dsp:txXfrm>
        <a:off x="83159" y="174198"/>
        <a:ext cx="4833806" cy="1537202"/>
      </dsp:txXfrm>
    </dsp:sp>
    <dsp:sp modelId="{B5739C7D-FD87-4A90-804A-062B93DDC991}">
      <dsp:nvSpPr>
        <dsp:cNvPr id="0" name=""/>
        <dsp:cNvSpPr/>
      </dsp:nvSpPr>
      <dsp:spPr>
        <a:xfrm>
          <a:off x="0" y="1875200"/>
          <a:ext cx="5000124" cy="17035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Origine evolutiva: scorciatoie mentali (heuristics).</a:t>
          </a:r>
        </a:p>
      </dsp:txBody>
      <dsp:txXfrm>
        <a:off x="83159" y="1958359"/>
        <a:ext cx="4833806" cy="1537202"/>
      </dsp:txXfrm>
    </dsp:sp>
    <dsp:sp modelId="{3422740A-2030-436A-B40D-A6B38687FDF4}">
      <dsp:nvSpPr>
        <dsp:cNvPr id="0" name=""/>
        <dsp:cNvSpPr/>
      </dsp:nvSpPr>
      <dsp:spPr>
        <a:xfrm>
          <a:off x="0" y="3659359"/>
          <a:ext cx="5000124" cy="17035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Possono essere utili, ma spesso distorcono la realtà.</a:t>
          </a:r>
        </a:p>
      </dsp:txBody>
      <dsp:txXfrm>
        <a:off x="83159" y="3742518"/>
        <a:ext cx="4833806" cy="1537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CEF4-BC70-B579-1BB5-84C59D71B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61603-9BEE-5253-401C-66F4C62D3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2182A-DBD9-AE06-8069-AC295AD66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79ADD-B349-F182-FADC-A705E43C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E8A0E-39A0-AB85-3AF3-26956CBC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69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4A30-7BCB-CECD-53FE-E9B357B05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88082-D3E0-13C0-0A33-4CF18D78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BEDD0-743F-E1AF-4B2E-7393D927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398E9-2B63-B823-86AE-5F3F0CC1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1C48D-6FA2-3468-5168-8B5AF649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81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3F5A-16F5-BA40-C277-0D2F058E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AF17B-6114-6A15-B289-089A40B73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8EC3-1285-C361-039E-1142FD5D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1AB59-9F56-A861-0B2D-6048BD156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734AF-3D04-4054-4D99-B09EC898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12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11EB-89EC-7A98-4051-238AE701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9E31D-F0E5-2371-5AE2-8813BAA0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878D4-5DB8-97B8-495B-662B05054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9B6B6-711C-D1B7-7D38-513C72864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18E89-6D8C-448D-69F9-1B0B656A1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BCE91-E192-D917-8F08-6D8EB6D9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05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A53D-01A9-2244-087D-A05ACBC8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7DAB6-C1D0-42C2-CBE3-6A98BB1AB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8626F-1A1C-1AB1-1AED-09F18870C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55DC8-22A6-E793-49B0-73EA4ED00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840C1-0007-0FB4-DA7B-44C230203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9868B-8687-693A-1673-7C8DA171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EDF08-3755-8B33-C449-730A4DF9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53B90E-0975-F0E8-6734-33BF8D20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45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3808-10B5-92D3-D6EE-2A86618A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18381-15BC-A310-3F14-89FA610BE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3D79C-D236-0777-1C13-4B253AE5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0AA8D-4139-448D-6F16-333353FB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74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E223F7-1A65-5541-4CE7-ABA390FE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BB4F7-EC3B-4C17-B40F-11EA9463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32558-D89D-9816-93AE-800C6389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7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1959-59A9-E7C4-90FE-01388459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9AA-0E39-4F45-05A0-FA3D8F8A4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DD67B-D3A0-6CD0-925D-4279D0D1C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89D60-6500-83F6-0B19-1D7D0C1D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D7A32-9E85-4D44-D98C-16B3345F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7F26A-6AAA-475C-0B2D-2C8F0AC6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268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5AF5-FE8C-80FD-FE6D-F891EEB56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F6CAA8-DB45-F803-CE3E-714BFBCF2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6DB8A-AABF-489E-C3AB-73436EE36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33B1D-9677-2CFB-78D9-D50F6BBD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BAC7C-C1CD-2CDA-EDDB-0039D151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655F4-EEC5-DBC2-721B-42A7A9E3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992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CEFB-C5F8-EB97-0B12-572A0B9D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2DEED-490A-B210-6B85-21C8ACF78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C2373-6F4B-2217-CBAA-8B0797CE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FA098-D297-D00F-24F1-B8D875696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D3F65-EE43-75E9-A2B8-130F2A34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23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704366-8A5F-CCD9-DF42-6D9F96105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11999-18E5-9B16-E62B-AEF0A7916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43A55-82BF-3A2C-9849-BFFFA6D4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F0174-AC12-25F4-F865-6805EC6F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99C8E-09D0-D893-F1C1-2458B7035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41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ABC6A-17B1-77D1-1D61-A8C3B5021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05DE6-C9C1-583D-108A-5DD901B44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DFD3E-0966-BE16-22EB-5AFD31E12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C95BD-BEDD-44AD-A692-D3030E4B2F1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4AD50-FB69-CC7D-6606-CB232D40D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7DD6E-6866-74A5-BCDC-FF90F6D15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67EC8-F900-4364-BB44-791704AC772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4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139F-91F2-6329-4F42-F2B02F2E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8" y="1136040"/>
            <a:ext cx="5695026" cy="1634592"/>
          </a:xfrm>
        </p:spPr>
        <p:txBody>
          <a:bodyPr anchor="b">
            <a:normAutofit/>
          </a:bodyPr>
          <a:lstStyle/>
          <a:p>
            <a:pPr algn="ctr"/>
            <a:r>
              <a:rPr lang="it-IT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GENDER &amp; INCLUSION</a:t>
            </a:r>
            <a:br>
              <a:rPr lang="it-IT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Diversi Unici Uguali</a:t>
            </a:r>
            <a:br>
              <a:rPr lang="it-IT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Barbara Martini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10" name="Content Placeholder 9" descr="A rainbow colored stripes&#10;&#10;Description automatically generated">
            <a:extLst>
              <a:ext uri="{FF2B5EF4-FFF2-40B4-BE49-F238E27FC236}">
                <a16:creationId xmlns:a16="http://schemas.microsoft.com/office/drawing/2014/main" id="{EE9C9DEF-1198-3CEB-91D7-1E99DC3AE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383" y="3429000"/>
            <a:ext cx="2810949" cy="1828800"/>
          </a:xfrm>
        </p:spPr>
      </p:pic>
      <p:pic>
        <p:nvPicPr>
          <p:cNvPr id="4" name="Content Placeholder 3" descr="A red square with white text and a symbol&#10;&#10;Description automatically generated">
            <a:extLst>
              <a:ext uri="{FF2B5EF4-FFF2-40B4-BE49-F238E27FC236}">
                <a16:creationId xmlns:a16="http://schemas.microsoft.com/office/drawing/2014/main" id="{D5196ECD-64B9-D200-7447-CFECDE7A91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58" r="-3" b="-3"/>
          <a:stretch/>
        </p:blipFill>
        <p:spPr>
          <a:xfrm>
            <a:off x="86268" y="2875395"/>
            <a:ext cx="2810949" cy="2382406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8" name="Picture 7" descr="A logo with text and people in a circle&#10;&#10;Description automatically generated">
            <a:extLst>
              <a:ext uri="{FF2B5EF4-FFF2-40B4-BE49-F238E27FC236}">
                <a16:creationId xmlns:a16="http://schemas.microsoft.com/office/drawing/2014/main" id="{54CDB26B-41D0-BCF6-6D40-9BC04C61E65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73" b="4"/>
          <a:stretch/>
        </p:blipFill>
        <p:spPr>
          <a:xfrm>
            <a:off x="6223060" y="3294283"/>
            <a:ext cx="2593775" cy="2607199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6" name="Picture 5" descr="A group of colorful circles&#10;&#10;Description automatically generated">
            <a:extLst>
              <a:ext uri="{FF2B5EF4-FFF2-40B4-BE49-F238E27FC236}">
                <a16:creationId xmlns:a16="http://schemas.microsoft.com/office/drawing/2014/main" id="{E750FFDF-2780-8943-6390-B1CA1D4F3B7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5" r="3079" b="-1"/>
          <a:stretch/>
        </p:blipFill>
        <p:spPr>
          <a:xfrm>
            <a:off x="5628656" y="939712"/>
            <a:ext cx="3434907" cy="2652377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69198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and white drawing of a head&#10;&#10;AI-generated content may be incorrect.">
            <a:extLst>
              <a:ext uri="{FF2B5EF4-FFF2-40B4-BE49-F238E27FC236}">
                <a16:creationId xmlns:a16="http://schemas.microsoft.com/office/drawing/2014/main" id="{BEB6DE2C-FBE0-8BB2-A75C-4FB3104C42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332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Bias </a:t>
            </a:r>
            <a:r>
              <a:rPr lang="en-US" dirty="0" err="1">
                <a:solidFill>
                  <a:srgbClr val="FFFFFF"/>
                </a:solidFill>
              </a:rPr>
              <a:t>Cognitivi</a:t>
            </a:r>
            <a:r>
              <a:rPr lang="en-US" dirty="0">
                <a:solidFill>
                  <a:srgbClr val="FFFFFF"/>
                </a:solidFill>
              </a:rPr>
              <a:t> di Genere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59404"/>
            <a:ext cx="6858000" cy="109839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2700" b="1">
                <a:solidFill>
                  <a:srgbClr val="FFFFFF"/>
                </a:solidFill>
              </a:rPr>
              <a:t>Come i pregiudizi inconsci influenzano percezioni e comportamenti</a:t>
            </a:r>
          </a:p>
          <a:p>
            <a:pPr>
              <a:lnSpc>
                <a:spcPct val="90000"/>
              </a:lnSpc>
            </a:pPr>
            <a:endParaRPr lang="it-IT" sz="270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Cos’è un bias cognitivo?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4F9B71-FEC3-75D2-548D-09D8A38BBA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79526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8E4E83-FE83-E154-ED9E-771405DC6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group of hands pointing at a symbol&#10;&#10;AI-generated content may be incorrect.">
            <a:extLst>
              <a:ext uri="{FF2B5EF4-FFF2-40B4-BE49-F238E27FC236}">
                <a16:creationId xmlns:a16="http://schemas.microsoft.com/office/drawing/2014/main" id="{F051DADA-8AE3-BC2C-61F2-0A44E71AF2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14" r="1" b="8389"/>
          <a:stretch/>
        </p:blipFill>
        <p:spPr>
          <a:xfrm>
            <a:off x="469943" y="317579"/>
            <a:ext cx="5162642" cy="222561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3E2DE0-03F0-5842-D754-C2A79E78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it-IT" sz="3600" dirty="0">
                <a:solidFill>
                  <a:schemeClr val="bg1"/>
                </a:solidFill>
              </a:rPr>
              <a:t>BIAS COGNITIVI </a:t>
            </a:r>
            <a:br>
              <a:rPr lang="it-IT" sz="3600" dirty="0">
                <a:solidFill>
                  <a:schemeClr val="bg1"/>
                </a:solidFill>
              </a:rPr>
            </a:br>
            <a:r>
              <a:rPr lang="it-IT" sz="3600" dirty="0">
                <a:solidFill>
                  <a:schemeClr val="bg1"/>
                </a:solidFill>
              </a:rPr>
              <a:t>DI GENERE- origini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8F317-DABD-B84F-22CE-BA824D14C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362" y="3085952"/>
            <a:ext cx="5872638" cy="3772049"/>
          </a:xfrm>
          <a:noFill/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it-IT" sz="2000" b="1" dirty="0">
                <a:solidFill>
                  <a:srgbClr val="FF0000"/>
                </a:solidFill>
              </a:rPr>
              <a:t>Stereotipi culturali e sociali</a:t>
            </a:r>
            <a:r>
              <a:rPr lang="it-IT" sz="2000" dirty="0">
                <a:solidFill>
                  <a:schemeClr val="bg1"/>
                </a:solidFill>
              </a:rPr>
              <a:t>: La società trasmette nel tempo credenze generalizzate sulle caratteristiche e sui ruoli appropriati per ciascun genere. Ad esempio, l'idea che gli uomini siano più adatti a ruoli di leadership, mentre le donne siano più portate per compiti di cura, riflette stereotipi culturali profondamente radicati. Questi stereotipi influenzano le aspettative e le valutazioni delle capacità individuali, indipendentemente dalle reali competenze. </a:t>
            </a:r>
          </a:p>
          <a:p>
            <a:pPr>
              <a:lnSpc>
                <a:spcPct val="90000"/>
              </a:lnSpc>
            </a:pPr>
            <a:endParaRPr lang="it-IT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1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D331-6F8D-A1AD-3B9C-B8888001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18" y="871146"/>
            <a:ext cx="3672540" cy="1375943"/>
          </a:xfrm>
        </p:spPr>
        <p:txBody>
          <a:bodyPr anchor="t">
            <a:normAutofit/>
          </a:bodyPr>
          <a:lstStyle/>
          <a:p>
            <a:r>
              <a:rPr lang="it-IT" sz="2800" dirty="0"/>
              <a:t>BIAS COGNITIVI DI GENERE- origini</a:t>
            </a:r>
            <a:endParaRPr lang="en-US" sz="2800" dirty="0"/>
          </a:p>
        </p:txBody>
      </p:sp>
      <p:pic>
        <p:nvPicPr>
          <p:cNvPr id="6" name="Picture 5" descr="A white paper with text and drawings&#10;&#10;AI-generated content may be incorrect.">
            <a:extLst>
              <a:ext uri="{FF2B5EF4-FFF2-40B4-BE49-F238E27FC236}">
                <a16:creationId xmlns:a16="http://schemas.microsoft.com/office/drawing/2014/main" id="{7088D04F-4FDF-A21D-CE0F-FD413A0BE3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29" r="2122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3EBFC-8694-FB9B-B01E-5D64C0D2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889" y="2551176"/>
            <a:ext cx="4951379" cy="430682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it-IT" sz="2000" b="1" dirty="0">
                <a:solidFill>
                  <a:srgbClr val="FF0000"/>
                </a:solidFill>
              </a:rPr>
              <a:t>Esperienze individuali e schemi mentali: </a:t>
            </a:r>
            <a:r>
              <a:rPr lang="it-IT" sz="2000" dirty="0"/>
              <a:t>Le esperienze personali contribuiscono alla formazione di schemi mentali o "mappe cognitive" che utilizziamo per interpretare la realtà. Questi schemi possono portare a generalizzazioni eccessive basate su interazioni limitate, rafforzando i bias esistenti. Ad esempio, se in un contesto lavorativo si è prevalentemente interagito con uomini in posizioni tecniche, si potrebbe inconsciamente associare il genere maschile a tali ruoli. </a:t>
            </a:r>
          </a:p>
          <a:p>
            <a:pPr>
              <a:lnSpc>
                <a:spcPct val="90000"/>
              </a:lnSpc>
            </a:pPr>
            <a:endParaRPr lang="it-IT" sz="1700" dirty="0"/>
          </a:p>
        </p:txBody>
      </p:sp>
    </p:spTree>
    <p:extLst>
      <p:ext uri="{BB962C8B-B14F-4D97-AF65-F5344CB8AC3E}">
        <p14:creationId xmlns:p14="http://schemas.microsoft.com/office/powerpoint/2010/main" val="149049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5A812-D379-1DA8-7DBA-55DBFFF7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9634-DFDC-D871-6E7D-A6A87203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826" y="145915"/>
            <a:ext cx="4387154" cy="1001949"/>
          </a:xfrm>
        </p:spPr>
        <p:txBody>
          <a:bodyPr anchor="t">
            <a:normAutofit/>
          </a:bodyPr>
          <a:lstStyle/>
          <a:p>
            <a:r>
              <a:rPr lang="it-IT" sz="2800" dirty="0"/>
              <a:t>BIAS COGNITIVI DI GENERE- Origini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C223FD-289F-F69F-B834-16EDEC516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35" r="33986" b="1"/>
          <a:stretch/>
        </p:blipFill>
        <p:spPr>
          <a:xfrm>
            <a:off x="20" y="10"/>
            <a:ext cx="340466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D4C8D-3913-99AE-BD28-00F464460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9920" y="1449427"/>
            <a:ext cx="4910946" cy="5397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800" b="1" dirty="0"/>
              <a:t>Paura di prendere decisioni errate: </a:t>
            </a:r>
            <a:r>
              <a:rPr lang="it-IT" sz="2800" dirty="0"/>
              <a:t>L'incertezza può spingere le persone a fare affidamento su stereotipi di genere come scorciatoie cognitive per semplificare il processo decisionale. </a:t>
            </a:r>
          </a:p>
          <a:p>
            <a:pPr marL="0" indent="0">
              <a:buNone/>
            </a:pPr>
            <a:r>
              <a:rPr lang="it-IT" sz="2800" dirty="0"/>
              <a:t>Questo meccanismo può portare a scelte basate su pregiudizi anziché su una valutazione oggettiva delle competenze individuali. </a:t>
            </a:r>
          </a:p>
        </p:txBody>
      </p:sp>
    </p:spTree>
    <p:extLst>
      <p:ext uri="{BB962C8B-B14F-4D97-AF65-F5344CB8AC3E}">
        <p14:creationId xmlns:p14="http://schemas.microsoft.com/office/powerpoint/2010/main" val="876660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EE59D-1845-A2A3-C140-5980ECF7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9E881A4-A468-403A-9941-F8FFD5C68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F3AA3-63EF-73C9-2E99-84A1F34A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22" r="14933" b="1"/>
          <a:stretch/>
        </p:blipFill>
        <p:spPr>
          <a:xfrm>
            <a:off x="126459" y="3866615"/>
            <a:ext cx="3357337" cy="299138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F168544-607B-491A-8601-3087D0FCE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6527" y="1"/>
            <a:ext cx="5567473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81A88-169B-4EE7-9438-852B7613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68" y="326692"/>
            <a:ext cx="3357337" cy="1113001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it-IT" sz="2800" dirty="0">
                <a:solidFill>
                  <a:srgbClr val="595959"/>
                </a:solidFill>
              </a:rPr>
              <a:t>BIAS COGNITIVI DI GENERE</a:t>
            </a:r>
            <a:br>
              <a:rPr lang="it-IT" sz="2800" dirty="0">
                <a:solidFill>
                  <a:srgbClr val="595959"/>
                </a:solidFill>
              </a:rPr>
            </a:br>
            <a:r>
              <a:rPr lang="it-IT" sz="2800" dirty="0">
                <a:solidFill>
                  <a:srgbClr val="595959"/>
                </a:solidFill>
              </a:rPr>
              <a:t>-origini</a:t>
            </a:r>
            <a:endParaRPr lang="en-US" sz="2800" dirty="0">
              <a:solidFill>
                <a:srgbClr val="595959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C1CCB-98C1-99BB-495A-00D52A239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6782" y="175098"/>
            <a:ext cx="5468239" cy="6682903"/>
          </a:xfrm>
        </p:spPr>
        <p:txBody>
          <a:bodyPr anchor="t">
            <a:normAutofit/>
          </a:bodyPr>
          <a:lstStyle/>
          <a:p>
            <a:endParaRPr lang="it-IT" sz="1700" dirty="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it-IT" sz="2400" b="1" dirty="0">
                <a:solidFill>
                  <a:srgbClr val="595959"/>
                </a:solidFill>
              </a:rPr>
              <a:t>Contesto culturale e credenze condivise: </a:t>
            </a:r>
            <a:r>
              <a:rPr lang="it-IT" sz="2400" dirty="0">
                <a:solidFill>
                  <a:srgbClr val="595959"/>
                </a:solidFill>
              </a:rPr>
              <a:t>Le norme e i valori culturali influenzano profondamente i nostri giudizi. In molte culture, esistono aspettative predefinite riguardo ai comportamenti "appropriati" per uomini e donne, che possono alimentare bias impliciti. </a:t>
            </a:r>
          </a:p>
          <a:p>
            <a:pPr marL="0" indent="0">
              <a:buNone/>
            </a:pPr>
            <a:r>
              <a:rPr lang="it-IT" sz="2400" dirty="0">
                <a:solidFill>
                  <a:srgbClr val="595959"/>
                </a:solidFill>
              </a:rPr>
              <a:t>Ad esempio, in alcune società, l'assertività potrebbe essere valorizzata negli uomini ma vista negativamente nelle donne. </a:t>
            </a:r>
          </a:p>
        </p:txBody>
      </p:sp>
    </p:spTree>
    <p:extLst>
      <p:ext uri="{BB962C8B-B14F-4D97-AF65-F5344CB8AC3E}">
        <p14:creationId xmlns:p14="http://schemas.microsoft.com/office/powerpoint/2010/main" val="817551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1E7F9-ED34-7541-7C20-2DC93E48F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4464D8-FD41-4EA2-9094-791BB1112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DF772F-A79B-48F9-8B22-3B11AB306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729175"/>
            <a:ext cx="559272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CD6A1-1D50-1CA4-E66B-A4321A4F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974" y="900622"/>
            <a:ext cx="4958259" cy="189352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4200"/>
              <a:t>BIAS COGNITIVI DI GENERE</a:t>
            </a:r>
            <a:br>
              <a:rPr lang="it-IT" sz="4200"/>
            </a:br>
            <a:r>
              <a:rPr lang="it-IT" sz="4200"/>
              <a:t>-origini</a:t>
            </a:r>
            <a:endParaRPr lang="en-US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5911-3A0D-184B-F971-694661A1B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66" y="2965592"/>
            <a:ext cx="5769473" cy="3250381"/>
          </a:xfrm>
        </p:spPr>
        <p:txBody>
          <a:bodyPr>
            <a:normAutofit/>
          </a:bodyPr>
          <a:lstStyle/>
          <a:p>
            <a:endParaRPr lang="it-IT" sz="1600" dirty="0"/>
          </a:p>
          <a:p>
            <a:pPr marL="0" indent="0">
              <a:buNone/>
            </a:pPr>
            <a:r>
              <a:rPr lang="it-IT" sz="2400" dirty="0"/>
              <a:t>Comprendere queste origini è fondamentale per riconoscere e affrontare i bias cognitivi di genere, promuovendo una maggiore equità e inclusione nei vari ambiti della società.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3405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it-IT" sz="3600"/>
              <a:t>I bias cognitivi e il genere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835" y="2227943"/>
            <a:ext cx="6517532" cy="40463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800" dirty="0"/>
              <a:t>I bias si applicano anche al modo in cui percepiamo uomini e donne.</a:t>
            </a:r>
          </a:p>
          <a:p>
            <a:pPr marL="0" indent="0">
              <a:buNone/>
            </a:pPr>
            <a:r>
              <a:rPr lang="it-IT" sz="2800" b="1" dirty="0"/>
              <a:t>Spesso sono inconsci → non ce ne rendiamo conto.</a:t>
            </a:r>
          </a:p>
          <a:p>
            <a:pPr marL="0" indent="0">
              <a:buNone/>
            </a:pPr>
            <a:r>
              <a:rPr lang="it-IT" sz="2800" dirty="0"/>
              <a:t>Influenzano: assunzioni, promozioni, valutazioni, leadership.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6C51EBF3-6CFD-18A0-881D-B726592D5D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52849"/>
            <a:ext cx="2655651" cy="2452687"/>
          </a:xfrm>
        </p:spPr>
        <p:txBody>
          <a:bodyPr anchor="ctr">
            <a:normAutofit/>
          </a:bodyPr>
          <a:lstStyle/>
          <a:p>
            <a:r>
              <a:rPr lang="en-US" sz="3100" dirty="0"/>
              <a:t>Il bias </a:t>
            </a:r>
            <a:r>
              <a:rPr lang="en-US" sz="3100" dirty="0" err="1"/>
              <a:t>dello</a:t>
            </a:r>
            <a:r>
              <a:rPr lang="en-US" sz="3100" dirty="0"/>
              <a:t> </a:t>
            </a:r>
            <a:r>
              <a:rPr lang="en-US" sz="3100" dirty="0" err="1"/>
              <a:t>stereotipo</a:t>
            </a:r>
            <a:endParaRPr lang="en-US" sz="3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2E5B2-FB9C-1F62-F9E6-AE479AB2D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748" b="12472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651" y="3429000"/>
            <a:ext cx="6352162" cy="27765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600" dirty="0"/>
              <a:t> </a:t>
            </a:r>
            <a:r>
              <a:rPr lang="it-IT" sz="2400" dirty="0"/>
              <a:t>Attribuire caratteristiche a un individuo basandosi sul gruppo d'appartenenza.</a:t>
            </a:r>
          </a:p>
          <a:p>
            <a:pPr marL="0" indent="0">
              <a:buNone/>
            </a:pPr>
            <a:r>
              <a:rPr lang="it-IT" sz="2400" dirty="0"/>
              <a:t>Es: “le donne sono più empatiche, meno razionali”.</a:t>
            </a:r>
          </a:p>
          <a:p>
            <a:pPr marL="0" indent="0">
              <a:buNone/>
            </a:pPr>
            <a:r>
              <a:rPr lang="it-IT" sz="2400" dirty="0"/>
              <a:t> Conseguenze: segregazione occupazionale.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4259" y="-7473"/>
            <a:ext cx="4572000" cy="948447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rgbClr val="595959"/>
                </a:solidFill>
              </a:rPr>
              <a:t>Il bias di </a:t>
            </a:r>
            <a:r>
              <a:rPr lang="en-US" sz="3200" dirty="0" err="1">
                <a:solidFill>
                  <a:srgbClr val="595959"/>
                </a:solidFill>
              </a:rPr>
              <a:t>conferma</a:t>
            </a:r>
            <a:endParaRPr lang="en-US" sz="3200" dirty="0">
              <a:solidFill>
                <a:srgbClr val="59595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41" y="291830"/>
            <a:ext cx="4665317" cy="592594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rgbClr val="595959"/>
                </a:solidFill>
              </a:rPr>
              <a:t> </a:t>
            </a:r>
            <a:r>
              <a:rPr lang="it-IT" sz="2800" dirty="0">
                <a:solidFill>
                  <a:srgbClr val="595959"/>
                </a:solidFill>
              </a:rPr>
              <a:t>Cercare prove che confermano idee preesistenti.</a:t>
            </a:r>
          </a:p>
          <a:p>
            <a:pPr marL="0" indent="0">
              <a:buNone/>
            </a:pPr>
            <a:r>
              <a:rPr lang="it-IT" sz="2800" dirty="0">
                <a:solidFill>
                  <a:srgbClr val="595959"/>
                </a:solidFill>
              </a:rPr>
              <a:t>Es: si nota solo che gli uomini sono assertivi, ignorando altri dati.</a:t>
            </a:r>
          </a:p>
          <a:p>
            <a:pPr marL="0" indent="0">
              <a:buNone/>
            </a:pPr>
            <a:r>
              <a:rPr lang="it-IT" sz="2800" dirty="0">
                <a:solidFill>
                  <a:srgbClr val="595959"/>
                </a:solidFill>
              </a:rPr>
              <a:t>Ostacola il cambiamento culturale.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9804D5-5D31-51A0-E592-DC1F8B98E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799" y="1789469"/>
            <a:ext cx="3597792" cy="31300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4332" y="93677"/>
            <a:ext cx="5369668" cy="782623"/>
          </a:xfrm>
        </p:spPr>
        <p:txBody>
          <a:bodyPr anchor="b">
            <a:normAutofit/>
          </a:bodyPr>
          <a:lstStyle/>
          <a:p>
            <a:r>
              <a:rPr lang="en-US" sz="2800" dirty="0"/>
              <a:t>IL DOUBLE BIND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909D6-E5A2-0B6A-9EF1-237AE0CBC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77"/>
            <a:ext cx="3306548" cy="313841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6548" y="1799617"/>
            <a:ext cx="5467778" cy="452255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it-IT" sz="2800" dirty="0"/>
              <a:t>Il double </a:t>
            </a:r>
            <a:r>
              <a:rPr lang="it-IT" sz="2800" dirty="0" err="1"/>
              <a:t>bind</a:t>
            </a:r>
            <a:r>
              <a:rPr lang="it-IT" sz="2800" dirty="0"/>
              <a:t> (letteralmente “doppio vincolo”) è una situazione comunicativa o sociale in cui una persona riceve messaggi contraddittori, tali da renderle impossibile qualunque risposta "giusta", senza subire una penalizzazione.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C73AF9-0D33-5C66-5D79-0D012990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96FD6F-5EE9-36C7-C200-3111EF6D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A39BB2-02C1-8A8B-8021-68446E04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068C-EB22-903E-62BA-87AA418B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548" y="359923"/>
            <a:ext cx="4533946" cy="1439693"/>
          </a:xfrm>
        </p:spPr>
        <p:txBody>
          <a:bodyPr anchor="b">
            <a:normAutofit/>
          </a:bodyPr>
          <a:lstStyle/>
          <a:p>
            <a:r>
              <a:rPr lang="it-IT" sz="2800" dirty="0"/>
              <a:t>💡 NEL CONTESTO DI GENERE</a:t>
            </a:r>
            <a:endParaRPr lang="en-US" sz="2800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317947E3-402B-C8C7-A5DA-215C19AE0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12166"/>
            <a:ext cx="3306548" cy="330654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66CD-B1EB-BB4B-7CBA-9F130B17B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312" y="2675151"/>
            <a:ext cx="7675122" cy="382292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it-IT" sz="2400" dirty="0"/>
              <a:t>Il double </a:t>
            </a:r>
            <a:r>
              <a:rPr lang="it-IT" sz="2400" dirty="0" err="1"/>
              <a:t>bind</a:t>
            </a:r>
            <a:r>
              <a:rPr lang="it-IT" sz="2400" dirty="0"/>
              <a:t> colpisce spesso le donne in ruoli di leadership o in contesti professionali.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400" dirty="0"/>
              <a:t>📌 Esempio tipico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400" b="1" dirty="0">
                <a:solidFill>
                  <a:srgbClr val="FF0000"/>
                </a:solidFill>
              </a:rPr>
              <a:t> Se una donna è decisa, assertiva e ambiziosa, </a:t>
            </a:r>
            <a:r>
              <a:rPr lang="it-IT" sz="2400" dirty="0"/>
              <a:t>viene percepita come "fredda", "aggressiva" o "antipatica" (perché si discosta dagli stereotipi di femminilità).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400" b="1" dirty="0"/>
              <a:t>Se invece è collaborativa, gentile e accomodante</a:t>
            </a:r>
            <a:r>
              <a:rPr lang="it-IT" sz="2400" dirty="0"/>
              <a:t>, viene vista come "debole" o "non adatta alla leadership".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400" dirty="0"/>
              <a:t>➡️ Qualunque scelta faccia, viene penalizzata.</a:t>
            </a: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C73AF9-0D33-5C66-5D79-0D012990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96FD6F-5EE9-36C7-C200-3111EF6D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A39BB2-02C1-8A8B-8021-68446E04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674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685800"/>
            <a:ext cx="6875628" cy="802532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rgbClr val="595959"/>
                </a:solidFill>
              </a:rPr>
              <a:t>Bias </a:t>
            </a:r>
            <a:r>
              <a:rPr lang="en-US" sz="2800" dirty="0" err="1">
                <a:solidFill>
                  <a:srgbClr val="595959"/>
                </a:solidFill>
              </a:rPr>
              <a:t>dell’affinità</a:t>
            </a:r>
            <a:r>
              <a:rPr lang="en-US" sz="2800" dirty="0">
                <a:solidFill>
                  <a:srgbClr val="595959"/>
                </a:solidFill>
              </a:rPr>
              <a:t> (affinity bias)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16732" y="1848255"/>
            <a:ext cx="5516303" cy="493192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it-IT" dirty="0">
                <a:solidFill>
                  <a:srgbClr val="595959"/>
                </a:solidFill>
              </a:rPr>
              <a:t>Preferenza per chi ci somiglia.</a:t>
            </a:r>
          </a:p>
          <a:p>
            <a:pPr marL="0" indent="0">
              <a:buNone/>
            </a:pPr>
            <a:r>
              <a:rPr lang="it-IT" dirty="0">
                <a:solidFill>
                  <a:srgbClr val="595959"/>
                </a:solidFill>
              </a:rPr>
              <a:t>Penalizza le donne in ambienti a maggioranza maschile.</a:t>
            </a:r>
          </a:p>
          <a:p>
            <a:pPr marL="0" indent="0">
              <a:buNone/>
            </a:pPr>
            <a:r>
              <a:rPr lang="it-IT" dirty="0">
                <a:solidFill>
                  <a:srgbClr val="595959"/>
                </a:solidFill>
              </a:rPr>
              <a:t>Impatto nei colloqui, mentoring, opportunità.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1754AB-3C42-168D-4701-884A68D54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71" y="1488332"/>
            <a:ext cx="3597792" cy="20237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468" y="174634"/>
            <a:ext cx="4231532" cy="1547161"/>
          </a:xfrm>
        </p:spPr>
        <p:txBody>
          <a:bodyPr anchor="b">
            <a:normAutofit/>
          </a:bodyPr>
          <a:lstStyle/>
          <a:p>
            <a:r>
              <a:rPr lang="en-US" sz="2800" b="1" dirty="0" err="1">
                <a:solidFill>
                  <a:srgbClr val="FF0000"/>
                </a:solidFill>
              </a:rPr>
              <a:t>Effetto</a:t>
            </a:r>
            <a:r>
              <a:rPr lang="en-US" sz="2800" b="1" dirty="0">
                <a:solidFill>
                  <a:srgbClr val="FF0000"/>
                </a:solidFill>
              </a:rPr>
              <a:t> “Matilda”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33" y="466928"/>
            <a:ext cx="5108848" cy="57508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it-IT" sz="3600" dirty="0">
                <a:solidFill>
                  <a:srgbClr val="595959"/>
                </a:solidFill>
              </a:rPr>
              <a:t>Invisibilità delle donne nei risultati scientifici e professionali.</a:t>
            </a:r>
          </a:p>
          <a:p>
            <a:pPr marL="0" indent="0">
              <a:buNone/>
            </a:pPr>
            <a:r>
              <a:rPr lang="it-IT" sz="3600" dirty="0">
                <a:solidFill>
                  <a:srgbClr val="595959"/>
                </a:solidFill>
              </a:rPr>
              <a:t>Successi femminili attribuiti ad aiuti maschili.</a:t>
            </a:r>
          </a:p>
          <a:p>
            <a:pPr marL="0" indent="0">
              <a:buNone/>
            </a:pPr>
            <a:endParaRPr lang="it-IT" sz="1700" dirty="0">
              <a:solidFill>
                <a:srgbClr val="59595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0FB2E-764F-0804-396C-0D2944AD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81" y="3895291"/>
            <a:ext cx="3597792" cy="20507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Genere &amp; Carriera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Associare concetti alle categorie:</a:t>
            </a:r>
          </a:p>
          <a:p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👉 S = Uomo o Carriera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👉 L = Donna o Famiglia</a:t>
            </a:r>
          </a:p>
          <a:p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 b="1">
                <a:solidFill>
                  <a:schemeClr val="tx1">
                    <a:alpha val="80000"/>
                  </a:schemeClr>
                </a:solidFill>
              </a:rPr>
              <a:t>Parole: </a:t>
            </a:r>
          </a:p>
          <a:p>
            <a:pPr marL="0" indent="0">
              <a:buNone/>
            </a:pPr>
            <a:r>
              <a:rPr lang="it-IT" sz="1700" b="1">
                <a:solidFill>
                  <a:schemeClr val="tx1">
                    <a:alpha val="80000"/>
                  </a:schemeClr>
                </a:solidFill>
              </a:rPr>
              <a:t>Avvocato, Madre, Manager, Cucina, Padre, CEO, Pannolini, Ingegnere</a:t>
            </a:r>
          </a:p>
          <a:p>
            <a:endParaRPr lang="it-IT" sz="1700" b="1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Poi inverti: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👉 S = Donna o Carriera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👉 L = Uomo o Famiglia</a:t>
            </a:r>
          </a:p>
          <a:p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Osserva: Quale versione ti è sembrata più facile?</a:t>
            </a:r>
          </a:p>
          <a:p>
            <a:pPr marL="0" indent="0"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➡️ Riflettiamo insieme su esitazioni e associazioni mentali.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Genere &amp; Leadership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Stesso esercizio, nuove categorie:</a:t>
            </a:r>
          </a:p>
          <a:p>
            <a:pPr>
              <a:lnSpc>
                <a:spcPct val="90000"/>
              </a:lnSpc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👉 S = Uomo o Leadership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👉 L = Donna o Supporto</a:t>
            </a:r>
          </a:p>
          <a:p>
            <a:pPr>
              <a:lnSpc>
                <a:spcPct val="90000"/>
              </a:lnSpc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Parole: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Capo, Segretaria, Comando, Empatia, Manager, Aiuto, Leader, Assistenza</a:t>
            </a:r>
          </a:p>
          <a:p>
            <a:pPr>
              <a:lnSpc>
                <a:spcPct val="90000"/>
              </a:lnSpc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Poi inverti: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👉 S = Donna o Leadership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👉 L = Uomo o Supporto</a:t>
            </a:r>
          </a:p>
          <a:p>
            <a:pPr>
              <a:lnSpc>
                <a:spcPct val="90000"/>
              </a:lnSpc>
            </a:pPr>
            <a:endParaRPr lang="it-IT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➡️ Come cambia la facilità con cui associate parole?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Discussione: Chi immaginiamo naturalmente come leader?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solidFill>
                  <a:schemeClr val="tx1">
                    <a:alpha val="80000"/>
                  </a:schemeClr>
                </a:solidFill>
              </a:rPr>
              <a:t>Ci sono differenze di genere nelle aspettative implicite?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2">
      <a:majorFont>
        <a:latin typeface="Palatino Linotype"/>
        <a:ea typeface=""/>
        <a:cs typeface=""/>
      </a:majorFont>
      <a:minorFont>
        <a:latin typeface="Palatino Linoty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C69F3F7625CF74085CAA0E2A49F4C2D" ma:contentTypeVersion="10" ma:contentTypeDescription="Creare un nuovo documento." ma:contentTypeScope="" ma:versionID="f970594720fb6abcd21fd0ece3721bb8">
  <xsd:schema xmlns:xsd="http://www.w3.org/2001/XMLSchema" xmlns:xs="http://www.w3.org/2001/XMLSchema" xmlns:p="http://schemas.microsoft.com/office/2006/metadata/properties" xmlns:ns2="48a61d46-4d30-4b24-ac0a-556bb3cc81e4" xmlns:ns3="a89520b4-453f-4caf-a364-bd14af9a57b3" targetNamespace="http://schemas.microsoft.com/office/2006/metadata/properties" ma:root="true" ma:fieldsID="e495a74569071716296f8154eb9fe63a" ns2:_="" ns3:_="">
    <xsd:import namespace="48a61d46-4d30-4b24-ac0a-556bb3cc81e4"/>
    <xsd:import namespace="a89520b4-453f-4caf-a364-bd14af9a57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a61d46-4d30-4b24-ac0a-556bb3cc81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1013fbc9-b00e-4d37-9f0b-4b76e146b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9520b4-453f-4caf-a364-bd14af9a57b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af5e59d-d4ac-435c-9382-48b95eae239d}" ma:internalName="TaxCatchAll" ma:showField="CatchAllData" ma:web="a89520b4-453f-4caf-a364-bd14af9a57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9520b4-453f-4caf-a364-bd14af9a57b3" xsi:nil="true"/>
    <lcf76f155ced4ddcb4097134ff3c332f xmlns="48a61d46-4d30-4b24-ac0a-556bb3cc81e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72A9DD3-8D62-46FD-A9CC-3EC9A591646E}"/>
</file>

<file path=customXml/itemProps2.xml><?xml version="1.0" encoding="utf-8"?>
<ds:datastoreItem xmlns:ds="http://schemas.openxmlformats.org/officeDocument/2006/customXml" ds:itemID="{E011432D-27A5-40F5-9E29-AC4560E0CB07}"/>
</file>

<file path=customXml/itemProps3.xml><?xml version="1.0" encoding="utf-8"?>
<ds:datastoreItem xmlns:ds="http://schemas.openxmlformats.org/officeDocument/2006/customXml" ds:itemID="{CA5504D3-D88F-4350-92D3-EFE393A18893}"/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794</Words>
  <Application>Microsoft Office PowerPoint</Application>
  <PresentationFormat>Presentazione su schermo (4:3)</PresentationFormat>
  <Paragraphs>79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Palatino Linotype</vt:lpstr>
      <vt:lpstr>Office Theme</vt:lpstr>
      <vt:lpstr>1_Office Theme</vt:lpstr>
      <vt:lpstr>GENDER &amp; INCLUSION Diversi Unici Uguali Barbara Martini</vt:lpstr>
      <vt:lpstr>Bias Cognitivi di Genere</vt:lpstr>
      <vt:lpstr>Cos’è un bias cognitivo?</vt:lpstr>
      <vt:lpstr>BIAS COGNITIVI  DI GENERE- origini</vt:lpstr>
      <vt:lpstr>BIAS COGNITIVI DI GENERE- origini</vt:lpstr>
      <vt:lpstr>BIAS COGNITIVI DI GENERE- Origini</vt:lpstr>
      <vt:lpstr>BIAS COGNITIVI DI GENERE -origini</vt:lpstr>
      <vt:lpstr>BIAS COGNITIVI DI GENERE -origini</vt:lpstr>
      <vt:lpstr>I bias cognitivi e il genere</vt:lpstr>
      <vt:lpstr>Il bias dello stereotipo</vt:lpstr>
      <vt:lpstr>Il bias di conferma</vt:lpstr>
      <vt:lpstr>IL DOUBLE BIND</vt:lpstr>
      <vt:lpstr>💡 NEL CONTESTO DI GENERE</vt:lpstr>
      <vt:lpstr>Bias dell’affinità (affinity bias)</vt:lpstr>
      <vt:lpstr>Effetto “Matilda”</vt:lpstr>
      <vt:lpstr>Genere &amp; Carriera</vt:lpstr>
      <vt:lpstr>Genere &amp; Leadership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Barbara Martini</dc:creator>
  <cp:keywords/>
  <dc:description>generated using python-pptx</dc:description>
  <cp:lastModifiedBy>barbara martini</cp:lastModifiedBy>
  <cp:revision>21</cp:revision>
  <dcterms:created xsi:type="dcterms:W3CDTF">2013-01-27T09:14:16Z</dcterms:created>
  <dcterms:modified xsi:type="dcterms:W3CDTF">2026-04-15T13:44:12Z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0x0101002C69F3F7625CF74085CAA0E2A49F4C2D</vt:lpwstr>
  </property>
</Properties>
</file>