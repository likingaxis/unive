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79" r:id="rId4"/>
    <p:sldId id="259" r:id="rId5"/>
    <p:sldId id="280" r:id="rId6"/>
    <p:sldId id="261" r:id="rId7"/>
    <p:sldId id="281" r:id="rId8"/>
    <p:sldId id="260" r:id="rId9"/>
    <p:sldId id="262" r:id="rId10"/>
    <p:sldId id="263" r:id="rId11"/>
    <p:sldId id="282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761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DB5029-84A5-4FDF-AF14-5FCFD672B4D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FAD2C34-4EE5-4311-8F08-AE12D20A18B9}">
      <dgm:prSet/>
      <dgm:spPr/>
      <dgm:t>
        <a:bodyPr/>
        <a:lstStyle/>
        <a:p>
          <a:r>
            <a:rPr lang="en-US"/>
            <a:t>🎓 Formazione ed empowerment</a:t>
          </a:r>
        </a:p>
      </dgm:t>
    </dgm:pt>
    <dgm:pt modelId="{67F20823-CDB3-45D6-9707-DDD1C587FD27}" type="parTrans" cxnId="{44F984AF-927B-49A5-B3C2-1BB111A3B675}">
      <dgm:prSet/>
      <dgm:spPr/>
      <dgm:t>
        <a:bodyPr/>
        <a:lstStyle/>
        <a:p>
          <a:endParaRPr lang="en-US"/>
        </a:p>
      </dgm:t>
    </dgm:pt>
    <dgm:pt modelId="{6C298CC7-CDF6-4626-835C-D62B6F5460C1}" type="sibTrans" cxnId="{44F984AF-927B-49A5-B3C2-1BB111A3B675}">
      <dgm:prSet/>
      <dgm:spPr/>
      <dgm:t>
        <a:bodyPr/>
        <a:lstStyle/>
        <a:p>
          <a:endParaRPr lang="en-US"/>
        </a:p>
      </dgm:t>
    </dgm:pt>
    <dgm:pt modelId="{8F99319F-D289-451D-A8CF-838C7BAA2297}">
      <dgm:prSet/>
      <dgm:spPr/>
      <dgm:t>
        <a:bodyPr/>
        <a:lstStyle/>
        <a:p>
          <a:r>
            <a:rPr lang="en-US"/>
            <a:t>- Inserire l’educazione alla parità e al rispetto nei curricula scolastici.</a:t>
          </a:r>
        </a:p>
      </dgm:t>
    </dgm:pt>
    <dgm:pt modelId="{D8D6ED45-EF16-4167-8361-D252CD25F06C}" type="parTrans" cxnId="{544A9DC6-0FE2-4A93-A469-D4A6BA33B264}">
      <dgm:prSet/>
      <dgm:spPr/>
      <dgm:t>
        <a:bodyPr/>
        <a:lstStyle/>
        <a:p>
          <a:endParaRPr lang="en-US"/>
        </a:p>
      </dgm:t>
    </dgm:pt>
    <dgm:pt modelId="{1280C644-5E25-402F-A789-B050D0B5744A}" type="sibTrans" cxnId="{544A9DC6-0FE2-4A93-A469-D4A6BA33B264}">
      <dgm:prSet/>
      <dgm:spPr/>
      <dgm:t>
        <a:bodyPr/>
        <a:lstStyle/>
        <a:p>
          <a:endParaRPr lang="en-US"/>
        </a:p>
      </dgm:t>
    </dgm:pt>
    <dgm:pt modelId="{EF007069-E20F-4820-B9E0-52A01EF0C5FF}">
      <dgm:prSet/>
      <dgm:spPr/>
      <dgm:t>
        <a:bodyPr/>
        <a:lstStyle/>
        <a:p>
          <a:r>
            <a:rPr lang="en-US"/>
            <a:t>- Contrastare gli stereotipi di genere fin dall’infanzia.</a:t>
          </a:r>
        </a:p>
      </dgm:t>
    </dgm:pt>
    <dgm:pt modelId="{E3D588B3-8522-4435-9F7F-9D2D55AD6CD2}" type="parTrans" cxnId="{C3DB251B-519B-4B07-AA33-5533A0FC895D}">
      <dgm:prSet/>
      <dgm:spPr/>
      <dgm:t>
        <a:bodyPr/>
        <a:lstStyle/>
        <a:p>
          <a:endParaRPr lang="en-US"/>
        </a:p>
      </dgm:t>
    </dgm:pt>
    <dgm:pt modelId="{4FB5BC2B-95B4-4D4C-8659-33CA15BDB17E}" type="sibTrans" cxnId="{C3DB251B-519B-4B07-AA33-5533A0FC895D}">
      <dgm:prSet/>
      <dgm:spPr/>
      <dgm:t>
        <a:bodyPr/>
        <a:lstStyle/>
        <a:p>
          <a:endParaRPr lang="en-US"/>
        </a:p>
      </dgm:t>
    </dgm:pt>
    <dgm:pt modelId="{85AFF824-C928-478C-8583-7696CC86D215}">
      <dgm:prSet/>
      <dgm:spPr/>
      <dgm:t>
        <a:bodyPr/>
        <a:lstStyle/>
        <a:p>
          <a:r>
            <a:rPr lang="en-US"/>
            <a:t>- Promuovere modelli femminili positivi nei media, nella scuola, nella cultura.</a:t>
          </a:r>
        </a:p>
      </dgm:t>
    </dgm:pt>
    <dgm:pt modelId="{39B14F65-1851-4421-9BFE-60C8DD291CFD}" type="parTrans" cxnId="{F7E81E13-AEBE-438D-9067-62EE1B7D711E}">
      <dgm:prSet/>
      <dgm:spPr/>
      <dgm:t>
        <a:bodyPr/>
        <a:lstStyle/>
        <a:p>
          <a:endParaRPr lang="en-US"/>
        </a:p>
      </dgm:t>
    </dgm:pt>
    <dgm:pt modelId="{7AA39216-DFA9-4E43-AE24-A1970A31E238}" type="sibTrans" cxnId="{F7E81E13-AEBE-438D-9067-62EE1B7D711E}">
      <dgm:prSet/>
      <dgm:spPr/>
      <dgm:t>
        <a:bodyPr/>
        <a:lstStyle/>
        <a:p>
          <a:endParaRPr lang="en-US"/>
        </a:p>
      </dgm:t>
    </dgm:pt>
    <dgm:pt modelId="{E76A6CA1-161C-4FFC-84CF-C9D13852B136}">
      <dgm:prSet/>
      <dgm:spPr/>
      <dgm:t>
        <a:bodyPr/>
        <a:lstStyle/>
        <a:p>
          <a:r>
            <a:rPr lang="en-US"/>
            <a:t>- L’educazione è la base per il cambiamento culturale.</a:t>
          </a:r>
        </a:p>
      </dgm:t>
    </dgm:pt>
    <dgm:pt modelId="{D3064CA1-F734-486E-BD82-DF7D6A187212}" type="parTrans" cxnId="{194981AC-FC68-4AE8-BB1E-799D31963C7E}">
      <dgm:prSet/>
      <dgm:spPr/>
      <dgm:t>
        <a:bodyPr/>
        <a:lstStyle/>
        <a:p>
          <a:endParaRPr lang="en-US"/>
        </a:p>
      </dgm:t>
    </dgm:pt>
    <dgm:pt modelId="{FE6FD3EE-C04C-4938-9675-DDB765AD2295}" type="sibTrans" cxnId="{194981AC-FC68-4AE8-BB1E-799D31963C7E}">
      <dgm:prSet/>
      <dgm:spPr/>
      <dgm:t>
        <a:bodyPr/>
        <a:lstStyle/>
        <a:p>
          <a:endParaRPr lang="en-US"/>
        </a:p>
      </dgm:t>
    </dgm:pt>
    <dgm:pt modelId="{D6F80197-96BE-4BBD-B107-41505A72CFC7}" type="pres">
      <dgm:prSet presAssocID="{6ADB5029-84A5-4FDF-AF14-5FCFD672B4D3}" presName="linear" presStyleCnt="0">
        <dgm:presLayoutVars>
          <dgm:animLvl val="lvl"/>
          <dgm:resizeHandles val="exact"/>
        </dgm:presLayoutVars>
      </dgm:prSet>
      <dgm:spPr/>
    </dgm:pt>
    <dgm:pt modelId="{E1469463-B427-4F37-8121-A853827B39EA}" type="pres">
      <dgm:prSet presAssocID="{3FAD2C34-4EE5-4311-8F08-AE12D20A18B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AF637C0-BE1D-4D35-8689-5A7A1F8FEC3E}" type="pres">
      <dgm:prSet presAssocID="{6C298CC7-CDF6-4626-835C-D62B6F5460C1}" presName="spacer" presStyleCnt="0"/>
      <dgm:spPr/>
    </dgm:pt>
    <dgm:pt modelId="{353295A5-9CFA-41F8-A289-8AF7C6216BD1}" type="pres">
      <dgm:prSet presAssocID="{8F99319F-D289-451D-A8CF-838C7BAA229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A4BD0E8-6A96-4C3D-8A88-3CD499E216A1}" type="pres">
      <dgm:prSet presAssocID="{1280C644-5E25-402F-A789-B050D0B5744A}" presName="spacer" presStyleCnt="0"/>
      <dgm:spPr/>
    </dgm:pt>
    <dgm:pt modelId="{1436A143-FED7-4990-AB61-D2A8943B2970}" type="pres">
      <dgm:prSet presAssocID="{EF007069-E20F-4820-B9E0-52A01EF0C5F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C165E24-3FD1-452C-8D1E-522E635BD5CC}" type="pres">
      <dgm:prSet presAssocID="{4FB5BC2B-95B4-4D4C-8659-33CA15BDB17E}" presName="spacer" presStyleCnt="0"/>
      <dgm:spPr/>
    </dgm:pt>
    <dgm:pt modelId="{B1745397-17F0-4357-B95D-65C3E8021745}" type="pres">
      <dgm:prSet presAssocID="{85AFF824-C928-478C-8583-7696CC86D21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D6C4A13-4F5C-455B-9878-3940C9E0CB84}" type="pres">
      <dgm:prSet presAssocID="{7AA39216-DFA9-4E43-AE24-A1970A31E238}" presName="spacer" presStyleCnt="0"/>
      <dgm:spPr/>
    </dgm:pt>
    <dgm:pt modelId="{7D9B66EE-06C3-40A6-B95E-62B43497905A}" type="pres">
      <dgm:prSet presAssocID="{E76A6CA1-161C-4FFC-84CF-C9D13852B13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7E81E13-AEBE-438D-9067-62EE1B7D711E}" srcId="{6ADB5029-84A5-4FDF-AF14-5FCFD672B4D3}" destId="{85AFF824-C928-478C-8583-7696CC86D215}" srcOrd="3" destOrd="0" parTransId="{39B14F65-1851-4421-9BFE-60C8DD291CFD}" sibTransId="{7AA39216-DFA9-4E43-AE24-A1970A31E238}"/>
    <dgm:cxn modelId="{F351FA16-A8EA-4618-A015-D82F0DFB7EB9}" type="presOf" srcId="{EF007069-E20F-4820-B9E0-52A01EF0C5FF}" destId="{1436A143-FED7-4990-AB61-D2A8943B2970}" srcOrd="0" destOrd="0" presId="urn:microsoft.com/office/officeart/2005/8/layout/vList2"/>
    <dgm:cxn modelId="{C3DB251B-519B-4B07-AA33-5533A0FC895D}" srcId="{6ADB5029-84A5-4FDF-AF14-5FCFD672B4D3}" destId="{EF007069-E20F-4820-B9E0-52A01EF0C5FF}" srcOrd="2" destOrd="0" parTransId="{E3D588B3-8522-4435-9F7F-9D2D55AD6CD2}" sibTransId="{4FB5BC2B-95B4-4D4C-8659-33CA15BDB17E}"/>
    <dgm:cxn modelId="{36E6C260-8099-41FB-8F20-2DDE59B9B79A}" type="presOf" srcId="{85AFF824-C928-478C-8583-7696CC86D215}" destId="{B1745397-17F0-4357-B95D-65C3E8021745}" srcOrd="0" destOrd="0" presId="urn:microsoft.com/office/officeart/2005/8/layout/vList2"/>
    <dgm:cxn modelId="{B85ADB4B-8E13-45E5-8DA1-7E1B9148C7DD}" type="presOf" srcId="{8F99319F-D289-451D-A8CF-838C7BAA2297}" destId="{353295A5-9CFA-41F8-A289-8AF7C6216BD1}" srcOrd="0" destOrd="0" presId="urn:microsoft.com/office/officeart/2005/8/layout/vList2"/>
    <dgm:cxn modelId="{CA87E470-2AFD-4070-B94A-A69F69306BE4}" type="presOf" srcId="{3FAD2C34-4EE5-4311-8F08-AE12D20A18B9}" destId="{E1469463-B427-4F37-8121-A853827B39EA}" srcOrd="0" destOrd="0" presId="urn:microsoft.com/office/officeart/2005/8/layout/vList2"/>
    <dgm:cxn modelId="{194981AC-FC68-4AE8-BB1E-799D31963C7E}" srcId="{6ADB5029-84A5-4FDF-AF14-5FCFD672B4D3}" destId="{E76A6CA1-161C-4FFC-84CF-C9D13852B136}" srcOrd="4" destOrd="0" parTransId="{D3064CA1-F734-486E-BD82-DF7D6A187212}" sibTransId="{FE6FD3EE-C04C-4938-9675-DDB765AD2295}"/>
    <dgm:cxn modelId="{44F984AF-927B-49A5-B3C2-1BB111A3B675}" srcId="{6ADB5029-84A5-4FDF-AF14-5FCFD672B4D3}" destId="{3FAD2C34-4EE5-4311-8F08-AE12D20A18B9}" srcOrd="0" destOrd="0" parTransId="{67F20823-CDB3-45D6-9707-DDD1C587FD27}" sibTransId="{6C298CC7-CDF6-4626-835C-D62B6F5460C1}"/>
    <dgm:cxn modelId="{CFD781B1-E62D-4779-AA32-B382873816ED}" type="presOf" srcId="{6ADB5029-84A5-4FDF-AF14-5FCFD672B4D3}" destId="{D6F80197-96BE-4BBD-B107-41505A72CFC7}" srcOrd="0" destOrd="0" presId="urn:microsoft.com/office/officeart/2005/8/layout/vList2"/>
    <dgm:cxn modelId="{544A9DC6-0FE2-4A93-A469-D4A6BA33B264}" srcId="{6ADB5029-84A5-4FDF-AF14-5FCFD672B4D3}" destId="{8F99319F-D289-451D-A8CF-838C7BAA2297}" srcOrd="1" destOrd="0" parTransId="{D8D6ED45-EF16-4167-8361-D252CD25F06C}" sibTransId="{1280C644-5E25-402F-A789-B050D0B5744A}"/>
    <dgm:cxn modelId="{19A5EEDA-9AF0-4AE8-93A6-C24238AC9056}" type="presOf" srcId="{E76A6CA1-161C-4FFC-84CF-C9D13852B136}" destId="{7D9B66EE-06C3-40A6-B95E-62B43497905A}" srcOrd="0" destOrd="0" presId="urn:microsoft.com/office/officeart/2005/8/layout/vList2"/>
    <dgm:cxn modelId="{BF2445DB-80A1-49DA-B021-2DA86B0128A5}" type="presParOf" srcId="{D6F80197-96BE-4BBD-B107-41505A72CFC7}" destId="{E1469463-B427-4F37-8121-A853827B39EA}" srcOrd="0" destOrd="0" presId="urn:microsoft.com/office/officeart/2005/8/layout/vList2"/>
    <dgm:cxn modelId="{E9F89496-FAEC-43CA-8691-EA3157FE3CAE}" type="presParOf" srcId="{D6F80197-96BE-4BBD-B107-41505A72CFC7}" destId="{4AF637C0-BE1D-4D35-8689-5A7A1F8FEC3E}" srcOrd="1" destOrd="0" presId="urn:microsoft.com/office/officeart/2005/8/layout/vList2"/>
    <dgm:cxn modelId="{21B76244-6DC8-4AF6-9806-67A61A7514C6}" type="presParOf" srcId="{D6F80197-96BE-4BBD-B107-41505A72CFC7}" destId="{353295A5-9CFA-41F8-A289-8AF7C6216BD1}" srcOrd="2" destOrd="0" presId="urn:microsoft.com/office/officeart/2005/8/layout/vList2"/>
    <dgm:cxn modelId="{66C3C806-E582-49DE-8F82-209BF21BEB43}" type="presParOf" srcId="{D6F80197-96BE-4BBD-B107-41505A72CFC7}" destId="{6A4BD0E8-6A96-4C3D-8A88-3CD499E216A1}" srcOrd="3" destOrd="0" presId="urn:microsoft.com/office/officeart/2005/8/layout/vList2"/>
    <dgm:cxn modelId="{020D8E5B-87B0-4B39-9018-E3A9023FA6EA}" type="presParOf" srcId="{D6F80197-96BE-4BBD-B107-41505A72CFC7}" destId="{1436A143-FED7-4990-AB61-D2A8943B2970}" srcOrd="4" destOrd="0" presId="urn:microsoft.com/office/officeart/2005/8/layout/vList2"/>
    <dgm:cxn modelId="{051C75B6-ABD9-4C56-BFB4-1340ABFB44B9}" type="presParOf" srcId="{D6F80197-96BE-4BBD-B107-41505A72CFC7}" destId="{7C165E24-3FD1-452C-8D1E-522E635BD5CC}" srcOrd="5" destOrd="0" presId="urn:microsoft.com/office/officeart/2005/8/layout/vList2"/>
    <dgm:cxn modelId="{A5BB6151-88A0-44B9-AAC6-79D892A408FA}" type="presParOf" srcId="{D6F80197-96BE-4BBD-B107-41505A72CFC7}" destId="{B1745397-17F0-4357-B95D-65C3E8021745}" srcOrd="6" destOrd="0" presId="urn:microsoft.com/office/officeart/2005/8/layout/vList2"/>
    <dgm:cxn modelId="{8F89B952-DB4D-4C53-A654-95BE0C6A667E}" type="presParOf" srcId="{D6F80197-96BE-4BBD-B107-41505A72CFC7}" destId="{4D6C4A13-4F5C-455B-9878-3940C9E0CB84}" srcOrd="7" destOrd="0" presId="urn:microsoft.com/office/officeart/2005/8/layout/vList2"/>
    <dgm:cxn modelId="{72250C25-6DB0-4CD7-A154-5AE1843783BD}" type="presParOf" srcId="{D6F80197-96BE-4BBD-B107-41505A72CFC7}" destId="{7D9B66EE-06C3-40A6-B95E-62B43497905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69463-B427-4F37-8121-A853827B39EA}">
      <dsp:nvSpPr>
        <dsp:cNvPr id="0" name=""/>
        <dsp:cNvSpPr/>
      </dsp:nvSpPr>
      <dsp:spPr>
        <a:xfrm>
          <a:off x="0" y="103393"/>
          <a:ext cx="3968747" cy="67004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🎓 Formazione ed empowerment</a:t>
          </a:r>
        </a:p>
      </dsp:txBody>
      <dsp:txXfrm>
        <a:off x="32709" y="136102"/>
        <a:ext cx="3903329" cy="604626"/>
      </dsp:txXfrm>
    </dsp:sp>
    <dsp:sp modelId="{353295A5-9CFA-41F8-A289-8AF7C6216BD1}">
      <dsp:nvSpPr>
        <dsp:cNvPr id="0" name=""/>
        <dsp:cNvSpPr/>
      </dsp:nvSpPr>
      <dsp:spPr>
        <a:xfrm>
          <a:off x="0" y="822397"/>
          <a:ext cx="3968747" cy="670044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Inserire l’educazione alla parità e al rispetto nei curricula scolastici.</a:t>
          </a:r>
        </a:p>
      </dsp:txBody>
      <dsp:txXfrm>
        <a:off x="32709" y="855106"/>
        <a:ext cx="3903329" cy="604626"/>
      </dsp:txXfrm>
    </dsp:sp>
    <dsp:sp modelId="{1436A143-FED7-4990-AB61-D2A8943B2970}">
      <dsp:nvSpPr>
        <dsp:cNvPr id="0" name=""/>
        <dsp:cNvSpPr/>
      </dsp:nvSpPr>
      <dsp:spPr>
        <a:xfrm>
          <a:off x="0" y="1541402"/>
          <a:ext cx="3968747" cy="670044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Contrastare gli stereotipi di genere fin dall’infanzia.</a:t>
          </a:r>
        </a:p>
      </dsp:txBody>
      <dsp:txXfrm>
        <a:off x="32709" y="1574111"/>
        <a:ext cx="3903329" cy="604626"/>
      </dsp:txXfrm>
    </dsp:sp>
    <dsp:sp modelId="{B1745397-17F0-4357-B95D-65C3E8021745}">
      <dsp:nvSpPr>
        <dsp:cNvPr id="0" name=""/>
        <dsp:cNvSpPr/>
      </dsp:nvSpPr>
      <dsp:spPr>
        <a:xfrm>
          <a:off x="0" y="2260406"/>
          <a:ext cx="3968747" cy="670044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Promuovere modelli femminili positivi nei media, nella scuola, nella cultura.</a:t>
          </a:r>
        </a:p>
      </dsp:txBody>
      <dsp:txXfrm>
        <a:off x="32709" y="2293115"/>
        <a:ext cx="3903329" cy="604626"/>
      </dsp:txXfrm>
    </dsp:sp>
    <dsp:sp modelId="{7D9B66EE-06C3-40A6-B95E-62B43497905A}">
      <dsp:nvSpPr>
        <dsp:cNvPr id="0" name=""/>
        <dsp:cNvSpPr/>
      </dsp:nvSpPr>
      <dsp:spPr>
        <a:xfrm>
          <a:off x="0" y="2979411"/>
          <a:ext cx="3968747" cy="67004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L’educazione è la base per il cambiamento culturale.</a:t>
          </a:r>
        </a:p>
      </dsp:txBody>
      <dsp:txXfrm>
        <a:off x="32709" y="3012120"/>
        <a:ext cx="3903329" cy="6046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154F8-14BA-4D65-BE8D-77550F3602E3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ED829-F324-42A0-BEDD-489B96289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16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ED829-F324-42A0-BEDD-489B962891E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75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0000"/>
              <a:t>Il Gender Pay Gap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C69F5C-4690-5467-21E0-6E5E2969A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4582814"/>
            <a:ext cx="5349252" cy="1312657"/>
          </a:xfrm>
        </p:spPr>
        <p:txBody>
          <a:bodyPr anchor="t">
            <a:normAutofit/>
          </a:bodyPr>
          <a:lstStyle/>
          <a:p>
            <a:pPr algn="l"/>
            <a:r>
              <a:rPr lang="it-IT" dirty="0"/>
              <a:t>Gender &amp; Inclusion</a:t>
            </a:r>
            <a:endParaRPr lang="it-IT"/>
          </a:p>
          <a:p>
            <a:pPr algn="l"/>
            <a:r>
              <a:rPr lang="it-IT" dirty="0"/>
              <a:t>Barbara Martini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ADA27-E2FD-2FAC-4E82-83CBF74B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4D3E9-FD2B-0265-21BF-C5372AB4F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it-IT" sz="7000">
                <a:solidFill>
                  <a:srgbClr val="FFFFFF"/>
                </a:solidFill>
              </a:rPr>
              <a:t>Cos’è il Gender Pay Gap?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3705A-2C44-F1FF-7BEF-A2C8A9520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📌 Definizione: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Il gender pay gap è la differenza tra la retribuzione media oraria lorda percepita da donne e uomini nel mercato del lavoro.</a:t>
            </a:r>
          </a:p>
          <a:p>
            <a:pPr marL="0" indent="0">
              <a:buNone/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📊 Come si misura?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% = (salario medio uomini – salario medio donne) / salario medio uomini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Indicatori: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  • Non aggiustato (differenza generale)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  • Aggiustato (tiene conto di variabili come contratto, istruzione, settore)</a:t>
            </a:r>
          </a:p>
          <a:p>
            <a:pPr marL="0" indent="0">
              <a:buNone/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❗ Un divario reale: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UE: circa 13% (Eurostat 2023)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Italia: circa 5%, ma con alta inattività femminile</a:t>
            </a:r>
          </a:p>
          <a:p>
            <a:endParaRPr lang="it-IT" sz="17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748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19AD7-CA42-7343-8EF4-7C857D311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3E013-4C2C-4E15-4C0B-3203897B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Cos’è il Gender Pay Gap?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122F-AF1D-5D0E-FAAD-2F3FAA3DA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🔍 Non è solo “</a:t>
            </a:r>
            <a:r>
              <a:rPr dirty="0" err="1"/>
              <a:t>uguale</a:t>
            </a:r>
            <a:r>
              <a:rPr dirty="0"/>
              <a:t> lavoro = </a:t>
            </a:r>
            <a:r>
              <a:rPr dirty="0" err="1"/>
              <a:t>uguale</a:t>
            </a:r>
            <a:r>
              <a:rPr dirty="0"/>
              <a:t> </a:t>
            </a:r>
            <a:r>
              <a:rPr dirty="0" err="1"/>
              <a:t>salario</a:t>
            </a:r>
            <a:r>
              <a:rPr dirty="0"/>
              <a:t>”: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Segregazione</a:t>
            </a:r>
            <a:r>
              <a:rPr dirty="0"/>
              <a:t> </a:t>
            </a:r>
            <a:r>
              <a:rPr dirty="0" err="1"/>
              <a:t>settoriale</a:t>
            </a:r>
            <a:endParaRPr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Penalizzazione</a:t>
            </a:r>
            <a:r>
              <a:rPr dirty="0"/>
              <a:t> della </a:t>
            </a:r>
            <a:r>
              <a:rPr dirty="0" err="1"/>
              <a:t>maternità</a:t>
            </a:r>
            <a:endParaRPr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Opportunità</a:t>
            </a:r>
            <a:r>
              <a:rPr dirty="0"/>
              <a:t> di </a:t>
            </a:r>
            <a:r>
              <a:rPr dirty="0" err="1"/>
              <a:t>carriera</a:t>
            </a:r>
            <a:r>
              <a:rPr dirty="0"/>
              <a:t> </a:t>
            </a:r>
            <a:r>
              <a:rPr dirty="0" err="1"/>
              <a:t>diseguali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🎯 </a:t>
            </a:r>
            <a:r>
              <a:rPr dirty="0" err="1"/>
              <a:t>Perché</a:t>
            </a:r>
            <a:r>
              <a:rPr dirty="0"/>
              <a:t> </a:t>
            </a:r>
            <a:r>
              <a:rPr dirty="0" err="1"/>
              <a:t>studiarlo</a:t>
            </a:r>
            <a:r>
              <a:rPr dirty="0"/>
              <a:t>?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Indicatore</a:t>
            </a:r>
            <a:r>
              <a:rPr dirty="0"/>
              <a:t> di </a:t>
            </a:r>
            <a:r>
              <a:rPr dirty="0" err="1"/>
              <a:t>disuguaglianza</a:t>
            </a:r>
            <a:endParaRPr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Strumento</a:t>
            </a:r>
            <a:r>
              <a:rPr dirty="0"/>
              <a:t> per </a:t>
            </a:r>
            <a:r>
              <a:rPr dirty="0" err="1"/>
              <a:t>analizzare</a:t>
            </a:r>
            <a:r>
              <a:rPr dirty="0"/>
              <a:t> il </a:t>
            </a:r>
            <a:r>
              <a:rPr dirty="0" err="1"/>
              <a:t>mercato</a:t>
            </a:r>
            <a:r>
              <a:rPr dirty="0"/>
              <a:t> del lavoro e </a:t>
            </a:r>
            <a:r>
              <a:rPr dirty="0" err="1"/>
              <a:t>l’influenza</a:t>
            </a:r>
            <a:r>
              <a:rPr dirty="0"/>
              <a:t> del </a:t>
            </a:r>
            <a:r>
              <a:rPr dirty="0" err="1"/>
              <a:t>genere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844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Un </a:t>
            </a:r>
            <a:r>
              <a:rPr lang="en-US" sz="5400" dirty="0" err="1">
                <a:solidFill>
                  <a:srgbClr val="FFFFFF"/>
                </a:solidFill>
              </a:rPr>
              <a:t>problema</a:t>
            </a:r>
            <a:r>
              <a:rPr lang="en-US" sz="5400" dirty="0">
                <a:solidFill>
                  <a:srgbClr val="FFFFFF"/>
                </a:solidFill>
              </a:rPr>
              <a:t> </a:t>
            </a:r>
            <a:r>
              <a:rPr lang="en-US" sz="5400" dirty="0" err="1">
                <a:solidFill>
                  <a:srgbClr val="FFFFFF"/>
                </a:solidFill>
              </a:rPr>
              <a:t>globale</a:t>
            </a:r>
            <a:endParaRPr lang="en-US" sz="5400" dirty="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🌍 Un fenomeno diffuso: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Gender pay gap presente in quasi tutti i paesi del mondo.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Dati Eurostat (2023):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• UE (media): 12,7%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• Germania: 17,7%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• Francia: 15,4%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• Italia: 5,0% (non aggiustato)*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*In Italia il divario appare basso per via dell’alta inattività femminile.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🏢 Gender pay gap 'aggiustato':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Tiene conto di età, istruzione, contratto, settore ecc.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Anche a parità di condizioni, le donne guadagnano meno.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Esempio (INPS 2022):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• Donne: 26.227 €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• Uomini: 32.405 €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7C9C7-D68E-1EA5-464D-920D7AFA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ECAC46-3506-550F-1B75-5F60756C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Un problema globale (1)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90351-5F16-5D28-DD04-B48CA04AD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🔄 Cause strutturali: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Segregazione settoriale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Minore accesso ai ruoli apicali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Part-time involontario (32% donne vs 9% uomini)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</a:t>
            </a:r>
            <a:r>
              <a:rPr lang="it-IT" sz="1700" dirty="0" err="1">
                <a:solidFill>
                  <a:schemeClr val="tx1">
                    <a:alpha val="80000"/>
                  </a:schemeClr>
                </a:solidFill>
              </a:rPr>
              <a:t>Motherhood</a:t>
            </a: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penalty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📌 Esempio visivo: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Uomo e donna con stesse qualifiche: l’uomo guadagna &gt;10% in più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❓ Domanda per riflettere: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Come mai, anche a parità di ruolo, le donne continuano a guadagnare meno?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66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7000" dirty="0">
                <a:solidFill>
                  <a:srgbClr val="FFFFFF"/>
                </a:solidFill>
              </a:rPr>
              <a:t>Gender Pay Gap negli Stati Uniti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📊 Dati generali (U.S. Census Bureau):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Le donne guadagnano in media l'82% del salario degli uomini.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Per ogni 1$ guadagnato da un uomo, una donna guadagna 0,82$.</a:t>
            </a:r>
          </a:p>
          <a:p>
            <a:pPr marL="0" indent="0">
              <a:buNone/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📉 Reddito medio annuale (tempo pieno):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Uomini: 61.180 $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Donne: 50.690 $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Differenza: circa 10.500 $/anno</a:t>
            </a:r>
          </a:p>
          <a:p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24196-3E48-7A35-D850-C5C9A839C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E2C8F-C021-8224-62AB-01D7CECC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it-IT" sz="6500" dirty="0">
                <a:solidFill>
                  <a:srgbClr val="FFFFFF"/>
                </a:solidFill>
              </a:rPr>
              <a:t>Gender Pay Gap negli Stati Uniti (1)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63777-251B-0491-4BE6-725744462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📌 Gap per etnia (AAUW 2023):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Donne bianche: ~83 cent/$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Donne afroamericane: ~64 cent/$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Donne latine: ~57 cent/$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Donne native americane: ~55 cent/$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- Donne asiatiche: ~89 cent/$ (con variazioni interne)</a:t>
            </a:r>
          </a:p>
          <a:p>
            <a:pPr marL="0" indent="0">
              <a:buNone/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💬 Esempio: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Una donna latina nel marketing guadagna migliaia di dollari in meno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rispetto a un collega uomo bianco con pari esperienza e istruzione.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Il divario si amplifica nel tempo, influenzando pensioni, investimenti e accesso al credito.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240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7000">
                <a:solidFill>
                  <a:srgbClr val="FFFFFF"/>
                </a:solidFill>
              </a:rPr>
              <a:t>Gender Pay Gap in Asia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it-IT" sz="1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📊 Dati comparativi (fonte: ILO, OCSE, 2023):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Corea del Sud: ~31%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Giappone: ~22%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Cina: ~18%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India: ~19% (ma con ampio lavoro informale non registrato)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Indonesia: ~23%</a:t>
            </a:r>
          </a:p>
          <a:p>
            <a:pPr marL="0" indent="0">
              <a:lnSpc>
                <a:spcPct val="90000"/>
              </a:lnSpc>
              <a:buNone/>
            </a:pPr>
            <a:endParaRPr lang="it-IT" sz="1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📌 Caratteristiche comuni: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Alta segregazione di genere nei settori produttivi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Scarsa rappresentanza femminile in ruoli decisionali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Norme culturali che scoraggiano la partecipazione femminile</a:t>
            </a:r>
          </a:p>
          <a:p>
            <a:pPr marL="0" indent="0">
              <a:lnSpc>
                <a:spcPct val="90000"/>
              </a:lnSpc>
              <a:buNone/>
            </a:pPr>
            <a:endParaRPr lang="it-IT" sz="1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💬 Nota: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In Corea del Sud, il gap è il più alto tra i paesi OCSE.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Molte donne abbandonano il lavoro dopo la maternità.</a:t>
            </a:r>
          </a:p>
          <a:p>
            <a:pPr>
              <a:lnSpc>
                <a:spcPct val="90000"/>
              </a:lnSpc>
            </a:pPr>
            <a:endParaRPr lang="it-IT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6500">
                <a:solidFill>
                  <a:srgbClr val="FFFFFF"/>
                </a:solidFill>
              </a:rPr>
              <a:t>Gender Pay Gap in America Latina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it-IT" sz="1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📊 Dati medi regionali (fonte: CEPAL, ILO, 2023):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Media regionale: ~17%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Brasile: ~20%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Argentina: ~23%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Messico: ~18%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Colombia: ~14%</a:t>
            </a:r>
          </a:p>
          <a:p>
            <a:pPr marL="0" indent="0">
              <a:lnSpc>
                <a:spcPct val="90000"/>
              </a:lnSpc>
              <a:buNone/>
            </a:pPr>
            <a:endParaRPr lang="it-IT" sz="1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📌 Fattori strutturali: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Elevata informalità del lavoro femminile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Discriminazione etnico-razziale + di genere (soprattutto donne indigene e afrodiscendenti)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- Scarsa protezione per maternità e assistenza</a:t>
            </a:r>
          </a:p>
          <a:p>
            <a:pPr marL="0" indent="0">
              <a:lnSpc>
                <a:spcPct val="90000"/>
              </a:lnSpc>
              <a:buNone/>
            </a:pPr>
            <a:endParaRPr lang="it-IT" sz="1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💬 Esempio: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In Argentina, le donne lavorano in media 6 ore in più alla settimana (tra lavoro e cura),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400" dirty="0">
                <a:solidFill>
                  <a:schemeClr val="tx1">
                    <a:alpha val="80000"/>
                  </a:schemeClr>
                </a:solidFill>
              </a:rPr>
              <a:t>ma guadagnano meno rispetto agli uomini con stessi ruoli formali.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3900" dirty="0">
                <a:solidFill>
                  <a:srgbClr val="FFFFFF"/>
                </a:solidFill>
              </a:rPr>
              <a:t>La Motherhood Penalty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33" y="518400"/>
            <a:ext cx="4478327" cy="583794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it-IT" sz="18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🔍 Cos'è la '</a:t>
            </a:r>
            <a:r>
              <a:rPr lang="it-IT" sz="1800" dirty="0" err="1">
                <a:solidFill>
                  <a:schemeClr val="tx1">
                    <a:alpha val="80000"/>
                  </a:schemeClr>
                </a:solidFill>
              </a:rPr>
              <a:t>Motherhood</a:t>
            </a: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 Penalty'?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- Penalizzazione economica e professionale legata alla maternità.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- Riduzione del salario, minori opportunità di carriera, aumento del part-time.</a:t>
            </a:r>
          </a:p>
          <a:p>
            <a:pPr marL="0" indent="0">
              <a:lnSpc>
                <a:spcPct val="90000"/>
              </a:lnSpc>
              <a:buNone/>
            </a:pPr>
            <a:endParaRPr lang="it-IT" sz="18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📊 Dati principali (OECD, INPS, </a:t>
            </a:r>
            <a:r>
              <a:rPr lang="it-IT" sz="1800" dirty="0" err="1">
                <a:solidFill>
                  <a:schemeClr val="tx1">
                    <a:alpha val="80000"/>
                  </a:schemeClr>
                </a:solidFill>
              </a:rPr>
              <a:t>Eurofound</a:t>
            </a: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 2023):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- UE: le madri guadagnano ~13% in meno delle donne senza figli.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- Italia: 22% delle madri lascia il lavoro dopo il primo figlio (ISTAT 2022).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- Dopo 10 anni: madri italiane guadagnano il 53% in meno rispetto ai padri (INPS).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- USA: -4% di salario per ogni figlio per le donne, nessuna penalizzazione per gli uomini (AAUW).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EA23B-211A-D4A6-6032-ADFA0314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885DF65-ADC0-280F-B272-4E47D46BF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A0D8FB-20E7-9DC4-C11F-BD0287337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F3D1BE-815D-E06F-EE97-F8E81D2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3900" dirty="0">
                <a:solidFill>
                  <a:srgbClr val="FFFFFF"/>
                </a:solidFill>
              </a:rPr>
              <a:t>La Motherhood Penalty (1)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8DE325-0282-6A1B-044B-C1C47B921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8C5CCD7D-1496-1776-4375-0105DADC0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492B86B-017A-F51C-5FFC-8A5415899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2C24905E-6B94-EC63-7EA3-DBED63176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5426A-CC8E-490E-0C8E-3562E4208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415" y="518400"/>
            <a:ext cx="4334932" cy="583794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it-IT" sz="12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2000" dirty="0">
                <a:solidFill>
                  <a:schemeClr val="tx1">
                    <a:alpha val="80000"/>
                  </a:schemeClr>
                </a:solidFill>
              </a:rPr>
              <a:t>📌 Perché accade?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000" dirty="0">
                <a:solidFill>
                  <a:schemeClr val="tx1">
                    <a:alpha val="80000"/>
                  </a:schemeClr>
                </a:solidFill>
              </a:rPr>
              <a:t>- Stereotipi di genere sulla cura.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000" dirty="0">
                <a:solidFill>
                  <a:schemeClr val="tx1">
                    <a:alpha val="80000"/>
                  </a:schemeClr>
                </a:solidFill>
              </a:rPr>
              <a:t>- Più part-time e carichi familiari per le donne.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000" dirty="0">
                <a:solidFill>
                  <a:schemeClr val="tx1">
                    <a:alpha val="80000"/>
                  </a:schemeClr>
                </a:solidFill>
              </a:rPr>
              <a:t>- Discriminazione nei processi di selezione/promozione.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000" dirty="0">
                <a:solidFill>
                  <a:schemeClr val="tx1">
                    <a:alpha val="80000"/>
                  </a:schemeClr>
                </a:solidFill>
              </a:rPr>
              <a:t>- Scarse politiche di conciliazione.</a:t>
            </a:r>
          </a:p>
          <a:p>
            <a:pPr marL="0" indent="0">
              <a:lnSpc>
                <a:spcPct val="90000"/>
              </a:lnSpc>
              <a:buNone/>
            </a:pPr>
            <a:endParaRPr lang="it-IT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2000" dirty="0">
                <a:solidFill>
                  <a:schemeClr val="tx1">
                    <a:alpha val="80000"/>
                  </a:schemeClr>
                </a:solidFill>
              </a:rPr>
              <a:t>💬 Esempio: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000" dirty="0">
                <a:solidFill>
                  <a:schemeClr val="tx1">
                    <a:alpha val="80000"/>
                  </a:schemeClr>
                </a:solidFill>
              </a:rPr>
              <a:t>Una madre con la stessa carriera di un collega uomo spesso guadagna meno,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000" dirty="0">
                <a:solidFill>
                  <a:schemeClr val="tx1">
                    <a:alpha val="80000"/>
                  </a:schemeClr>
                </a:solidFill>
              </a:rPr>
              <a:t>viene promossa più tardi, o abbandona il lavoro a causa della cura familiare.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8FAC42-3D2B-DBA6-1233-8602AD2B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465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3900">
                <a:solidFill>
                  <a:srgbClr val="FFFFFF"/>
                </a:solidFill>
              </a:rPr>
              <a:t>Segregazione verticale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6357" y="518400"/>
            <a:ext cx="4435813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📊 Poche donne nei ruoli apicali</a:t>
            </a:r>
          </a:p>
          <a:p>
            <a:pPr marL="0" indent="0">
              <a:buNone/>
            </a:pPr>
            <a:endParaRPr lang="it-IT" sz="18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- Le donne sono sottorappresentate nei ruoli di leadership (dirigenti, manager, CDA).</a:t>
            </a:r>
          </a:p>
          <a:p>
            <a:pPr marL="0" indent="0"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- Barriere invisibili ('soffitto di </a:t>
            </a:r>
            <a:r>
              <a:rPr lang="it-IT" sz="1800" dirty="0" err="1">
                <a:solidFill>
                  <a:schemeClr val="tx1">
                    <a:alpha val="80000"/>
                  </a:schemeClr>
                </a:solidFill>
              </a:rPr>
              <a:t>cristallo'</a:t>
            </a: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) limitano la loro carriera.</a:t>
            </a:r>
          </a:p>
          <a:p>
            <a:pPr marL="0" indent="0"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- In Italia solo il 28% dei dirigenti è donna (ISTAT 2023).</a:t>
            </a:r>
          </a:p>
          <a:p>
            <a:pPr marL="0" indent="0">
              <a:buNone/>
            </a:pPr>
            <a:r>
              <a:rPr lang="it-IT" sz="1800" dirty="0">
                <a:solidFill>
                  <a:schemeClr val="tx1">
                    <a:alpha val="80000"/>
                  </a:schemeClr>
                </a:solidFill>
              </a:rPr>
              <a:t>- La presenza femminile cala con l’aumentare del livello gerarchico.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3900">
                <a:solidFill>
                  <a:srgbClr val="FFFFFF"/>
                </a:solidFill>
              </a:rPr>
              <a:t>Segregazione orizzontale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📌 Concentrazione di genere nei settori lavorativi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Le donne lavorano prevalentemente in settori meno remunerativi: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• Istruzione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• Sanità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• Servizi alla persona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Gli uomini dominano settori più pagati (es. tecnologia, ingegneria, finanza).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Il valore economico del lavoro 'femminile' è spesso sottovalutato.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Stereotipi di genere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🧠 Stereotipi e aspettative sociali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Le ragazze sono spesso incoraggiate verso studi e carriere </a:t>
            </a:r>
            <a:r>
              <a:rPr lang="it-IT" sz="1700" dirty="0" err="1">
                <a:solidFill>
                  <a:schemeClr val="tx1">
                    <a:alpha val="80000"/>
                  </a:schemeClr>
                </a:solidFill>
              </a:rPr>
              <a:t>'di</a:t>
            </a: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cura'.</a:t>
            </a:r>
          </a:p>
          <a:p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Gli uomini sono associati a leadership, competizione e logica.</a:t>
            </a:r>
          </a:p>
          <a:p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Gli stereotipi influenzano le scelte educative e limitano le opportunità.</a:t>
            </a:r>
          </a:p>
          <a:p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Anche le aziende spesso agiscono su pregiudizi inconsci nei colloqui.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it-IT" sz="5400">
                <a:solidFill>
                  <a:srgbClr val="FFFFFF"/>
                </a:solidFill>
              </a:rPr>
              <a:t>Carico di cura non retribuito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🏠 Il lavoro domestico e familiare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Le donne dedicano più ore settimanali al lavoro di cura (figli, anziani, casa).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Spesso questo lavoro è invisibile e non retribuito.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Riduce il tempo disponibile per formazione, carriera e tempo libero.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In Italia, le donne svolgono circa il 74% del lavoro familiare (ISTAT, 2023).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>
                <a:solidFill>
                  <a:srgbClr val="FFFFFF"/>
                </a:solidFill>
              </a:rPr>
              <a:t>Donne e vulnerabilità economica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💰 Conseguenze individuali del gender pay gap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Le donne guadagnano meno nel corso della vita lavorativa.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Hanno meno risparmi, meno accesso al credito e alla proprietà.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Sono più esposte al rischio di povertà, soprattutto in caso di separazione o vedovanza.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Le madri single sono tra i gruppi più vulnerabili economicamente.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4900">
                <a:solidFill>
                  <a:srgbClr val="FFFFFF"/>
                </a:solidFill>
              </a:rPr>
              <a:t>Un freno alla crescita economica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📉 Impatto sistemico sulla società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Il gender pay gap riduce il contributo femminile all’economia.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Spreca talento e capitale umano qualificato.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Secondo il McKinsey Global Institute, colmare il gap potrebbe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 aggiungere fino a 12 trilioni di dollari al PIL globale entro il 2025.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La parità migliora anche la produttività e l’innovazione.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it-IT" sz="7000">
                <a:solidFill>
                  <a:srgbClr val="FFFFFF"/>
                </a:solidFill>
              </a:rPr>
              <a:t>Meno donne dove si decide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🏛️ Scarsa rappresentanza e impatto politico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Il divario retributivo riflette un divario di potere.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Poche donne ai vertici = meno voci femminili nelle decisioni economiche e politiche.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La diversità nei board aziendali migliora le performance e la trasparenza.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L’equità salariale è legata a una democrazia più inclusiva.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>
                <a:solidFill>
                  <a:srgbClr val="FFFFFF"/>
                </a:solidFill>
              </a:rPr>
              <a:t>Conseguenze nel lungo periodo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⏳ Un impatto che dura tutta la vita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Le donne versano meno contributi → pensioni più basse.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Maggiore rischio di povertà in età avanzata.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Il divario salariale si accumula nel tempo: meno investimenti, meno carriera.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La disuguaglianza economica si trasmette anche alle generazioni successive.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it-IT" sz="7000">
                <a:solidFill>
                  <a:srgbClr val="FFFFFF"/>
                </a:solidFill>
              </a:rPr>
              <a:t>Il gender pay gap è potere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⚖️ Non solo soldi: una questione di potere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Il gender pay gap è il sintomo di una struttura sociale diseguale.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Chi ha più risorse ha più possibilità di decidere, influenzare, negoziare.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La disuguaglianza salariale rafforza la subordinazione femminile nei contesti familiari, lavorativi e politici.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Colmare il gap significa riequilibrare i rapporti di forza.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>
                <a:solidFill>
                  <a:srgbClr val="FFFFFF"/>
                </a:solidFill>
              </a:rPr>
              <a:t>Trasparenza salariale e audit di genere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📊 Rendere visibili le disuguaglianze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Obbligo per le aziende di pubblicare dati sui salari disaggregati per genere.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Audit di genere: strumenti per analizzare le politiche interne.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Aiuta a identificare le disparità e a promuovere correttivi strutturali.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Migliora la fiducia interna e la reputazione aziendale.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it-IT" sz="3900">
                <a:solidFill>
                  <a:srgbClr val="FFFFFF"/>
                </a:solidFill>
              </a:rPr>
              <a:t>Condivisione del lavoro di cura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🏠 Incentivi e cultura della parità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Congedi parentali equi e obbligatori anche per i padri.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Servizi per l’infanzia accessibili e flessibili.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Cultura della corresponsabilità nelle famiglie e nei luoghi di lavoro.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Ridurre il peso della cura significa liberare tempo e opportunità per le donne.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299" y="490537"/>
            <a:ext cx="3968748" cy="162877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500"/>
              <a:t>Educazione e contrasto agli stereotipi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2876B8-40A9-1B4C-02AC-4179E8752B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65" r="14053"/>
          <a:stretch/>
        </p:blipFill>
        <p:spPr>
          <a:xfrm>
            <a:off x="1" y="1587"/>
            <a:ext cx="4571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FAE292-3666-73BC-86E4-1EC890020F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177432"/>
              </p:ext>
            </p:extLst>
          </p:nvPr>
        </p:nvGraphicFramePr>
        <p:xfrm>
          <a:off x="4813300" y="2614612"/>
          <a:ext cx="3968747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it-IT" sz="7000">
                <a:solidFill>
                  <a:srgbClr val="FFFFFF"/>
                </a:solidFill>
              </a:rPr>
              <a:t>Più donne dove si decide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🏛️ Rappresentanza e leadership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Introdurre quote di genere nei board aziendali e istituzioni.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Formazione alla leadership per giovani donne.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</a:t>
            </a:r>
            <a:r>
              <a:rPr lang="it-IT" sz="1700" dirty="0" err="1">
                <a:solidFill>
                  <a:schemeClr val="tx1">
                    <a:alpha val="80000"/>
                  </a:schemeClr>
                </a:solidFill>
              </a:rPr>
              <a:t>Mentorship</a:t>
            </a: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 e reti di supporto professionale.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La presenza femminile nei vertici migliora le decisioni e riduce il gap.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6000">
                <a:solidFill>
                  <a:srgbClr val="FFFFFF"/>
                </a:solidFill>
              </a:rPr>
              <a:t>Politiche di parità sin dalla scuola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🏫 Educare alla parità fin da piccoli</a:t>
            </a:r>
          </a:p>
          <a:p>
            <a:pPr marL="0" indent="0">
              <a:buNone/>
            </a:pPr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Politiche educative che promuovano l’equità di genere.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Accesso paritario a tutte le discipline e percorsi STEM.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Sensibilizzazione di docenti e famiglie.</a:t>
            </a:r>
          </a:p>
          <a:p>
            <a:pPr marL="0" indent="0">
              <a:buNone/>
            </a:pPr>
            <a:r>
              <a:rPr lang="it-IT" sz="1700" dirty="0">
                <a:solidFill>
                  <a:schemeClr val="tx1">
                    <a:alpha val="80000"/>
                  </a:schemeClr>
                </a:solidFill>
              </a:rPr>
              <a:t>- Le disuguaglianze si prevengono, non solo si correggono.</a:t>
            </a:r>
          </a:p>
          <a:p>
            <a:endParaRPr lang="it-IT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C69F3F7625CF74085CAA0E2A49F4C2D" ma:contentTypeVersion="10" ma:contentTypeDescription="Creare un nuovo documento." ma:contentTypeScope="" ma:versionID="f970594720fb6abcd21fd0ece3721bb8">
  <xsd:schema xmlns:xsd="http://www.w3.org/2001/XMLSchema" xmlns:xs="http://www.w3.org/2001/XMLSchema" xmlns:p="http://schemas.microsoft.com/office/2006/metadata/properties" xmlns:ns2="48a61d46-4d30-4b24-ac0a-556bb3cc81e4" xmlns:ns3="a89520b4-453f-4caf-a364-bd14af9a57b3" targetNamespace="http://schemas.microsoft.com/office/2006/metadata/properties" ma:root="true" ma:fieldsID="e495a74569071716296f8154eb9fe63a" ns2:_="" ns3:_="">
    <xsd:import namespace="48a61d46-4d30-4b24-ac0a-556bb3cc81e4"/>
    <xsd:import namespace="a89520b4-453f-4caf-a364-bd14af9a57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a61d46-4d30-4b24-ac0a-556bb3cc81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1013fbc9-b00e-4d37-9f0b-4b76e146b3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9520b4-453f-4caf-a364-bd14af9a57b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af5e59d-d4ac-435c-9382-48b95eae239d}" ma:internalName="TaxCatchAll" ma:showField="CatchAllData" ma:web="a89520b4-453f-4caf-a364-bd14af9a57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9520b4-453f-4caf-a364-bd14af9a57b3" xsi:nil="true"/>
    <lcf76f155ced4ddcb4097134ff3c332f xmlns="48a61d46-4d30-4b24-ac0a-556bb3cc81e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BB3AB6D-3353-4A09-9CF0-2EA0D1FFA154}"/>
</file>

<file path=customXml/itemProps2.xml><?xml version="1.0" encoding="utf-8"?>
<ds:datastoreItem xmlns:ds="http://schemas.openxmlformats.org/officeDocument/2006/customXml" ds:itemID="{1A59EED0-D02D-4C51-B360-EAA7A26CF65D}"/>
</file>

<file path=customXml/itemProps3.xml><?xml version="1.0" encoding="utf-8"?>
<ds:datastoreItem xmlns:ds="http://schemas.openxmlformats.org/officeDocument/2006/customXml" ds:itemID="{63249025-72EA-4AE9-A5C3-54B4324FFF89}"/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1791</Words>
  <Application>Microsoft Office PowerPoint</Application>
  <PresentationFormat>On-screen Show (4:3)</PresentationFormat>
  <Paragraphs>234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Il Gender Pay Gap</vt:lpstr>
      <vt:lpstr>Cos’è il Gender Pay Gap?</vt:lpstr>
      <vt:lpstr>Cos’è il Gender Pay Gap?</vt:lpstr>
      <vt:lpstr>Un problema globale</vt:lpstr>
      <vt:lpstr>Un problema globale (1)</vt:lpstr>
      <vt:lpstr>Gender Pay Gap negli Stati Uniti</vt:lpstr>
      <vt:lpstr>Gender Pay Gap negli Stati Uniti (1)</vt:lpstr>
      <vt:lpstr>Gender Pay Gap in Asia</vt:lpstr>
      <vt:lpstr>Gender Pay Gap in America Latina</vt:lpstr>
      <vt:lpstr>La Motherhood Penalty</vt:lpstr>
      <vt:lpstr>La Motherhood Penalty (1)</vt:lpstr>
      <vt:lpstr>Segregazione verticale</vt:lpstr>
      <vt:lpstr>Segregazione orizzontale</vt:lpstr>
      <vt:lpstr>Stereotipi di genere</vt:lpstr>
      <vt:lpstr>Carico di cura non retribuito</vt:lpstr>
      <vt:lpstr>Donne e vulnerabilità economica</vt:lpstr>
      <vt:lpstr>Un freno alla crescita economica</vt:lpstr>
      <vt:lpstr>Meno donne dove si decide</vt:lpstr>
      <vt:lpstr>Conseguenze nel lungo periodo</vt:lpstr>
      <vt:lpstr>Il gender pay gap è potere</vt:lpstr>
      <vt:lpstr>Trasparenza salariale e audit di genere</vt:lpstr>
      <vt:lpstr>Condivisione del lavoro di cura</vt:lpstr>
      <vt:lpstr>Educazione e contrasto agli stereotipi</vt:lpstr>
      <vt:lpstr>Più donne dove si decide</vt:lpstr>
      <vt:lpstr>Politiche di parità sin dalla scuola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barbara martini</cp:lastModifiedBy>
  <cp:revision>16</cp:revision>
  <dcterms:created xsi:type="dcterms:W3CDTF">2013-01-27T09:14:16Z</dcterms:created>
  <dcterms:modified xsi:type="dcterms:W3CDTF">2025-04-23T09:43:11Z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0x0101002C69F3F7625CF74085CAA0E2A49F4C2D</vt:lpwstr>
  </property>
</Properties>
</file>