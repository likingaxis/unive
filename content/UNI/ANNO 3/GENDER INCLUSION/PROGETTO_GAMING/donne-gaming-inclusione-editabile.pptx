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2.svg" ContentType="image/svg+xml"/>
  <Override PartName="/ppt/media/image-1-4.svg" ContentType="image/svg+xml"/>
  <Override PartName="/ppt/media/image-1-6.svg" ContentType="image/svg+xml"/>
  <Override PartName="/ppt/media/image-3-2.svg" ContentType="image/svg+xml"/>
  <Override PartName="/ppt/media/image-3-4.svg" ContentType="image/svg+xml"/>
  <Override PartName="/ppt/media/image-4-2.svg" ContentType="image/svg+xml"/>
  <Override PartName="/ppt/media/image-4-5.svg" ContentType="image/svg+xml"/>
  <Override PartName="/ppt/media/image-4-8.svg" ContentType="image/svg+xml"/>
  <Override PartName="/ppt/media/image-5-2.svg" ContentType="image/svg+xml"/>
  <Override PartName="/ppt/media/image-6-10.svg" ContentType="image/svg+xml"/>
  <Override PartName="/ppt/media/image-6-2.svg" ContentType="image/svg+xml"/>
  <Override PartName="/ppt/media/image-6-4.svg" ContentType="image/svg+xml"/>
  <Override PartName="/ppt/media/image-6-6.svg" ContentType="image/svg+xml"/>
  <Override PartName="/ppt/media/image-6-8.svg" ContentType="image/svg+xml"/>
  <Override PartName="/ppt/media/image-7-2.svg" ContentType="image/svg+xml"/>
  <Override PartName="/ppt/media/image-7-4.svg" ContentType="image/svg+xml"/>
  <Override PartName="/ppt/media/image-9-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86"/>
            <a:ext cx="12191695" cy="6857829"/>
          </a:xfrm>
          <a:prstGeom prst="rect">
            <a:avLst/>
          </a:prstGeom>
          <a:solidFill>
            <a:srgbClr val="07111F"/>
          </a:solidFill>
          <a:ln/>
        </p:spPr>
        <p:txBody>
          <a:bodyPr/>
          <a:p/>
        </p:txBody>
      </p:sp>
      <p:sp>
        <p:nvSpPr>
          <p:cNvPr id="3" name="Shape 6"/>
          <p:cNvSpPr/>
          <p:nvPr/>
        </p:nvSpPr>
        <p:spPr>
          <a:xfrm>
            <a:off x="609585" y="1293965"/>
            <a:ext cx="3628190" cy="256573"/>
          </a:xfrm>
          <a:prstGeom prst="roundRect">
            <a:avLst>
              <a:gd name="adj" fmla="val 14849"/>
            </a:avLst>
          </a:prstGeom>
          <a:solidFill>
            <a:srgbClr val="37D6E8">
              <a:alpha val="8000"/>
            </a:srgbClr>
          </a:solidFill>
          <a:ln w="9525">
            <a:solidFill>
              <a:srgbClr val="37D6E8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Box 9"/>
          <p:cNvSpPr/>
          <p:nvPr/>
        </p:nvSpPr>
        <p:spPr>
          <a:xfrm>
            <a:off x="876278" y="1351114"/>
            <a:ext cx="3228150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>
              <a:defRPr sz="1100" b="1">
                <a:solidFill>
                  <a:srgbClr val="37D6E8"/>
                </a:solidFill>
              </a:defRPr>
            </a:pPr>
            <a:r>
              <a:rPr>
                <a:solidFill>
                  <a:srgbClr val="37D6E8"/>
                </a:solidFill>
              </a:rPr>
              <a:t>UNIVERSITÀ DI ROMA TOR VERGATA · INFORMATICA</a:t>
            </a:r>
          </a:p>
        </p:txBody>
      </p:sp>
      <p:sp>
        <p:nvSpPr>
          <p:cNvPr id="5" name="Shape 8"/>
          <p:cNvSpPr/>
          <p:nvPr/>
        </p:nvSpPr>
        <p:spPr>
          <a:xfrm>
            <a:off x="742931" y="1393677"/>
            <a:ext cx="57149" cy="57149"/>
          </a:xfrm>
          <a:prstGeom prst="ellipse">
            <a:avLst/>
          </a:prstGeom>
          <a:solidFill>
            <a:srgbClr val="37D6E8"/>
          </a:solidFill>
          <a:ln/>
          <a:effectLst>
            <a:outerShdw sx="100000" sy="100000" kx="0" ky="0" algn="bl" rotWithShape="0" blurRad="76198" dist="50800" dir="16200000">
              <a:srgbClr val="37D6E8">
                <a:alpha val="100000"/>
              </a:srgbClr>
            </a:outerShdw>
          </a:effectLst>
        </p:spPr>
        <p:txBody>
          <a:bodyPr/>
          <a:p/>
        </p:txBody>
      </p:sp>
      <p:sp>
        <p:nvSpPr>
          <p:cNvPr id="6" name="TextBox 11"/>
          <p:cNvSpPr/>
          <p:nvPr/>
        </p:nvSpPr>
        <p:spPr>
          <a:xfrm>
            <a:off x="609585" y="1683885"/>
            <a:ext cx="6483982" cy="1450443"/>
          </a:xfrm>
          <a:prstGeom prst="rect">
            <a:avLst/>
          </a:prstGeom>
          <a:noFill/>
          <a:ln/>
        </p:spPr>
        <p:txBody>
          <a:bodyPr wrap="square" lIns="0" tIns="0" rIns="0" bIns="182875" rtlCol="0" anchor="t">
            <a:spAutoFit/>
          </a:bodyPr>
          <a:lstStyle/>
          <a:p>
            <a:pPr algn="l" indent="0" marL="0">
              <a:lnSpc>
                <a:spcPts val="4992"/>
              </a:lnSpc>
              <a:buNone/>
              <a:defRPr sz="4600" b="1"/>
            </a:pPr>
            <a:r>
              <a:rPr lang="en-US" sz="4600" b="1" spc="-144" kern="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Donne, gaming</a:t>
            </a:r>
            <a:endParaRPr lang="en-US" sz="4800" dirty="0"/>
          </a:p>
          <a:p>
            <a:pPr algn="l" indent="0" marL="0">
              <a:lnSpc>
                <a:spcPts val="4992"/>
              </a:lnSpc>
              <a:spcAft>
                <a:spcPts val="1200"/>
              </a:spcAft>
              <a:buNone/>
              <a:defRPr sz="4600" b="1"/>
            </a:pPr>
            <a:r>
              <a:rPr lang="en-US" sz="4600" b="1" spc="-144" kern="0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 inclusione</a:t>
            </a:r>
            <a:endParaRPr lang="en-US" sz="4800" dirty="0"/>
          </a:p>
        </p:txBody>
      </p:sp>
      <p:sp>
        <p:nvSpPr>
          <p:cNvPr id="7" name="TextBox 13"/>
          <p:cNvSpPr/>
          <p:nvPr/>
        </p:nvSpPr>
        <p:spPr>
          <a:xfrm>
            <a:off x="609585" y="3343872"/>
            <a:ext cx="5810105" cy="551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173"/>
              </a:lnSpc>
              <a:buNone/>
            </a:pPr>
            <a:r>
              <a:rPr lang="en-US" sz="1575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Donne e cultura videoludica: radici storiche, dati di settore e considerazioni sui futuri sviluppi tra codice e società</a:t>
            </a:r>
            <a:endParaRPr lang="en-US" sz="1575" dirty="0"/>
          </a:p>
        </p:txBody>
      </p:sp>
      <p:sp>
        <p:nvSpPr>
          <p:cNvPr id="8" name="Shape 17"/>
          <p:cNvSpPr/>
          <p:nvPr/>
        </p:nvSpPr>
        <p:spPr>
          <a:xfrm>
            <a:off x="609585" y="4143357"/>
            <a:ext cx="2243974" cy="273837"/>
          </a:xfrm>
          <a:prstGeom prst="rect">
            <a:avLst/>
          </a:prstGeom>
          <a:noFill/>
          <a:ln/>
        </p:spPr>
        <p:txBody>
          <a:bodyPr/>
          <a:p/>
        </p:txBody>
      </p:sp>
      <p:pic>
        <p:nvPicPr>
          <p:cNvPr id="9" name="Picture 17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585" y="4143357"/>
            <a:ext cx="2243974" cy="273837"/>
          </a:xfrm>
          <a:prstGeom prst="rect">
            <a:avLst/>
          </a:prstGeom>
        </p:spPr>
      </p:pic>
      <p:sp>
        <p:nvSpPr>
          <p:cNvPr id="10" name="TextBox 18"/>
          <p:cNvSpPr/>
          <p:nvPr/>
        </p:nvSpPr>
        <p:spPr>
          <a:xfrm>
            <a:off x="752456" y="4209138"/>
            <a:ext cx="548640" cy="1422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2" b="1" spc="43" kern="0" dirty="0">
                <a:solidFill>
                  <a:srgbClr val="37D6E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</a:t>
            </a:r>
            <a:endParaRPr lang="en-US" sz="862" dirty="0"/>
          </a:p>
        </p:txBody>
      </p:sp>
      <p:sp>
        <p:nvSpPr>
          <p:cNvPr id="11" name="TextBox 20"/>
          <p:cNvSpPr/>
          <p:nvPr/>
        </p:nvSpPr>
        <p:spPr>
          <a:xfrm>
            <a:off x="998165" y="4171931"/>
            <a:ext cx="2286000" cy="2166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6"/>
              </a:lnSpc>
              <a:buNone/>
            </a:pPr>
            <a:r>
              <a:rPr lang="en-US" sz="1312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Luca Gugliotta</a:t>
            </a:r>
            <a:endParaRPr lang="en-US" sz="1312" dirty="0"/>
          </a:p>
        </p:txBody>
      </p:sp>
      <p:sp>
        <p:nvSpPr>
          <p:cNvPr id="12" name="TextBox 22"/>
          <p:cNvSpPr/>
          <p:nvPr/>
        </p:nvSpPr>
        <p:spPr>
          <a:xfrm>
            <a:off x="2321958" y="4190534"/>
            <a:ext cx="1371600" cy="179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1087" dirty="0">
                <a:solidFill>
                  <a:srgbClr val="A9B8C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0342634</a:t>
            </a:r>
            <a:endParaRPr lang="en-US" sz="1087" dirty="0"/>
          </a:p>
        </p:txBody>
      </p:sp>
      <p:sp>
        <p:nvSpPr>
          <p:cNvPr id="13" name="Shape 24"/>
          <p:cNvSpPr/>
          <p:nvPr/>
        </p:nvSpPr>
        <p:spPr>
          <a:xfrm>
            <a:off x="609585" y="4531491"/>
            <a:ext cx="2356783" cy="273837"/>
          </a:xfrm>
          <a:prstGeom prst="rect">
            <a:avLst/>
          </a:prstGeom>
          <a:noFill/>
          <a:ln/>
        </p:spPr>
        <p:txBody>
          <a:bodyPr/>
          <a:p/>
        </p:txBody>
      </p:sp>
      <p:pic>
        <p:nvPicPr>
          <p:cNvPr id="14" name="Picture 24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585" y="4531491"/>
            <a:ext cx="2356783" cy="273837"/>
          </a:xfrm>
          <a:prstGeom prst="rect">
            <a:avLst/>
          </a:prstGeom>
        </p:spPr>
      </p:pic>
      <p:sp>
        <p:nvSpPr>
          <p:cNvPr id="15" name="TextBox 25"/>
          <p:cNvSpPr/>
          <p:nvPr/>
        </p:nvSpPr>
        <p:spPr>
          <a:xfrm>
            <a:off x="752456" y="4597272"/>
            <a:ext cx="548640" cy="1422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2" b="1" spc="43" kern="0" dirty="0">
                <a:solidFill>
                  <a:srgbClr val="A78B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</a:t>
            </a:r>
            <a:endParaRPr lang="en-US" sz="862" dirty="0"/>
          </a:p>
        </p:txBody>
      </p:sp>
      <p:sp>
        <p:nvSpPr>
          <p:cNvPr id="16" name="TextBox 27"/>
          <p:cNvSpPr/>
          <p:nvPr/>
        </p:nvSpPr>
        <p:spPr>
          <a:xfrm>
            <a:off x="998165" y="4560065"/>
            <a:ext cx="2286000" cy="2166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6"/>
              </a:lnSpc>
              <a:buNone/>
            </a:pPr>
            <a:r>
              <a:rPr lang="en-US" sz="1312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Valerio Bernardi</a:t>
            </a:r>
            <a:endParaRPr lang="en-US" sz="1312" dirty="0"/>
          </a:p>
        </p:txBody>
      </p:sp>
      <p:sp>
        <p:nvSpPr>
          <p:cNvPr id="17" name="TextBox 29"/>
          <p:cNvSpPr/>
          <p:nvPr/>
        </p:nvSpPr>
        <p:spPr>
          <a:xfrm>
            <a:off x="2434767" y="4578669"/>
            <a:ext cx="1371600" cy="179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1087" dirty="0">
                <a:solidFill>
                  <a:srgbClr val="A9B8C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0349538</a:t>
            </a:r>
            <a:endParaRPr lang="en-US" sz="1087" dirty="0"/>
          </a:p>
        </p:txBody>
      </p:sp>
      <p:sp>
        <p:nvSpPr>
          <p:cNvPr id="18" name="Shape 31"/>
          <p:cNvSpPr/>
          <p:nvPr/>
        </p:nvSpPr>
        <p:spPr>
          <a:xfrm>
            <a:off x="609585" y="4919625"/>
            <a:ext cx="2574811" cy="273837"/>
          </a:xfrm>
          <a:prstGeom prst="rect">
            <a:avLst/>
          </a:prstGeom>
          <a:noFill/>
          <a:ln/>
        </p:spPr>
        <p:txBody>
          <a:bodyPr/>
          <a:p/>
        </p:txBody>
      </p:sp>
      <p:pic>
        <p:nvPicPr>
          <p:cNvPr id="19" name="Picture 31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9585" y="4919625"/>
            <a:ext cx="2574811" cy="273837"/>
          </a:xfrm>
          <a:prstGeom prst="rect">
            <a:avLst/>
          </a:prstGeom>
        </p:spPr>
      </p:pic>
      <p:sp>
        <p:nvSpPr>
          <p:cNvPr id="20" name="TextBox 32"/>
          <p:cNvSpPr/>
          <p:nvPr/>
        </p:nvSpPr>
        <p:spPr>
          <a:xfrm>
            <a:off x="752456" y="4985406"/>
            <a:ext cx="548640" cy="1422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2" b="1" spc="43" kern="0" dirty="0">
                <a:solidFill>
                  <a:srgbClr val="5EE6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</a:t>
            </a:r>
            <a:endParaRPr lang="en-US" sz="862" dirty="0"/>
          </a:p>
        </p:txBody>
      </p:sp>
      <p:sp>
        <p:nvSpPr>
          <p:cNvPr id="21" name="TextBox 34"/>
          <p:cNvSpPr/>
          <p:nvPr/>
        </p:nvSpPr>
        <p:spPr>
          <a:xfrm>
            <a:off x="998165" y="4948200"/>
            <a:ext cx="2286000" cy="2166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6"/>
              </a:lnSpc>
              <a:buNone/>
            </a:pPr>
            <a:r>
              <a:rPr lang="en-US" sz="1312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Samuele De Santis</a:t>
            </a:r>
            <a:endParaRPr lang="en-US" sz="1312" dirty="0"/>
          </a:p>
        </p:txBody>
      </p:sp>
      <p:sp>
        <p:nvSpPr>
          <p:cNvPr id="22" name="TextBox 36"/>
          <p:cNvSpPr/>
          <p:nvPr/>
        </p:nvSpPr>
        <p:spPr>
          <a:xfrm>
            <a:off x="2652795" y="4966803"/>
            <a:ext cx="1371600" cy="1794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1087" dirty="0">
                <a:solidFill>
                  <a:srgbClr val="A9B8C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0348324</a:t>
            </a:r>
            <a:endParaRPr lang="en-US" sz="1087" dirty="0"/>
          </a:p>
        </p:txBody>
      </p:sp>
      <p:sp>
        <p:nvSpPr>
          <p:cNvPr id="23" name="TextBox 39"/>
          <p:cNvSpPr/>
          <p:nvPr/>
        </p:nvSpPr>
        <p:spPr>
          <a:xfrm>
            <a:off x="609585" y="5403007"/>
            <a:ext cx="6483982" cy="160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67"/>
              </a:lnSpc>
              <a:buNone/>
            </a:pPr>
            <a:r>
              <a:rPr lang="en-US" sz="975" spc="78" kern="0" dirty="0">
                <a:solidFill>
                  <a:srgbClr val="A9B8C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GENDER &amp; INCLUSION · A.A. 2025–2026 · 4/09/2026</a:t>
            </a:r>
            <a:endParaRPr lang="en-US" sz="975" dirty="0"/>
          </a:p>
        </p:txBody>
      </p:sp>
      <p:pic>
        <p:nvPicPr>
          <p:cNvPr id="24" name="Picture 44" descr="__type_imag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698" y="2053863"/>
            <a:ext cx="3143171" cy="27502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86"/>
            <a:ext cx="12191695" cy="6857829"/>
          </a:xfrm>
          <a:prstGeom prst="rect">
            <a:avLst/>
          </a:prstGeom>
          <a:solidFill>
            <a:srgbClr val="07111F"/>
          </a:solidFill>
          <a:ln/>
        </p:spPr>
        <p:txBody>
          <a:bodyPr/>
          <a:p/>
        </p:txBody>
      </p:sp>
      <p:sp>
        <p:nvSpPr>
          <p:cNvPr id="3" name="TextBox 3"/>
          <p:cNvSpPr/>
          <p:nvPr/>
        </p:nvSpPr>
        <p:spPr>
          <a:xfrm>
            <a:off x="9144000" y="438225"/>
            <a:ext cx="2560320" cy="288571"/>
          </a:xfrm>
          <a:prstGeom prst="roundRect">
            <a:avLst>
              <a:gd name="adj" fmla="val 50000"/>
            </a:avLst>
          </a:prstGeom>
          <a:solidFill>
            <a:srgbClr val="07111F">
              <a:alpha val="72000"/>
            </a:srgbClr>
          </a:solidFill>
          <a:ln w="9525">
            <a:solidFill>
              <a:srgbClr val="37D6E8">
                <a:alpha val="55000"/>
              </a:srgbClr>
            </a:solidFill>
            <a:prstDash val="solid"/>
          </a:ln>
        </p:spPr>
        <p:txBody>
          <a:bodyPr wrap="none" lIns="114297" tIns="66673" rIns="114297" bIns="66673" rtlCol="0" anchor="t">
            <a:spAutoFit/>
          </a:bodyPr>
          <a:lstStyle/>
          <a:p>
            <a:pPr algn="l" indent="0" marL="0">
              <a:lnSpc>
                <a:spcPts val="1072"/>
              </a:lnSpc>
              <a:buNone/>
              <a:defRPr sz="1100" b="1"/>
            </a:pPr>
            <a:r>
              <a:rPr lang="en-US" sz="825" b="1" spc="82" kern="0" dirty="0">
                <a:solidFill>
                  <a:srgbClr val="37D6E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 · LUCA GUGLIOTTA</a:t>
            </a:r>
            <a:endParaRPr lang="en-US" sz="825" dirty="0"/>
          </a:p>
        </p:txBody>
      </p:sp>
      <p:sp>
        <p:nvSpPr>
          <p:cNvPr id="4" name="TextBox 5"/>
          <p:cNvSpPr/>
          <p:nvPr/>
        </p:nvSpPr>
        <p:spPr>
          <a:xfrm>
            <a:off x="609585" y="1475531"/>
            <a:ext cx="10972526" cy="160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67"/>
              </a:lnSpc>
              <a:buNone/>
            </a:pPr>
            <a:r>
              <a:rPr lang="en-US" sz="975" b="1" spc="156" kern="0" dirty="0">
                <a:solidFill>
                  <a:srgbClr val="37D6E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 / LA PROSPETTIVA INFORMATICA</a:t>
            </a:r>
            <a:endParaRPr lang="en-US" sz="975" dirty="0"/>
          </a:p>
        </p:txBody>
      </p:sp>
      <p:sp>
        <p:nvSpPr>
          <p:cNvPr id="5" name="TextBox 7"/>
          <p:cNvSpPr/>
          <p:nvPr/>
        </p:nvSpPr>
        <p:spPr>
          <a:xfrm>
            <a:off x="609585" y="1779281"/>
            <a:ext cx="9048524" cy="527136"/>
          </a:xfrm>
          <a:prstGeom prst="rect">
            <a:avLst/>
          </a:prstGeom>
          <a:noFill/>
          <a:ln/>
        </p:spPr>
        <p:txBody>
          <a:bodyPr wrap="square" lIns="0" tIns="0" rIns="0" bIns="117155" rtlCol="0" anchor="t">
            <a:spAutoFit/>
          </a:bodyPr>
          <a:lstStyle/>
          <a:p>
            <a:pPr algn="l" indent="0" marL="0">
              <a:lnSpc>
                <a:spcPts val="3229"/>
              </a:lnSpc>
              <a:buNone/>
            </a:pPr>
            <a:r>
              <a:rPr lang="en-US" sz="3075" b="1" spc="-77" kern="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Perché parlarne da informatici?</a:t>
            </a:r>
            <a:endParaRPr lang="en-US" sz="3075" dirty="0"/>
          </a:p>
        </p:txBody>
      </p:sp>
      <p:sp>
        <p:nvSpPr>
          <p:cNvPr id="6" name="TextBox 9"/>
          <p:cNvSpPr/>
          <p:nvPr/>
        </p:nvSpPr>
        <p:spPr>
          <a:xfrm>
            <a:off x="609585" y="2573111"/>
            <a:ext cx="10286743" cy="25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 videogiochi sono spazi sociali: le scelte di codice e design determinano chi può partecipare in sicurezza.</a:t>
            </a:r>
            <a:endParaRPr lang="en-US" sz="1500" dirty="0"/>
          </a:p>
        </p:txBody>
      </p:sp>
      <p:sp>
        <p:nvSpPr>
          <p:cNvPr id="7" name="Shape 15"/>
          <p:cNvSpPr/>
          <p:nvPr/>
        </p:nvSpPr>
        <p:spPr>
          <a:xfrm>
            <a:off x="609585" y="3173171"/>
            <a:ext cx="33337" cy="1618614"/>
          </a:xfrm>
          <a:prstGeom prst="roundRect">
            <a:avLst>
              <a:gd name="adj" fmla="val 49999"/>
            </a:avLst>
          </a:prstGeom>
          <a:solidFill>
            <a:srgbClr val="37D6E8"/>
          </a:solidFill>
          <a:ln/>
        </p:spPr>
        <p:txBody>
          <a:bodyPr/>
          <a:p/>
        </p:txBody>
      </p:sp>
      <p:sp>
        <p:nvSpPr>
          <p:cNvPr id="8" name="Shape 21"/>
          <p:cNvSpPr/>
          <p:nvPr/>
        </p:nvSpPr>
        <p:spPr>
          <a:xfrm>
            <a:off x="833417" y="3230319"/>
            <a:ext cx="514337" cy="514337"/>
          </a:xfrm>
          <a:prstGeom prst="roundRect">
            <a:avLst>
              <a:gd name="adj" fmla="val 22222"/>
            </a:avLst>
          </a:prstGeom>
          <a:solidFill>
            <a:srgbClr val="0A182A">
              <a:alpha val="70000"/>
            </a:srgbClr>
          </a:solidFill>
          <a:ln w="9525">
            <a:solidFill>
              <a:srgbClr val="37D6E8">
                <a:alpha val="45000"/>
              </a:srgbClr>
            </a:solidFill>
            <a:prstDash val="solid"/>
          </a:ln>
          <a:effectLst>
            <a:outerShdw sx="100000" sy="100000" kx="0" ky="0" algn="bl" rotWithShape="0" blurRad="190495" dist="50800" dir="16200000">
              <a:srgbClr val="37D6E8">
                <a:alpha val="25000"/>
              </a:srgbClr>
            </a:outerShdw>
          </a:effectLst>
        </p:spPr>
        <p:txBody>
          <a:bodyPr/>
          <a:p/>
        </p:txBody>
      </p:sp>
      <p:pic>
        <p:nvPicPr>
          <p:cNvPr id="9" name="Picture 22" descr="__type_im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239" y="3354141"/>
            <a:ext cx="266693" cy="266693"/>
          </a:xfrm>
          <a:prstGeom prst="rect">
            <a:avLst/>
          </a:prstGeom>
        </p:spPr>
      </p:pic>
      <p:sp>
        <p:nvSpPr>
          <p:cNvPr id="10" name="TextBox 24"/>
          <p:cNvSpPr/>
          <p:nvPr/>
        </p:nvSpPr>
        <p:spPr>
          <a:xfrm>
            <a:off x="2881687" y="3173171"/>
            <a:ext cx="1080614" cy="628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6600" b="1" spc="-396" kern="0" dirty="0">
                <a:solidFill>
                  <a:srgbClr val="37D6E8">
                    <a:alpha val="28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6600" dirty="0"/>
          </a:p>
        </p:txBody>
      </p:sp>
      <p:sp>
        <p:nvSpPr>
          <p:cNvPr id="11" name="TextBox 27"/>
          <p:cNvSpPr/>
          <p:nvPr/>
        </p:nvSpPr>
        <p:spPr>
          <a:xfrm>
            <a:off x="833417" y="3954201"/>
            <a:ext cx="3205082" cy="273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156"/>
              </a:lnSpc>
              <a:buNone/>
            </a:pPr>
            <a:r>
              <a:rPr lang="en-US" sz="1725" b="1" spc="52" kern="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 GIOCA</a:t>
            </a:r>
            <a:endParaRPr lang="en-US" sz="1725" dirty="0"/>
          </a:p>
        </p:txBody>
      </p:sp>
      <p:sp>
        <p:nvSpPr>
          <p:cNvPr id="12" name="TextBox 31"/>
          <p:cNvSpPr/>
          <p:nvPr/>
        </p:nvSpPr>
        <p:spPr>
          <a:xfrm>
            <a:off x="833417" y="4323286"/>
            <a:ext cx="3205082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Voice chat &amp; matchmaking</a:t>
            </a:r>
            <a:endParaRPr lang="en-US" sz="1200" dirty="0"/>
          </a:p>
        </p:txBody>
      </p:sp>
      <p:sp>
        <p:nvSpPr>
          <p:cNvPr id="13" name="TextBox 33"/>
          <p:cNvSpPr/>
          <p:nvPr/>
        </p:nvSpPr>
        <p:spPr>
          <a:xfrm>
            <a:off x="833417" y="4586110"/>
            <a:ext cx="3205082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Tossicità, sicurezza e moderazione</a:t>
            </a:r>
            <a:endParaRPr lang="en-US" sz="1200" dirty="0"/>
          </a:p>
        </p:txBody>
      </p:sp>
      <p:sp>
        <p:nvSpPr>
          <p:cNvPr id="14" name="Shape 40"/>
          <p:cNvSpPr/>
          <p:nvPr/>
        </p:nvSpPr>
        <p:spPr>
          <a:xfrm>
            <a:off x="4381390" y="3173171"/>
            <a:ext cx="33337" cy="1618614"/>
          </a:xfrm>
          <a:prstGeom prst="roundRect">
            <a:avLst>
              <a:gd name="adj" fmla="val 49999"/>
            </a:avLst>
          </a:prstGeom>
          <a:solidFill>
            <a:srgbClr val="A78BFA"/>
          </a:solidFill>
          <a:ln/>
        </p:spPr>
        <p:txBody>
          <a:bodyPr/>
          <a:p/>
        </p:txBody>
      </p:sp>
      <p:sp>
        <p:nvSpPr>
          <p:cNvPr id="15" name="Shape 46"/>
          <p:cNvSpPr/>
          <p:nvPr/>
        </p:nvSpPr>
        <p:spPr>
          <a:xfrm>
            <a:off x="4605222" y="3230319"/>
            <a:ext cx="514337" cy="514337"/>
          </a:xfrm>
          <a:prstGeom prst="roundRect">
            <a:avLst>
              <a:gd name="adj" fmla="val 22222"/>
            </a:avLst>
          </a:prstGeom>
          <a:solidFill>
            <a:srgbClr val="0A182A">
              <a:alpha val="70000"/>
            </a:srgbClr>
          </a:solidFill>
          <a:ln w="9525">
            <a:solidFill>
              <a:srgbClr val="A78BFA">
                <a:alpha val="45000"/>
              </a:srgbClr>
            </a:solidFill>
            <a:prstDash val="solid"/>
          </a:ln>
          <a:effectLst>
            <a:outerShdw sx="100000" sy="100000" kx="0" ky="0" algn="bl" rotWithShape="0" blurRad="190495" dist="50800" dir="16200000">
              <a:srgbClr val="A78BFA">
                <a:alpha val="25000"/>
              </a:srgbClr>
            </a:outerShdw>
          </a:effectLst>
        </p:spPr>
        <p:txBody>
          <a:bodyPr/>
          <a:p/>
        </p:txBody>
      </p:sp>
      <p:pic>
        <p:nvPicPr>
          <p:cNvPr id="16" name="Picture 47" descr="__type_im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9044" y="3354141"/>
            <a:ext cx="266693" cy="266693"/>
          </a:xfrm>
          <a:prstGeom prst="rect">
            <a:avLst/>
          </a:prstGeom>
        </p:spPr>
      </p:pic>
      <p:sp>
        <p:nvSpPr>
          <p:cNvPr id="17" name="TextBox 49"/>
          <p:cNvSpPr/>
          <p:nvPr/>
        </p:nvSpPr>
        <p:spPr>
          <a:xfrm>
            <a:off x="6653493" y="3173171"/>
            <a:ext cx="1080614" cy="628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6600" b="1" spc="-396" kern="0" dirty="0">
                <a:solidFill>
                  <a:srgbClr val="A78BFA">
                    <a:alpha val="28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6600" dirty="0"/>
          </a:p>
        </p:txBody>
      </p:sp>
      <p:sp>
        <p:nvSpPr>
          <p:cNvPr id="18" name="TextBox 52"/>
          <p:cNvSpPr/>
          <p:nvPr/>
        </p:nvSpPr>
        <p:spPr>
          <a:xfrm>
            <a:off x="4605222" y="3954201"/>
            <a:ext cx="3205082" cy="273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156"/>
              </a:lnSpc>
              <a:buNone/>
            </a:pPr>
            <a:r>
              <a:rPr lang="en-US" sz="1725" b="1" spc="52" kern="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COSA VEDIAMO</a:t>
            </a:r>
            <a:endParaRPr lang="en-US" sz="1725" dirty="0"/>
          </a:p>
        </p:txBody>
      </p:sp>
      <p:sp>
        <p:nvSpPr>
          <p:cNvPr id="19" name="TextBox 56"/>
          <p:cNvSpPr/>
          <p:nvPr/>
        </p:nvSpPr>
        <p:spPr>
          <a:xfrm>
            <a:off x="4605222" y="4323286"/>
            <a:ext cx="3205082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Narrazione e stereotipi</a:t>
            </a:r>
            <a:endParaRPr lang="en-US" sz="1200" dirty="0"/>
          </a:p>
        </p:txBody>
      </p:sp>
      <p:sp>
        <p:nvSpPr>
          <p:cNvPr id="20" name="TextBox 58"/>
          <p:cNvSpPr/>
          <p:nvPr/>
        </p:nvSpPr>
        <p:spPr>
          <a:xfrm>
            <a:off x="4605222" y="4586110"/>
            <a:ext cx="3205082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Evoluzione del character design</a:t>
            </a:r>
            <a:endParaRPr lang="en-US" sz="1200" dirty="0"/>
          </a:p>
        </p:txBody>
      </p:sp>
      <p:sp>
        <p:nvSpPr>
          <p:cNvPr id="21" name="Shape 65"/>
          <p:cNvSpPr/>
          <p:nvPr/>
        </p:nvSpPr>
        <p:spPr>
          <a:xfrm>
            <a:off x="8153196" y="3173171"/>
            <a:ext cx="33337" cy="1618614"/>
          </a:xfrm>
          <a:prstGeom prst="roundRect">
            <a:avLst>
              <a:gd name="adj" fmla="val 49999"/>
            </a:avLst>
          </a:prstGeom>
          <a:solidFill>
            <a:srgbClr val="5EE6A8"/>
          </a:solidFill>
          <a:ln/>
        </p:spPr>
        <p:txBody>
          <a:bodyPr/>
          <a:p/>
        </p:txBody>
      </p:sp>
      <p:sp>
        <p:nvSpPr>
          <p:cNvPr id="22" name="Shape 71"/>
          <p:cNvSpPr/>
          <p:nvPr/>
        </p:nvSpPr>
        <p:spPr>
          <a:xfrm>
            <a:off x="8377028" y="3230319"/>
            <a:ext cx="514337" cy="514337"/>
          </a:xfrm>
          <a:prstGeom prst="roundRect">
            <a:avLst>
              <a:gd name="adj" fmla="val 22222"/>
            </a:avLst>
          </a:prstGeom>
          <a:solidFill>
            <a:srgbClr val="0A182A">
              <a:alpha val="70000"/>
            </a:srgbClr>
          </a:solidFill>
          <a:ln w="9525">
            <a:solidFill>
              <a:srgbClr val="5EE6A8">
                <a:alpha val="45000"/>
              </a:srgbClr>
            </a:solidFill>
            <a:prstDash val="solid"/>
          </a:ln>
          <a:effectLst>
            <a:outerShdw sx="100000" sy="100000" kx="0" ky="0" algn="bl" rotWithShape="0" blurRad="190495" dist="50800" dir="16200000">
              <a:srgbClr val="5EE6A8">
                <a:alpha val="25000"/>
              </a:srgbClr>
            </a:outerShdw>
          </a:effectLst>
        </p:spPr>
        <p:txBody>
          <a:bodyPr/>
          <a:p/>
        </p:txBody>
      </p:sp>
      <p:pic>
        <p:nvPicPr>
          <p:cNvPr id="23" name="Picture 72" descr="__type_ima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0850" y="3354141"/>
            <a:ext cx="266693" cy="266693"/>
          </a:xfrm>
          <a:prstGeom prst="rect">
            <a:avLst/>
          </a:prstGeom>
        </p:spPr>
      </p:pic>
      <p:sp>
        <p:nvSpPr>
          <p:cNvPr id="24" name="TextBox 74"/>
          <p:cNvSpPr/>
          <p:nvPr/>
        </p:nvSpPr>
        <p:spPr>
          <a:xfrm>
            <a:off x="10425298" y="3173171"/>
            <a:ext cx="1080614" cy="628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6600" b="1" spc="-396" kern="0" dirty="0">
                <a:solidFill>
                  <a:srgbClr val="5EE6A8">
                    <a:alpha val="28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6600" dirty="0"/>
          </a:p>
        </p:txBody>
      </p:sp>
      <p:sp>
        <p:nvSpPr>
          <p:cNvPr id="25" name="TextBox 77"/>
          <p:cNvSpPr/>
          <p:nvPr/>
        </p:nvSpPr>
        <p:spPr>
          <a:xfrm>
            <a:off x="8377028" y="3954201"/>
            <a:ext cx="3205082" cy="2738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156"/>
              </a:lnSpc>
              <a:buNone/>
            </a:pPr>
            <a:r>
              <a:rPr lang="en-US" sz="1725" b="1" spc="52" kern="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 SVILUPPA</a:t>
            </a:r>
            <a:endParaRPr lang="en-US" sz="1725" dirty="0"/>
          </a:p>
        </p:txBody>
      </p:sp>
      <p:sp>
        <p:nvSpPr>
          <p:cNvPr id="26" name="TextBox 81"/>
          <p:cNvSpPr/>
          <p:nvPr/>
        </p:nvSpPr>
        <p:spPr>
          <a:xfrm>
            <a:off x="8377028" y="4323286"/>
            <a:ext cx="3205082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Donne nella carriera del gaming</a:t>
            </a:r>
            <a:endParaRPr lang="en-US" sz="1200" dirty="0"/>
          </a:p>
        </p:txBody>
      </p:sp>
      <p:sp>
        <p:nvSpPr>
          <p:cNvPr id="27" name="TextBox 83"/>
          <p:cNvSpPr/>
          <p:nvPr/>
        </p:nvSpPr>
        <p:spPr>
          <a:xfrm>
            <a:off x="8377028" y="4586110"/>
            <a:ext cx="3205082" cy="205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Ruoli tecnici, leadership e divario</a:t>
            </a:r>
            <a:endParaRPr lang="en-US" sz="1200" dirty="0"/>
          </a:p>
        </p:txBody>
      </p:sp>
      <p:sp>
        <p:nvSpPr>
          <p:cNvPr id="28" name="Shape 91"/>
          <p:cNvSpPr/>
          <p:nvPr/>
        </p:nvSpPr>
        <p:spPr>
          <a:xfrm>
            <a:off x="609585" y="5153726"/>
            <a:ext cx="38099" cy="304792"/>
          </a:xfrm>
          <a:prstGeom prst="roundRect">
            <a:avLst>
              <a:gd name="adj" fmla="val 50000"/>
            </a:avLst>
          </a:prstGeom>
          <a:solidFill>
            <a:srgbClr val="37D6E8"/>
          </a:solidFill>
          <a:ln/>
        </p:spPr>
        <p:txBody>
          <a:bodyPr/>
          <a:p/>
        </p:txBody>
      </p:sp>
      <p:sp>
        <p:nvSpPr>
          <p:cNvPr id="29" name="TextBox 93"/>
          <p:cNvSpPr/>
          <p:nvPr/>
        </p:nvSpPr>
        <p:spPr>
          <a:xfrm>
            <a:off x="800080" y="5182300"/>
            <a:ext cx="6999361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modo in cui programmiamo uno spazio digitale determina </a:t>
            </a:r>
            <a:r>
              <a:rPr lang="en-US" sz="1500" b="1" dirty="0">
                <a:solidFill>
                  <a:srgbClr val="37D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 potrà viverlo</a:t>
            </a:r>
            <a:r>
              <a:rPr lang="en-US" sz="15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500" dirty="0"/>
          </a:p>
        </p:txBody>
      </p:sp>
      <p:sp>
        <p:nvSpPr>
          <p:cNvPr id="30" name="TextBox 96"/>
          <p:cNvSpPr/>
          <p:nvPr/>
        </p:nvSpPr>
        <p:spPr>
          <a:xfrm>
            <a:off x="609585" y="6562647"/>
            <a:ext cx="3059383" cy="123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spc="60" kern="0" dirty="0">
                <a:solidFill>
                  <a:srgbClr val="A9B8CC">
                    <a:alpha val="66000"/>
                  </a:srgbClr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Gender &amp; Inclusion · Università di Roma Tor Vergata</a:t>
            </a:r>
            <a:endParaRPr lang="en-US" sz="750" dirty="0"/>
          </a:p>
        </p:txBody>
      </p:sp>
      <p:sp>
        <p:nvSpPr>
          <p:cNvPr id="31" name="TextBox 1"/>
          <p:cNvSpPr/>
          <p:nvPr/>
        </p:nvSpPr>
        <p:spPr>
          <a:xfrm>
            <a:off x="11862043" y="6518890"/>
            <a:ext cx="62953" cy="14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A9B8C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86"/>
            <a:ext cx="12191695" cy="6857829"/>
          </a:xfrm>
          <a:prstGeom prst="rect">
            <a:avLst/>
          </a:prstGeom>
          <a:solidFill>
            <a:srgbClr val="07111F"/>
          </a:solidFill>
          <a:ln/>
        </p:spPr>
        <p:txBody>
          <a:bodyPr/>
          <a:p/>
        </p:txBody>
      </p:sp>
      <p:sp>
        <p:nvSpPr>
          <p:cNvPr id="3" name="TextBox 3"/>
          <p:cNvSpPr/>
          <p:nvPr/>
        </p:nvSpPr>
        <p:spPr>
          <a:xfrm>
            <a:off x="9144000" y="438225"/>
            <a:ext cx="2560320" cy="288571"/>
          </a:xfrm>
          <a:prstGeom prst="roundRect">
            <a:avLst>
              <a:gd name="adj" fmla="val 50000"/>
            </a:avLst>
          </a:prstGeom>
          <a:solidFill>
            <a:srgbClr val="07111F">
              <a:alpha val="72000"/>
            </a:srgbClr>
          </a:solidFill>
          <a:ln w="9525">
            <a:solidFill>
              <a:srgbClr val="37D6E8">
                <a:alpha val="55000"/>
              </a:srgbClr>
            </a:solidFill>
            <a:prstDash val="solid"/>
          </a:ln>
        </p:spPr>
        <p:txBody>
          <a:bodyPr wrap="none" lIns="114297" tIns="66673" rIns="114297" bIns="66673" rtlCol="0" anchor="t">
            <a:spAutoFit/>
          </a:bodyPr>
          <a:lstStyle/>
          <a:p>
            <a:pPr algn="l" indent="0" marL="0">
              <a:lnSpc>
                <a:spcPts val="1072"/>
              </a:lnSpc>
              <a:buNone/>
              <a:defRPr sz="1100" b="1"/>
            </a:pPr>
            <a:r>
              <a:rPr lang="en-US" sz="825" b="1" spc="82" kern="0" dirty="0">
                <a:solidFill>
                  <a:srgbClr val="37D6E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 · LUCA GUGLIOTTA</a:t>
            </a:r>
            <a:endParaRPr lang="en-US" sz="825" dirty="0"/>
          </a:p>
        </p:txBody>
      </p:sp>
      <p:sp>
        <p:nvSpPr>
          <p:cNvPr id="4" name="TextBox 5"/>
          <p:cNvSpPr/>
          <p:nvPr/>
        </p:nvSpPr>
        <p:spPr>
          <a:xfrm>
            <a:off x="609585" y="1229673"/>
            <a:ext cx="10972526" cy="160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67"/>
              </a:lnSpc>
              <a:buNone/>
            </a:pPr>
            <a:r>
              <a:rPr lang="en-US" sz="975" b="1" spc="156" kern="0" dirty="0">
                <a:solidFill>
                  <a:srgbClr val="37D6E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 / DEMOGRAFIA E MERCATO</a:t>
            </a:r>
            <a:endParaRPr lang="en-US" sz="975" dirty="0"/>
          </a:p>
        </p:txBody>
      </p:sp>
      <p:sp>
        <p:nvSpPr>
          <p:cNvPr id="5" name="TextBox 7"/>
          <p:cNvSpPr/>
          <p:nvPr/>
        </p:nvSpPr>
        <p:spPr>
          <a:xfrm>
            <a:off x="609585" y="1533424"/>
            <a:ext cx="9048524" cy="527136"/>
          </a:xfrm>
          <a:prstGeom prst="rect">
            <a:avLst/>
          </a:prstGeom>
          <a:noFill/>
          <a:ln/>
        </p:spPr>
        <p:txBody>
          <a:bodyPr wrap="square" lIns="0" tIns="0" rIns="0" bIns="117155" rtlCol="0" anchor="t">
            <a:spAutoFit/>
          </a:bodyPr>
          <a:lstStyle/>
          <a:p>
            <a:pPr algn="l" indent="0" marL="0">
              <a:lnSpc>
                <a:spcPts val="3229"/>
              </a:lnSpc>
              <a:buNone/>
            </a:pPr>
            <a:r>
              <a:rPr lang="en-US" sz="3075" b="1" spc="-77" kern="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realtà è quasi paritaria. </a:t>
            </a:r>
            <a:r>
              <a:rPr lang="en-US" sz="3075" b="1" spc="-77" kern="0" dirty="0">
                <a:solidFill>
                  <a:srgbClr val="37D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percezione no.</a:t>
            </a:r>
            <a:endParaRPr lang="en-US" sz="3075" dirty="0"/>
          </a:p>
        </p:txBody>
      </p:sp>
      <p:sp>
        <p:nvSpPr>
          <p:cNvPr id="6" name="TextBox 9"/>
          <p:cNvSpPr/>
          <p:nvPr/>
        </p:nvSpPr>
        <p:spPr>
          <a:xfrm>
            <a:off x="609585" y="2327253"/>
            <a:ext cx="10972526" cy="25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paradosso percettivo: la partecipazione reale sfiora la parità, ma lo stereotipo del gamer resta maschile.</a:t>
            </a:r>
            <a:endParaRPr lang="en-US" sz="1500" dirty="0"/>
          </a:p>
        </p:txBody>
      </p:sp>
      <p:sp>
        <p:nvSpPr>
          <p:cNvPr id="7" name="Shape 15"/>
          <p:cNvSpPr/>
          <p:nvPr/>
        </p:nvSpPr>
        <p:spPr>
          <a:xfrm>
            <a:off x="609585" y="2889214"/>
            <a:ext cx="33337" cy="1942158"/>
          </a:xfrm>
          <a:prstGeom prst="roundRect">
            <a:avLst>
              <a:gd name="adj" fmla="val 49999"/>
            </a:avLst>
          </a:prstGeom>
          <a:solidFill>
            <a:srgbClr val="37D6E8"/>
          </a:solidFill>
          <a:ln/>
        </p:spPr>
        <p:txBody>
          <a:bodyPr/>
          <a:p/>
        </p:txBody>
      </p:sp>
      <p:sp>
        <p:nvSpPr>
          <p:cNvPr id="8" name="TextBox 19"/>
          <p:cNvSpPr/>
          <p:nvPr/>
        </p:nvSpPr>
        <p:spPr>
          <a:xfrm>
            <a:off x="814367" y="2889214"/>
            <a:ext cx="5052886" cy="1422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2" b="1" spc="86" kern="0" dirty="0">
                <a:solidFill>
                  <a:srgbClr val="37D6E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PUBBLICO GLOBALE · ESA 2025</a:t>
            </a:r>
            <a:endParaRPr lang="en-US" sz="862" dirty="0"/>
          </a:p>
        </p:txBody>
      </p:sp>
      <p:sp>
        <p:nvSpPr>
          <p:cNvPr id="9" name="TextBox 25"/>
          <p:cNvSpPr/>
          <p:nvPr/>
        </p:nvSpPr>
        <p:spPr>
          <a:xfrm>
            <a:off x="814367" y="3202936"/>
            <a:ext cx="2011680" cy="2227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37D6E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48% DONNE</a:t>
            </a:r>
            <a:endParaRPr lang="en-US" sz="1350" dirty="0"/>
          </a:p>
        </p:txBody>
      </p:sp>
      <p:sp>
        <p:nvSpPr>
          <p:cNvPr id="10" name="TextBox 27"/>
          <p:cNvSpPr/>
          <p:nvPr/>
        </p:nvSpPr>
        <p:spPr>
          <a:xfrm>
            <a:off x="4924600" y="3202936"/>
            <a:ext cx="2011680" cy="2227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b="1" dirty="0">
                <a:solidFill>
                  <a:srgbClr val="A78B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52% UOMINI</a:t>
            </a:r>
            <a:endParaRPr lang="en-US" sz="1350" dirty="0"/>
          </a:p>
        </p:txBody>
      </p:sp>
      <p:sp>
        <p:nvSpPr>
          <p:cNvPr id="11" name="Shape 30"/>
          <p:cNvSpPr/>
          <p:nvPr/>
        </p:nvSpPr>
        <p:spPr>
          <a:xfrm>
            <a:off x="814367" y="3501924"/>
            <a:ext cx="5052886" cy="209545"/>
          </a:xfrm>
          <a:prstGeom prst="roundRect">
            <a:avLst>
              <a:gd name="adj" fmla="val 27273"/>
            </a:avLst>
          </a:prstGeom>
          <a:solidFill>
            <a:srgbClr val="A9B8CC">
              <a:alpha val="10000"/>
            </a:srgbClr>
          </a:solidFill>
          <a:ln/>
        </p:spPr>
        <p:txBody>
          <a:bodyPr/>
          <a:p/>
        </p:txBody>
      </p:sp>
      <p:sp>
        <p:nvSpPr>
          <p:cNvPr id="12" name="Shape 32"/>
          <p:cNvSpPr/>
          <p:nvPr/>
        </p:nvSpPr>
        <p:spPr>
          <a:xfrm>
            <a:off x="814367" y="3501924"/>
            <a:ext cx="2514443" cy="209545"/>
          </a:xfrm>
          <a:prstGeom prst="rect">
            <a:avLst/>
          </a:prstGeom>
          <a:solidFill>
            <a:srgbClr val="37D6E8"/>
          </a:solidFill>
          <a:ln/>
        </p:spPr>
        <p:txBody>
          <a:bodyPr/>
          <a:p/>
        </p:txBody>
      </p:sp>
      <p:sp>
        <p:nvSpPr>
          <p:cNvPr id="13" name="Shape 34"/>
          <p:cNvSpPr/>
          <p:nvPr/>
        </p:nvSpPr>
        <p:spPr>
          <a:xfrm>
            <a:off x="3352810" y="3501924"/>
            <a:ext cx="2514443" cy="209545"/>
          </a:xfrm>
          <a:prstGeom prst="rect">
            <a:avLst/>
          </a:prstGeom>
          <a:solidFill>
            <a:srgbClr val="07111F"/>
          </a:solidFill>
          <a:ln/>
        </p:spPr>
        <p:txBody>
          <a:bodyPr/>
          <a:p/>
        </p:txBody>
      </p:sp>
      <p:sp>
        <p:nvSpPr>
          <p:cNvPr id="15" name="TextBox 41"/>
          <p:cNvSpPr/>
          <p:nvPr/>
        </p:nvSpPr>
        <p:spPr>
          <a:xfrm>
            <a:off x="814367" y="3844815"/>
            <a:ext cx="1109784" cy="160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67"/>
              </a:lnSpc>
              <a:buNone/>
            </a:pPr>
            <a:r>
              <a:rPr lang="en-US" sz="975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Quasi 1 gamer su 2</a:t>
            </a:r>
            <a:endParaRPr lang="en-US" sz="975" dirty="0"/>
          </a:p>
        </p:txBody>
      </p:sp>
      <p:sp>
        <p:nvSpPr>
          <p:cNvPr id="16" name="TextBox 43"/>
          <p:cNvSpPr/>
          <p:nvPr/>
        </p:nvSpPr>
        <p:spPr>
          <a:xfrm>
            <a:off x="2243530" y="3844815"/>
            <a:ext cx="2194560" cy="160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>
              <a:defRPr sz="1100" b="1">
                <a:solidFill>
                  <a:srgbClr val="F4F7FB"/>
                </a:solidFill>
              </a:defRPr>
            </a:pPr>
            <a:r>
              <a:t>Soglia parità (50%)</a:t>
            </a:r>
          </a:p>
        </p:txBody>
      </p:sp>
      <p:sp>
        <p:nvSpPr>
          <p:cNvPr id="17" name="TextBox 45"/>
          <p:cNvSpPr/>
          <p:nvPr/>
        </p:nvSpPr>
        <p:spPr>
          <a:xfrm>
            <a:off x="5293089" y="3844815"/>
            <a:ext cx="574165" cy="160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67"/>
              </a:lnSpc>
              <a:buNone/>
            </a:pPr>
            <a:r>
              <a:rPr lang="en-US" sz="975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ESA 2025</a:t>
            </a:r>
            <a:endParaRPr lang="en-US" sz="975" dirty="0"/>
          </a:p>
        </p:txBody>
      </p:sp>
      <p:sp>
        <p:nvSpPr>
          <p:cNvPr id="18" name="Shape 49"/>
          <p:cNvSpPr/>
          <p:nvPr/>
        </p:nvSpPr>
        <p:spPr>
          <a:xfrm>
            <a:off x="814367" y="4234289"/>
            <a:ext cx="5052886" cy="597084"/>
          </a:xfrm>
          <a:prstGeom prst="rect">
            <a:avLst/>
          </a:prstGeom>
          <a:noFill/>
          <a:ln/>
        </p:spPr>
        <p:txBody>
          <a:bodyPr/>
          <a:p/>
        </p:txBody>
      </p:sp>
      <p:pic>
        <p:nvPicPr>
          <p:cNvPr id="19" name="Picture 49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4367" y="4234289"/>
            <a:ext cx="5052886" cy="597084"/>
          </a:xfrm>
          <a:prstGeom prst="rect">
            <a:avLst/>
          </a:prstGeom>
        </p:spPr>
      </p:pic>
      <p:sp>
        <p:nvSpPr>
          <p:cNvPr id="20" name="TextBox 51"/>
          <p:cNvSpPr/>
          <p:nvPr/>
        </p:nvSpPr>
        <p:spPr>
          <a:xfrm>
            <a:off x="814367" y="4396210"/>
            <a:ext cx="5052886" cy="1794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1087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Europa:</a:t>
            </a:r>
            <a:r>
              <a:rPr lang="en-US" sz="1087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47,8% donne · 55 milioni di giocatrici (VGE)</a:t>
            </a:r>
            <a:endParaRPr lang="en-US" sz="1087" dirty="0"/>
          </a:p>
        </p:txBody>
      </p:sp>
      <p:sp>
        <p:nvSpPr>
          <p:cNvPr id="21" name="TextBox 53"/>
          <p:cNvSpPr/>
          <p:nvPr/>
        </p:nvSpPr>
        <p:spPr>
          <a:xfrm>
            <a:off x="814367" y="4651890"/>
            <a:ext cx="5052886" cy="1794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1087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Italia:</a:t>
            </a:r>
            <a:r>
              <a:rPr lang="en-US" sz="1087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41,0% donne · 5,7 milioni su 14M gamer (IIDEA)</a:t>
            </a:r>
            <a:endParaRPr lang="en-US" sz="1087" dirty="0"/>
          </a:p>
        </p:txBody>
      </p:sp>
      <p:sp>
        <p:nvSpPr>
          <p:cNvPr id="22" name="Shape 60"/>
          <p:cNvSpPr/>
          <p:nvPr/>
        </p:nvSpPr>
        <p:spPr>
          <a:xfrm>
            <a:off x="6324442" y="2889214"/>
            <a:ext cx="33337" cy="2148429"/>
          </a:xfrm>
          <a:prstGeom prst="roundRect">
            <a:avLst>
              <a:gd name="adj" fmla="val 49999"/>
            </a:avLst>
          </a:prstGeom>
          <a:solidFill>
            <a:srgbClr val="A78BFA"/>
          </a:solidFill>
          <a:ln/>
        </p:spPr>
        <p:txBody>
          <a:bodyPr/>
          <a:p/>
        </p:txBody>
      </p:sp>
      <p:sp>
        <p:nvSpPr>
          <p:cNvPr id="23" name="TextBox 64"/>
          <p:cNvSpPr/>
          <p:nvPr/>
        </p:nvSpPr>
        <p:spPr>
          <a:xfrm>
            <a:off x="6529224" y="2889214"/>
            <a:ext cx="5052886" cy="1422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2" b="1" spc="86" kern="0" dirty="0">
                <a:solidFill>
                  <a:srgbClr val="A78B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CRESCITA ANNUALE · ITALIA (IIDEA)</a:t>
            </a:r>
            <a:endParaRPr lang="en-US" sz="862" dirty="0"/>
          </a:p>
        </p:txBody>
      </p:sp>
      <p:sp>
        <p:nvSpPr>
          <p:cNvPr id="24" name="Shape 68"/>
          <p:cNvSpPr/>
          <p:nvPr/>
        </p:nvSpPr>
        <p:spPr>
          <a:xfrm>
            <a:off x="6529224" y="3221985"/>
            <a:ext cx="2459770" cy="1066178"/>
          </a:xfrm>
          <a:prstGeom prst="roundRect">
            <a:avLst>
              <a:gd name="adj" fmla="val 10720"/>
            </a:avLst>
          </a:prstGeom>
          <a:solidFill>
            <a:srgbClr val="0A182A">
              <a:alpha val="55000"/>
            </a:srgbClr>
          </a:solidFill>
          <a:ln w="9525">
            <a:solidFill>
              <a:srgbClr val="37D6E8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Box 70"/>
          <p:cNvSpPr/>
          <p:nvPr/>
        </p:nvSpPr>
        <p:spPr>
          <a:xfrm>
            <a:off x="6672096" y="3345807"/>
            <a:ext cx="1216937" cy="180970"/>
          </a:xfrm>
          <a:prstGeom prst="roundRect">
            <a:avLst>
              <a:gd name="adj" fmla="val 21053"/>
            </a:avLst>
          </a:prstGeom>
          <a:solidFill>
            <a:srgbClr val="37D6E8">
              <a:alpha val="12000"/>
            </a:srgbClr>
          </a:solidFill>
          <a:ln w="9525">
            <a:solidFill>
              <a:srgbClr val="37D6E8">
                <a:alpha val="30000"/>
              </a:srgbClr>
            </a:solidFill>
            <a:prstDash val="solid"/>
          </a:ln>
        </p:spPr>
        <p:txBody>
          <a:bodyPr wrap="square" lIns="76198" tIns="19050" rIns="76198" bIns="19050" rtlCol="0" anchor="t">
            <a:spAutoFit/>
          </a:bodyPr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b="1" spc="45" kern="0" dirty="0">
                <a:solidFill>
                  <a:srgbClr val="37D6E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TRAINO DEL MERCATO</a:t>
            </a:r>
            <a:endParaRPr lang="en-US" sz="750" dirty="0"/>
          </a:p>
        </p:txBody>
      </p:sp>
      <p:sp>
        <p:nvSpPr>
          <p:cNvPr id="26" name="TextBox 72"/>
          <p:cNvSpPr/>
          <p:nvPr/>
        </p:nvSpPr>
        <p:spPr>
          <a:xfrm>
            <a:off x="6672096" y="3593451"/>
            <a:ext cx="2011680" cy="361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850" b="1" spc="-85" kern="0" dirty="0">
                <a:solidFill>
                  <a:srgbClr val="37D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+14,0%</a:t>
            </a:r>
            <a:endParaRPr lang="en-US" sz="2850" dirty="0"/>
          </a:p>
        </p:txBody>
      </p:sp>
      <p:sp>
        <p:nvSpPr>
          <p:cNvPr id="27" name="TextBox 74"/>
          <p:cNvSpPr/>
          <p:nvPr/>
        </p:nvSpPr>
        <p:spPr>
          <a:xfrm>
            <a:off x="6672096" y="4022065"/>
            <a:ext cx="2174027" cy="1422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2" b="1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GIOCATRICI DONNE</a:t>
            </a:r>
            <a:endParaRPr lang="en-US" sz="862" dirty="0"/>
          </a:p>
        </p:txBody>
      </p:sp>
      <p:sp>
        <p:nvSpPr>
          <p:cNvPr id="28" name="Shape 77"/>
          <p:cNvSpPr/>
          <p:nvPr/>
        </p:nvSpPr>
        <p:spPr>
          <a:xfrm>
            <a:off x="9122341" y="3221985"/>
            <a:ext cx="2459770" cy="1066178"/>
          </a:xfrm>
          <a:prstGeom prst="roundRect">
            <a:avLst>
              <a:gd name="adj" fmla="val 10720"/>
            </a:avLst>
          </a:prstGeom>
          <a:solidFill>
            <a:srgbClr val="0A182A">
              <a:alpha val="55000"/>
            </a:srgbClr>
          </a:solidFill>
          <a:ln w="9525">
            <a:solidFill>
              <a:srgbClr val="A78BFA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Box 79"/>
          <p:cNvSpPr/>
          <p:nvPr/>
        </p:nvSpPr>
        <p:spPr>
          <a:xfrm>
            <a:off x="9265212" y="3345807"/>
            <a:ext cx="1100854" cy="180970"/>
          </a:xfrm>
          <a:prstGeom prst="roundRect">
            <a:avLst>
              <a:gd name="adj" fmla="val 21053"/>
            </a:avLst>
          </a:prstGeom>
          <a:solidFill>
            <a:srgbClr val="A78BFA">
              <a:alpha val="12000"/>
            </a:srgbClr>
          </a:solidFill>
          <a:ln w="9525">
            <a:solidFill>
              <a:srgbClr val="A78BFA">
                <a:alpha val="30000"/>
              </a:srgbClr>
            </a:solidFill>
            <a:prstDash val="solid"/>
          </a:ln>
        </p:spPr>
        <p:txBody>
          <a:bodyPr wrap="square" lIns="76198" tIns="19050" rIns="76198" bIns="19050" rtlCol="0" anchor="t">
            <a:spAutoFit/>
          </a:bodyPr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b="1" spc="45" kern="0" dirty="0">
                <a:solidFill>
                  <a:srgbClr val="A78B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CRESCITA STABILE</a:t>
            </a:r>
            <a:endParaRPr lang="en-US" sz="750" dirty="0"/>
          </a:p>
        </p:txBody>
      </p:sp>
      <p:sp>
        <p:nvSpPr>
          <p:cNvPr id="30" name="TextBox 81"/>
          <p:cNvSpPr/>
          <p:nvPr/>
        </p:nvSpPr>
        <p:spPr>
          <a:xfrm>
            <a:off x="9265212" y="3593451"/>
            <a:ext cx="2011680" cy="36194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850" b="1" spc="-85" kern="0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+2,5%</a:t>
            </a:r>
            <a:endParaRPr lang="en-US" sz="2850" dirty="0"/>
          </a:p>
        </p:txBody>
      </p:sp>
      <p:sp>
        <p:nvSpPr>
          <p:cNvPr id="31" name="TextBox 83"/>
          <p:cNvSpPr/>
          <p:nvPr/>
        </p:nvSpPr>
        <p:spPr>
          <a:xfrm>
            <a:off x="9265212" y="4022065"/>
            <a:ext cx="2174027" cy="1422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2" b="1" dirty="0">
                <a:solidFill>
                  <a:srgbClr val="F4F7F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GIOCATORI UOMINI</a:t>
            </a:r>
            <a:endParaRPr lang="en-US" sz="862" dirty="0"/>
          </a:p>
        </p:txBody>
      </p:sp>
      <p:sp>
        <p:nvSpPr>
          <p:cNvPr id="32" name="Shape 87"/>
          <p:cNvSpPr/>
          <p:nvPr/>
        </p:nvSpPr>
        <p:spPr>
          <a:xfrm>
            <a:off x="6529224" y="4516758"/>
            <a:ext cx="5052886" cy="520885"/>
          </a:xfrm>
          <a:prstGeom prst="rect">
            <a:avLst/>
          </a:prstGeom>
          <a:noFill/>
          <a:ln/>
        </p:spPr>
        <p:txBody>
          <a:bodyPr/>
          <a:p/>
        </p:txBody>
      </p:sp>
      <p:pic>
        <p:nvPicPr>
          <p:cNvPr id="33" name="Picture 87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29224" y="4516758"/>
            <a:ext cx="5052886" cy="520885"/>
          </a:xfrm>
          <a:prstGeom prst="rect">
            <a:avLst/>
          </a:prstGeom>
        </p:spPr>
      </p:pic>
      <p:sp>
        <p:nvSpPr>
          <p:cNvPr id="34" name="TextBox 89"/>
          <p:cNvSpPr/>
          <p:nvPr/>
        </p:nvSpPr>
        <p:spPr>
          <a:xfrm>
            <a:off x="6529224" y="4678679"/>
            <a:ext cx="5052886" cy="358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1087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Dinamica di settore:</a:t>
            </a:r>
            <a:r>
              <a:rPr lang="en-US" sz="1087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l'espansione dei videogiocatori in Italia è trainata in modo predominante dall'ingresso del pubblico femminile.</a:t>
            </a:r>
            <a:endParaRPr lang="en-US" sz="1087" dirty="0"/>
          </a:p>
        </p:txBody>
      </p:sp>
      <p:sp>
        <p:nvSpPr>
          <p:cNvPr id="35" name="Shape 97"/>
          <p:cNvSpPr/>
          <p:nvPr/>
        </p:nvSpPr>
        <p:spPr>
          <a:xfrm>
            <a:off x="609585" y="5399584"/>
            <a:ext cx="38099" cy="304792"/>
          </a:xfrm>
          <a:prstGeom prst="roundRect">
            <a:avLst>
              <a:gd name="adj" fmla="val 50000"/>
            </a:avLst>
          </a:prstGeom>
          <a:solidFill>
            <a:srgbClr val="37D6E8"/>
          </a:solidFill>
          <a:ln/>
        </p:spPr>
        <p:txBody>
          <a:bodyPr/>
          <a:p/>
        </p:txBody>
      </p:sp>
      <p:sp>
        <p:nvSpPr>
          <p:cNvPr id="36" name="TextBox 99"/>
          <p:cNvSpPr/>
          <p:nvPr/>
        </p:nvSpPr>
        <p:spPr>
          <a:xfrm>
            <a:off x="800080" y="5428158"/>
            <a:ext cx="7526050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problema non è l'assenza delle donne nel gaming, ma la loro </a:t>
            </a:r>
            <a:r>
              <a:rPr lang="en-US" sz="1500" b="1" dirty="0">
                <a:solidFill>
                  <a:srgbClr val="37D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invisibilità culturale</a:t>
            </a:r>
            <a:r>
              <a:rPr lang="en-US" sz="15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500" dirty="0"/>
          </a:p>
        </p:txBody>
      </p:sp>
      <p:sp>
        <p:nvSpPr>
          <p:cNvPr id="37" name="TextBox 102"/>
          <p:cNvSpPr/>
          <p:nvPr/>
        </p:nvSpPr>
        <p:spPr>
          <a:xfrm>
            <a:off x="609585" y="6562647"/>
            <a:ext cx="3059383" cy="123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spc="60" kern="0" dirty="0">
                <a:solidFill>
                  <a:srgbClr val="A9B8CC">
                    <a:alpha val="66000"/>
                  </a:srgbClr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Gender &amp; Inclusion · Università di Roma Tor Vergata</a:t>
            </a:r>
            <a:endParaRPr lang="en-US" sz="750" dirty="0"/>
          </a:p>
        </p:txBody>
      </p:sp>
      <p:sp>
        <p:nvSpPr>
          <p:cNvPr id="38" name="TextBox 1"/>
          <p:cNvSpPr/>
          <p:nvPr/>
        </p:nvSpPr>
        <p:spPr>
          <a:xfrm>
            <a:off x="11862043" y="6518890"/>
            <a:ext cx="62953" cy="14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A9B8C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86"/>
            <a:ext cx="12191695" cy="6857829"/>
          </a:xfrm>
          <a:prstGeom prst="rect">
            <a:avLst/>
          </a:prstGeom>
          <a:solidFill>
            <a:srgbClr val="07111F"/>
          </a:solidFill>
          <a:ln/>
        </p:spPr>
        <p:txBody>
          <a:bodyPr/>
          <a:p/>
        </p:txBody>
      </p:sp>
      <p:sp>
        <p:nvSpPr>
          <p:cNvPr id="3" name="TextBox 3"/>
          <p:cNvSpPr/>
          <p:nvPr/>
        </p:nvSpPr>
        <p:spPr>
          <a:xfrm>
            <a:off x="9144000" y="438225"/>
            <a:ext cx="2560320" cy="288571"/>
          </a:xfrm>
          <a:prstGeom prst="roundRect">
            <a:avLst>
              <a:gd name="adj" fmla="val 50000"/>
            </a:avLst>
          </a:prstGeom>
          <a:solidFill>
            <a:srgbClr val="07111F">
              <a:alpha val="72000"/>
            </a:srgbClr>
          </a:solidFill>
          <a:ln w="9525">
            <a:solidFill>
              <a:srgbClr val="A78BFA">
                <a:alpha val="60000"/>
              </a:srgbClr>
            </a:solidFill>
            <a:prstDash val="solid"/>
          </a:ln>
        </p:spPr>
        <p:txBody>
          <a:bodyPr wrap="none" lIns="114297" tIns="66673" rIns="114297" bIns="66673" rtlCol="0" anchor="t">
            <a:spAutoFit/>
          </a:bodyPr>
          <a:lstStyle/>
          <a:p>
            <a:pPr algn="l" indent="0" marL="0">
              <a:lnSpc>
                <a:spcPts val="1072"/>
              </a:lnSpc>
              <a:buNone/>
              <a:defRPr sz="1100" b="1"/>
            </a:pPr>
            <a:r>
              <a:rPr lang="en-US" sz="825" b="1" spc="82" kern="0" dirty="0">
                <a:solidFill>
                  <a:srgbClr val="A78B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 · VALERIO BERNARDI</a:t>
            </a:r>
            <a:endParaRPr lang="en-US" sz="825" dirty="0"/>
          </a:p>
        </p:txBody>
      </p:sp>
      <p:sp>
        <p:nvSpPr>
          <p:cNvPr id="4" name="TextBox 5"/>
          <p:cNvSpPr/>
          <p:nvPr/>
        </p:nvSpPr>
        <p:spPr>
          <a:xfrm>
            <a:off x="609585" y="876661"/>
            <a:ext cx="10972526" cy="160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67"/>
              </a:lnSpc>
              <a:buNone/>
            </a:pPr>
            <a:r>
              <a:rPr lang="en-US" sz="975" b="1" spc="156" kern="0" dirty="0">
                <a:solidFill>
                  <a:srgbClr val="FF6B6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 / ESPERIENZA ONLINE</a:t>
            </a:r>
            <a:endParaRPr lang="en-US" sz="975" dirty="0"/>
          </a:p>
        </p:txBody>
      </p:sp>
      <p:sp>
        <p:nvSpPr>
          <p:cNvPr id="5" name="TextBox 7"/>
          <p:cNvSpPr/>
          <p:nvPr/>
        </p:nvSpPr>
        <p:spPr>
          <a:xfrm>
            <a:off x="609585" y="1180412"/>
            <a:ext cx="9048524" cy="937147"/>
          </a:xfrm>
          <a:prstGeom prst="rect">
            <a:avLst/>
          </a:prstGeom>
          <a:noFill/>
          <a:ln/>
        </p:spPr>
        <p:txBody>
          <a:bodyPr wrap="square" lIns="0" tIns="0" rIns="0" bIns="117155" rtlCol="0" anchor="t">
            <a:spAutoFit/>
          </a:bodyPr>
          <a:lstStyle/>
          <a:p>
            <a:pPr algn="l" indent="0" marL="0">
              <a:lnSpc>
                <a:spcPts val="3229"/>
              </a:lnSpc>
              <a:buNone/>
            </a:pPr>
            <a:r>
              <a:rPr lang="en-US" sz="3075" b="1" spc="-77" kern="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Quando basta una voce per diventare un </a:t>
            </a:r>
            <a:r>
              <a:rPr lang="en-US" sz="3075" b="1" spc="-77" kern="0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bersaglio</a:t>
            </a:r>
            <a:endParaRPr lang="en-US" sz="3075" dirty="0"/>
          </a:p>
        </p:txBody>
      </p:sp>
      <p:sp>
        <p:nvSpPr>
          <p:cNvPr id="6" name="TextBox 9"/>
          <p:cNvSpPr/>
          <p:nvPr/>
        </p:nvSpPr>
        <p:spPr>
          <a:xfrm>
            <a:off x="609585" y="2384253"/>
            <a:ext cx="10972526" cy="514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L'attivazione del microfono, il più delle volte, rivela l'identità femminile esponendo l'individuo a un'immediata ostilità nei suoi confronti.</a:t>
            </a:r>
            <a:endParaRPr lang="en-US" sz="1500" dirty="0"/>
          </a:p>
        </p:txBody>
      </p:sp>
      <p:sp>
        <p:nvSpPr>
          <p:cNvPr id="7" name="Shape 15"/>
          <p:cNvSpPr/>
          <p:nvPr/>
        </p:nvSpPr>
        <p:spPr>
          <a:xfrm>
            <a:off x="609585" y="3127184"/>
            <a:ext cx="33337" cy="1420380"/>
          </a:xfrm>
          <a:prstGeom prst="roundRect">
            <a:avLst>
              <a:gd name="adj" fmla="val 49999"/>
            </a:avLst>
          </a:prstGeom>
          <a:solidFill>
            <a:srgbClr val="FF6B6B"/>
          </a:solidFill>
          <a:ln/>
          <a:effectLst>
            <a:outerShdw sx="100000" sy="100000" kx="0" ky="0" algn="bl" rotWithShape="0" blurRad="95248" dist="50800" dir="16200000">
              <a:srgbClr val="FF6B6B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8" name="TextBox 19"/>
          <p:cNvSpPr/>
          <p:nvPr/>
        </p:nvSpPr>
        <p:spPr>
          <a:xfrm>
            <a:off x="814367" y="3127184"/>
            <a:ext cx="5110035" cy="1422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2" b="1" spc="86" kern="0" dirty="0">
                <a:solidFill>
                  <a:srgbClr val="FF6B6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ADL · HATE IS NO GAME REPORT 2024</a:t>
            </a:r>
            <a:endParaRPr lang="en-US" sz="862" dirty="0"/>
          </a:p>
        </p:txBody>
      </p:sp>
      <p:sp>
        <p:nvSpPr>
          <p:cNvPr id="9" name="TextBox 21"/>
          <p:cNvSpPr/>
          <p:nvPr/>
        </p:nvSpPr>
        <p:spPr>
          <a:xfrm>
            <a:off x="814367" y="3421856"/>
            <a:ext cx="5110035" cy="571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4500" b="1" spc="-225" kern="0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76%</a:t>
            </a:r>
            <a:endParaRPr lang="en-US" sz="4500" dirty="0"/>
          </a:p>
        </p:txBody>
      </p:sp>
      <p:sp>
        <p:nvSpPr>
          <p:cNvPr id="10" name="TextBox 23"/>
          <p:cNvSpPr/>
          <p:nvPr/>
        </p:nvSpPr>
        <p:spPr>
          <a:xfrm>
            <a:off x="814367" y="4050491"/>
            <a:ext cx="5110035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 subito </a:t>
            </a:r>
            <a:r>
              <a:rPr lang="en-US" sz="15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molestie nelle partite online</a:t>
            </a:r>
            <a:endParaRPr lang="en-US" sz="1500" dirty="0"/>
          </a:p>
        </p:txBody>
      </p:sp>
      <p:sp>
        <p:nvSpPr>
          <p:cNvPr id="11" name="TextBox 25"/>
          <p:cNvSpPr/>
          <p:nvPr/>
        </p:nvSpPr>
        <p:spPr>
          <a:xfrm>
            <a:off x="814367" y="4374333"/>
            <a:ext cx="5110035" cy="17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Insulti, minacce e comportamenti tossici durante il gioco competitivo</a:t>
            </a:r>
            <a:endParaRPr lang="en-US" sz="1050" dirty="0"/>
          </a:p>
        </p:txBody>
      </p:sp>
      <p:sp>
        <p:nvSpPr>
          <p:cNvPr id="12" name="Shape 31"/>
          <p:cNvSpPr/>
          <p:nvPr/>
        </p:nvSpPr>
        <p:spPr>
          <a:xfrm>
            <a:off x="6267293" y="3127184"/>
            <a:ext cx="33337" cy="1420380"/>
          </a:xfrm>
          <a:prstGeom prst="roundRect">
            <a:avLst>
              <a:gd name="adj" fmla="val 49999"/>
            </a:avLst>
          </a:prstGeom>
          <a:solidFill>
            <a:srgbClr val="FF6B6B"/>
          </a:solidFill>
          <a:ln/>
          <a:effectLst>
            <a:outerShdw sx="100000" sy="100000" kx="0" ky="0" algn="bl" rotWithShape="0" blurRad="95248" dist="50800" dir="16200000">
              <a:srgbClr val="FF6B6B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13" name="TextBox 35"/>
          <p:cNvSpPr/>
          <p:nvPr/>
        </p:nvSpPr>
        <p:spPr>
          <a:xfrm>
            <a:off x="6472076" y="3127184"/>
            <a:ext cx="5110035" cy="1422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2" b="1" spc="86" kern="0" dirty="0">
                <a:solidFill>
                  <a:srgbClr val="FF6B6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PRIMO TARGET IDENTITY-BASED DAL 2019</a:t>
            </a:r>
            <a:endParaRPr lang="en-US" sz="862" dirty="0"/>
          </a:p>
        </p:txBody>
      </p:sp>
      <p:sp>
        <p:nvSpPr>
          <p:cNvPr id="14" name="TextBox 37"/>
          <p:cNvSpPr/>
          <p:nvPr/>
        </p:nvSpPr>
        <p:spPr>
          <a:xfrm>
            <a:off x="6472076" y="3421856"/>
            <a:ext cx="5110035" cy="571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4500" b="1" spc="-225" kern="0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48%</a:t>
            </a:r>
            <a:endParaRPr lang="en-US" sz="4500" dirty="0"/>
          </a:p>
        </p:txBody>
      </p:sp>
      <p:sp>
        <p:nvSpPr>
          <p:cNvPr id="15" name="TextBox 39"/>
          <p:cNvSpPr/>
          <p:nvPr/>
        </p:nvSpPr>
        <p:spPr>
          <a:xfrm>
            <a:off x="6472076" y="4050491"/>
            <a:ext cx="5110035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delle giocatrici: </a:t>
            </a:r>
            <a:r>
              <a:rPr lang="en-US" sz="15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molestie mirate al genere</a:t>
            </a:r>
            <a:endParaRPr lang="en-US" sz="1500" dirty="0"/>
          </a:p>
        </p:txBody>
      </p:sp>
      <p:sp>
        <p:nvSpPr>
          <p:cNvPr id="16" name="TextBox 41"/>
          <p:cNvSpPr/>
          <p:nvPr/>
        </p:nvSpPr>
        <p:spPr>
          <a:xfrm>
            <a:off x="6472076" y="4374333"/>
            <a:ext cx="5110035" cy="17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Bersaglio più frequente rispetto a qualsiasi altra categoria d'identità</a:t>
            </a:r>
            <a:endParaRPr lang="en-US" sz="1050" dirty="0"/>
          </a:p>
        </p:txBody>
      </p:sp>
      <p:sp>
        <p:nvSpPr>
          <p:cNvPr id="17" name="TextBox 46"/>
          <p:cNvSpPr/>
          <p:nvPr/>
        </p:nvSpPr>
        <p:spPr>
          <a:xfrm>
            <a:off x="609585" y="4738059"/>
            <a:ext cx="10972526" cy="148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spc="108" kern="0" dirty="0">
                <a:solidFill>
                  <a:srgbClr val="A9B8C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COME SI DIFENDONO LE GIOCATRICI ONLINE</a:t>
            </a:r>
            <a:endParaRPr lang="en-US" sz="900" dirty="0"/>
          </a:p>
        </p:txBody>
      </p:sp>
      <p:sp>
        <p:nvSpPr>
          <p:cNvPr id="18" name="Shape 50"/>
          <p:cNvSpPr/>
          <p:nvPr/>
        </p:nvSpPr>
        <p:spPr>
          <a:xfrm>
            <a:off x="609585" y="5019933"/>
            <a:ext cx="3543211" cy="704832"/>
          </a:xfrm>
          <a:prstGeom prst="roundRect">
            <a:avLst>
              <a:gd name="adj" fmla="val 16216"/>
            </a:avLst>
          </a:prstGeom>
          <a:solidFill>
            <a:srgbClr val="0F2138">
              <a:alpha val="75000"/>
            </a:srgbClr>
          </a:solidFill>
          <a:ln/>
          <a:effectLst>
            <a:outerShdw sx="100000" sy="100000" kx="0" ky="0" algn="bl" rotWithShape="0" blurRad="228594" dist="76198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19" name="Picture 50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585" y="5019933"/>
            <a:ext cx="3543211" cy="704832"/>
          </a:xfrm>
          <a:prstGeom prst="rect">
            <a:avLst/>
          </a:prstGeom>
        </p:spPr>
      </p:pic>
      <p:sp>
        <p:nvSpPr>
          <p:cNvPr id="20" name="Shape 52"/>
          <p:cNvSpPr/>
          <p:nvPr/>
        </p:nvSpPr>
        <p:spPr>
          <a:xfrm>
            <a:off x="809605" y="5153280"/>
            <a:ext cx="438139" cy="438139"/>
          </a:xfrm>
          <a:prstGeom prst="roundRect">
            <a:avLst>
              <a:gd name="adj" fmla="val 21739"/>
            </a:avLst>
          </a:prstGeom>
          <a:solidFill>
            <a:srgbClr val="FF6B6B">
              <a:alpha val="10000"/>
            </a:srgbClr>
          </a:solidFill>
          <a:ln w="9525">
            <a:solidFill>
              <a:srgbClr val="FF6B6B">
                <a:alpha val="3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1" name="Picture 53" descr="__type_ima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852" y="5248527"/>
            <a:ext cx="247644" cy="247644"/>
          </a:xfrm>
          <a:prstGeom prst="rect">
            <a:avLst/>
          </a:prstGeom>
        </p:spPr>
      </p:pic>
      <p:sp>
        <p:nvSpPr>
          <p:cNvPr id="22" name="TextBox 57"/>
          <p:cNvSpPr/>
          <p:nvPr/>
        </p:nvSpPr>
        <p:spPr>
          <a:xfrm>
            <a:off x="1400140" y="5177091"/>
            <a:ext cx="2478522" cy="210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57"/>
              </a:lnSpc>
              <a:buNone/>
            </a:pPr>
            <a:r>
              <a:rPr lang="en-US" sz="1275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Microfono in mute</a:t>
            </a:r>
            <a:endParaRPr lang="en-US" sz="1275" dirty="0"/>
          </a:p>
        </p:txBody>
      </p:sp>
      <p:sp>
        <p:nvSpPr>
          <p:cNvPr id="23" name="TextBox 59"/>
          <p:cNvSpPr/>
          <p:nvPr/>
        </p:nvSpPr>
        <p:spPr>
          <a:xfrm>
            <a:off x="1400140" y="5406579"/>
            <a:ext cx="2478522" cy="160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67"/>
              </a:lnSpc>
              <a:buNone/>
            </a:pPr>
            <a:r>
              <a:rPr lang="en-US" sz="975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Rinuncia forzata alla </a:t>
            </a:r>
            <a:r>
              <a:rPr lang="en-US" sz="975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voice chat</a:t>
            </a:r>
            <a:r>
              <a:rPr lang="en-US" sz="975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di squadra</a:t>
            </a:r>
            <a:endParaRPr lang="en-US" sz="975" dirty="0"/>
          </a:p>
        </p:txBody>
      </p:sp>
      <p:sp>
        <p:nvSpPr>
          <p:cNvPr id="24" name="Shape 63"/>
          <p:cNvSpPr/>
          <p:nvPr/>
        </p:nvSpPr>
        <p:spPr>
          <a:xfrm>
            <a:off x="4324242" y="5019933"/>
            <a:ext cx="3543211" cy="704832"/>
          </a:xfrm>
          <a:prstGeom prst="roundRect">
            <a:avLst>
              <a:gd name="adj" fmla="val 16216"/>
            </a:avLst>
          </a:prstGeom>
          <a:solidFill>
            <a:srgbClr val="0F2138">
              <a:alpha val="75000"/>
            </a:srgbClr>
          </a:solidFill>
          <a:ln/>
          <a:effectLst>
            <a:outerShdw sx="100000" sy="100000" kx="0" ky="0" algn="bl" rotWithShape="0" blurRad="228594" dist="76198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25" name="Picture 63" descr="__type_image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24242" y="5019933"/>
            <a:ext cx="3543211" cy="704832"/>
          </a:xfrm>
          <a:prstGeom prst="rect">
            <a:avLst/>
          </a:prstGeom>
        </p:spPr>
      </p:pic>
      <p:sp>
        <p:nvSpPr>
          <p:cNvPr id="26" name="Shape 65"/>
          <p:cNvSpPr/>
          <p:nvPr/>
        </p:nvSpPr>
        <p:spPr>
          <a:xfrm>
            <a:off x="4524262" y="5153280"/>
            <a:ext cx="438139" cy="438139"/>
          </a:xfrm>
          <a:prstGeom prst="roundRect">
            <a:avLst>
              <a:gd name="adj" fmla="val 21739"/>
            </a:avLst>
          </a:prstGeom>
          <a:solidFill>
            <a:srgbClr val="FF6B6B">
              <a:alpha val="10000"/>
            </a:srgbClr>
          </a:solidFill>
          <a:ln w="9525">
            <a:solidFill>
              <a:srgbClr val="FF6B6B">
                <a:alpha val="3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7" name="Picture 66" descr="__type_imag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9510" y="5248527"/>
            <a:ext cx="247644" cy="247644"/>
          </a:xfrm>
          <a:prstGeom prst="rect">
            <a:avLst/>
          </a:prstGeom>
        </p:spPr>
      </p:pic>
      <p:sp>
        <p:nvSpPr>
          <p:cNvPr id="28" name="TextBox 70"/>
          <p:cNvSpPr/>
          <p:nvPr/>
        </p:nvSpPr>
        <p:spPr>
          <a:xfrm>
            <a:off x="5114797" y="5177091"/>
            <a:ext cx="2263470" cy="210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57"/>
              </a:lnSpc>
              <a:buNone/>
            </a:pPr>
            <a:r>
              <a:rPr lang="en-US" sz="1275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Nickname neutro</a:t>
            </a:r>
            <a:endParaRPr lang="en-US" sz="1275" dirty="0"/>
          </a:p>
        </p:txBody>
      </p:sp>
      <p:sp>
        <p:nvSpPr>
          <p:cNvPr id="29" name="TextBox 72"/>
          <p:cNvSpPr/>
          <p:nvPr/>
        </p:nvSpPr>
        <p:spPr>
          <a:xfrm>
            <a:off x="5114797" y="5406579"/>
            <a:ext cx="2263470" cy="160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67"/>
              </a:lnSpc>
              <a:buNone/>
            </a:pPr>
            <a:r>
              <a:rPr lang="en-US" sz="975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Mascheramento dell'</a:t>
            </a:r>
            <a:r>
              <a:rPr lang="en-US" sz="975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identità di genere</a:t>
            </a:r>
            <a:endParaRPr lang="en-US" sz="975" dirty="0"/>
          </a:p>
        </p:txBody>
      </p:sp>
      <p:sp>
        <p:nvSpPr>
          <p:cNvPr id="30" name="Shape 76"/>
          <p:cNvSpPr/>
          <p:nvPr/>
        </p:nvSpPr>
        <p:spPr>
          <a:xfrm>
            <a:off x="8038899" y="5019933"/>
            <a:ext cx="3543211" cy="704832"/>
          </a:xfrm>
          <a:prstGeom prst="roundRect">
            <a:avLst>
              <a:gd name="adj" fmla="val 16216"/>
            </a:avLst>
          </a:prstGeom>
          <a:solidFill>
            <a:srgbClr val="0F2138">
              <a:alpha val="75000"/>
            </a:srgbClr>
          </a:solidFill>
          <a:ln/>
          <a:effectLst>
            <a:outerShdw sx="100000" sy="100000" kx="0" ky="0" algn="bl" rotWithShape="0" blurRad="228594" dist="76198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31" name="Picture 76" descr="__type_image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38899" y="5019933"/>
            <a:ext cx="3543211" cy="704832"/>
          </a:xfrm>
          <a:prstGeom prst="rect">
            <a:avLst/>
          </a:prstGeom>
        </p:spPr>
      </p:pic>
      <p:sp>
        <p:nvSpPr>
          <p:cNvPr id="32" name="Shape 78"/>
          <p:cNvSpPr/>
          <p:nvPr/>
        </p:nvSpPr>
        <p:spPr>
          <a:xfrm>
            <a:off x="8238919" y="5153280"/>
            <a:ext cx="438139" cy="438139"/>
          </a:xfrm>
          <a:prstGeom prst="roundRect">
            <a:avLst>
              <a:gd name="adj" fmla="val 21739"/>
            </a:avLst>
          </a:prstGeom>
          <a:solidFill>
            <a:srgbClr val="FF6B6B">
              <a:alpha val="10000"/>
            </a:srgbClr>
          </a:solidFill>
          <a:ln w="9525">
            <a:solidFill>
              <a:srgbClr val="FF6B6B">
                <a:alpha val="35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3" name="Picture 79" descr="__type_imag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34167" y="5248527"/>
            <a:ext cx="247644" cy="247644"/>
          </a:xfrm>
          <a:prstGeom prst="rect">
            <a:avLst/>
          </a:prstGeom>
        </p:spPr>
      </p:pic>
      <p:sp>
        <p:nvSpPr>
          <p:cNvPr id="34" name="TextBox 83"/>
          <p:cNvSpPr/>
          <p:nvPr/>
        </p:nvSpPr>
        <p:spPr>
          <a:xfrm>
            <a:off x="8829454" y="5177091"/>
            <a:ext cx="1911352" cy="210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57"/>
              </a:lnSpc>
              <a:buNone/>
            </a:pPr>
            <a:r>
              <a:rPr lang="en-US" sz="1275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Solo party chiusi</a:t>
            </a:r>
            <a:endParaRPr lang="en-US" sz="1275" dirty="0"/>
          </a:p>
        </p:txBody>
      </p:sp>
      <p:sp>
        <p:nvSpPr>
          <p:cNvPr id="35" name="TextBox 85"/>
          <p:cNvSpPr/>
          <p:nvPr/>
        </p:nvSpPr>
        <p:spPr>
          <a:xfrm>
            <a:off x="8829454" y="5406579"/>
            <a:ext cx="1911352" cy="160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67"/>
              </a:lnSpc>
              <a:buNone/>
            </a:pPr>
            <a:r>
              <a:rPr lang="en-US" sz="975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Ritiro dal </a:t>
            </a:r>
            <a:r>
              <a:rPr lang="en-US" sz="975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matchmaking pubblico</a:t>
            </a:r>
            <a:endParaRPr lang="en-US" sz="975" dirty="0"/>
          </a:p>
        </p:txBody>
      </p:sp>
      <p:sp>
        <p:nvSpPr>
          <p:cNvPr id="36" name="TextBox 90"/>
          <p:cNvSpPr/>
          <p:nvPr/>
        </p:nvSpPr>
        <p:spPr>
          <a:xfrm>
            <a:off x="609585" y="5915260"/>
            <a:ext cx="10972526" cy="1422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2" spc="26" kern="0" dirty="0">
                <a:solidFill>
                  <a:srgbClr val="A9B8C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FONTI: WELLS ET AL., 2025 (RITIRO DALLA CHAT O ABBANDONO) · GAMERGATE 2014–15 (UN PRECEDENTE ANCORA ATTUALE)</a:t>
            </a:r>
            <a:endParaRPr lang="en-US" sz="862" dirty="0"/>
          </a:p>
        </p:txBody>
      </p:sp>
      <p:sp>
        <p:nvSpPr>
          <p:cNvPr id="37" name="TextBox 92"/>
          <p:cNvSpPr/>
          <p:nvPr/>
        </p:nvSpPr>
        <p:spPr>
          <a:xfrm>
            <a:off x="609585" y="6562647"/>
            <a:ext cx="3059383" cy="123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spc="60" kern="0" dirty="0">
                <a:solidFill>
                  <a:srgbClr val="A9B8CC">
                    <a:alpha val="66000"/>
                  </a:srgbClr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Gender &amp; Inclusion · Università di Roma Tor Vergata</a:t>
            </a:r>
            <a:endParaRPr lang="en-US" sz="750" dirty="0"/>
          </a:p>
        </p:txBody>
      </p:sp>
      <p:sp>
        <p:nvSpPr>
          <p:cNvPr id="38" name="TextBox 1"/>
          <p:cNvSpPr/>
          <p:nvPr/>
        </p:nvSpPr>
        <p:spPr>
          <a:xfrm>
            <a:off x="11862043" y="6518890"/>
            <a:ext cx="62953" cy="14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A9B8C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86"/>
            <a:ext cx="12191695" cy="6857829"/>
          </a:xfrm>
          <a:prstGeom prst="rect">
            <a:avLst/>
          </a:prstGeom>
          <a:solidFill>
            <a:srgbClr val="07111F"/>
          </a:solidFill>
          <a:ln/>
        </p:spPr>
        <p:txBody>
          <a:bodyPr/>
          <a:p/>
        </p:txBody>
      </p:sp>
      <p:sp>
        <p:nvSpPr>
          <p:cNvPr id="3" name="TextBox 3"/>
          <p:cNvSpPr/>
          <p:nvPr/>
        </p:nvSpPr>
        <p:spPr>
          <a:xfrm>
            <a:off x="9144000" y="438225"/>
            <a:ext cx="2560320" cy="288571"/>
          </a:xfrm>
          <a:prstGeom prst="roundRect">
            <a:avLst>
              <a:gd name="adj" fmla="val 50000"/>
            </a:avLst>
          </a:prstGeom>
          <a:solidFill>
            <a:srgbClr val="07111F">
              <a:alpha val="72000"/>
            </a:srgbClr>
          </a:solidFill>
          <a:ln w="9525">
            <a:solidFill>
              <a:srgbClr val="A78BFA">
                <a:alpha val="60000"/>
              </a:srgbClr>
            </a:solidFill>
            <a:prstDash val="solid"/>
          </a:ln>
        </p:spPr>
        <p:txBody>
          <a:bodyPr wrap="none" lIns="114297" tIns="66673" rIns="114297" bIns="66673" rtlCol="0" anchor="t">
            <a:spAutoFit/>
          </a:bodyPr>
          <a:lstStyle/>
          <a:p>
            <a:pPr algn="l" indent="0" marL="0">
              <a:lnSpc>
                <a:spcPts val="1072"/>
              </a:lnSpc>
              <a:buNone/>
              <a:defRPr sz="1100" b="1"/>
            </a:pPr>
            <a:r>
              <a:rPr lang="en-US" sz="825" b="1" spc="82" kern="0" dirty="0">
                <a:solidFill>
                  <a:srgbClr val="A78B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 · VALERIO BERNARDI</a:t>
            </a:r>
            <a:endParaRPr lang="en-US" sz="825" dirty="0"/>
          </a:p>
        </p:txBody>
      </p:sp>
      <p:sp>
        <p:nvSpPr>
          <p:cNvPr id="4" name="TextBox 5"/>
          <p:cNvSpPr/>
          <p:nvPr/>
        </p:nvSpPr>
        <p:spPr>
          <a:xfrm>
            <a:off x="609585" y="1143652"/>
            <a:ext cx="10972526" cy="160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67"/>
              </a:lnSpc>
              <a:buNone/>
            </a:pPr>
            <a:r>
              <a:rPr lang="en-US" sz="975" b="1" spc="156" kern="0" dirty="0">
                <a:solidFill>
                  <a:srgbClr val="37D6E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04 / CHARACTER DESIGN &amp; RAPPRESENTAZIONE</a:t>
            </a:r>
            <a:endParaRPr lang="en-US" sz="975" dirty="0"/>
          </a:p>
        </p:txBody>
      </p:sp>
      <p:sp>
        <p:nvSpPr>
          <p:cNvPr id="5" name="TextBox 7"/>
          <p:cNvSpPr/>
          <p:nvPr/>
        </p:nvSpPr>
        <p:spPr>
          <a:xfrm>
            <a:off x="609585" y="1447403"/>
            <a:ext cx="9048524" cy="937147"/>
          </a:xfrm>
          <a:prstGeom prst="rect">
            <a:avLst/>
          </a:prstGeom>
          <a:noFill/>
          <a:ln/>
        </p:spPr>
        <p:txBody>
          <a:bodyPr wrap="square" lIns="0" tIns="0" rIns="0" bIns="117155" rtlCol="0" anchor="t">
            <a:spAutoFit/>
          </a:bodyPr>
          <a:lstStyle/>
          <a:p>
            <a:pPr algn="l" indent="0" marL="0">
              <a:lnSpc>
                <a:spcPts val="3229"/>
              </a:lnSpc>
              <a:buNone/>
            </a:pPr>
            <a:r>
              <a:rPr lang="en-US" sz="3075" b="1" spc="-77" kern="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 contorno a </a:t>
            </a:r>
            <a:r>
              <a:rPr lang="en-US" sz="3075" b="1" spc="-77" kern="0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Soggetto</a:t>
            </a:r>
            <a:r>
              <a:rPr lang="en-US" sz="3075" b="1" spc="-77" kern="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: L'Evoluzione femminile nei videogiochi</a:t>
            </a:r>
            <a:endParaRPr lang="en-US" sz="3075" dirty="0"/>
          </a:p>
        </p:txBody>
      </p:sp>
      <p:sp>
        <p:nvSpPr>
          <p:cNvPr id="6" name="TextBox 9"/>
          <p:cNvSpPr/>
          <p:nvPr/>
        </p:nvSpPr>
        <p:spPr>
          <a:xfrm>
            <a:off x="609585" y="2651244"/>
            <a:ext cx="10972526" cy="25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Dall'oggettificazione passiva degli esordi alla complessità psicologica e all'identità modulare contemporanea.</a:t>
            </a:r>
            <a:endParaRPr lang="en-US" sz="1500" dirty="0"/>
          </a:p>
        </p:txBody>
      </p:sp>
      <p:pic>
        <p:nvPicPr>
          <p:cNvPr id="7" name="Picture 11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06723" y="3613245"/>
            <a:ext cx="8778259" cy="28574"/>
          </a:xfrm>
          <a:prstGeom prst="rect">
            <a:avLst/>
          </a:prstGeom>
        </p:spPr>
      </p:pic>
      <p:pic>
        <p:nvPicPr>
          <p:cNvPr id="8" name="Picture 17" descr="__type_imag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724" y="3241779"/>
            <a:ext cx="761981" cy="761981"/>
          </a:xfrm>
          <a:prstGeom prst="rect">
            <a:avLst/>
          </a:prstGeom>
        </p:spPr>
      </p:pic>
      <p:sp>
        <p:nvSpPr>
          <p:cNvPr id="9" name="TextBox 20"/>
          <p:cNvSpPr/>
          <p:nvPr/>
        </p:nvSpPr>
        <p:spPr>
          <a:xfrm>
            <a:off x="1164104" y="4127582"/>
            <a:ext cx="2011680" cy="212372"/>
          </a:xfrm>
          <a:prstGeom prst="roundRect">
            <a:avLst>
              <a:gd name="adj" fmla="val 17940"/>
            </a:avLst>
          </a:prstGeom>
          <a:solidFill>
            <a:srgbClr val="FF6B6B">
              <a:alpha val="12000"/>
            </a:srgbClr>
          </a:solidFill>
          <a:ln w="9525">
            <a:solidFill>
              <a:srgbClr val="FF6B6B">
                <a:alpha val="30000"/>
              </a:srgbClr>
            </a:solidFill>
            <a:prstDash val="solid"/>
          </a:ln>
        </p:spPr>
        <p:txBody>
          <a:bodyPr wrap="none" lIns="76198" tIns="28574" rIns="76198" bIns="28574" rtlCol="0" anchor="t">
            <a:spAutoFit/>
          </a:bodyPr>
          <a:lstStyle/>
          <a:p>
            <a:pPr algn="ctr" indent="0" marL="0">
              <a:lnSpc>
                <a:spcPts val="1072"/>
              </a:lnSpc>
              <a:buNone/>
            </a:pPr>
            <a:r>
              <a:rPr lang="en-US" sz="825" b="1" spc="66" kern="0" dirty="0">
                <a:solidFill>
                  <a:srgbClr val="FF6B6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ARCHETIPO · ANNI '80</a:t>
            </a:r>
            <a:endParaRPr lang="en-US" sz="825" dirty="0"/>
          </a:p>
        </p:txBody>
      </p:sp>
      <p:sp>
        <p:nvSpPr>
          <p:cNvPr id="10" name="TextBox 22"/>
          <p:cNvSpPr/>
          <p:nvPr/>
        </p:nvSpPr>
        <p:spPr>
          <a:xfrm>
            <a:off x="1238368" y="4397103"/>
            <a:ext cx="1342545" cy="220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734"/>
              </a:lnSpc>
              <a:buNone/>
            </a:pPr>
            <a:r>
              <a:rPr lang="en-US" sz="1387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Princess Peach</a:t>
            </a:r>
            <a:endParaRPr lang="en-US" sz="1387" dirty="0"/>
          </a:p>
        </p:txBody>
      </p:sp>
      <p:sp>
        <p:nvSpPr>
          <p:cNvPr id="11" name="TextBox 24"/>
          <p:cNvSpPr/>
          <p:nvPr/>
        </p:nvSpPr>
        <p:spPr>
          <a:xfrm>
            <a:off x="1361892" y="4655462"/>
            <a:ext cx="1095645" cy="167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16"/>
              </a:lnSpc>
              <a:buNone/>
            </a:pPr>
            <a:r>
              <a:rPr lang="en-US" sz="1012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Donna in pericolo</a:t>
            </a:r>
            <a:endParaRPr lang="en-US" sz="1012" dirty="0"/>
          </a:p>
        </p:txBody>
      </p:sp>
      <p:sp>
        <p:nvSpPr>
          <p:cNvPr id="12" name="TextBox 26"/>
          <p:cNvSpPr/>
          <p:nvPr/>
        </p:nvSpPr>
        <p:spPr>
          <a:xfrm>
            <a:off x="609585" y="4879740"/>
            <a:ext cx="2600260" cy="339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36"/>
              </a:lnSpc>
              <a:buNone/>
            </a:pPr>
            <a:r>
              <a:rPr lang="en-US" sz="1012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Personaggio passivo privo di agentività: </a:t>
            </a:r>
            <a:r>
              <a:rPr lang="en-US" sz="1012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esiste per essere salvata</a:t>
            </a:r>
            <a:r>
              <a:rPr lang="en-US" sz="1012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012" dirty="0"/>
          </a:p>
        </p:txBody>
      </p:sp>
      <p:pic>
        <p:nvPicPr>
          <p:cNvPr id="13" name="Picture 33" descr="__type_imag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9480" y="3241779"/>
            <a:ext cx="761981" cy="761981"/>
          </a:xfrm>
          <a:prstGeom prst="rect">
            <a:avLst/>
          </a:prstGeom>
        </p:spPr>
      </p:pic>
      <p:sp>
        <p:nvSpPr>
          <p:cNvPr id="14" name="TextBox 36"/>
          <p:cNvSpPr/>
          <p:nvPr/>
        </p:nvSpPr>
        <p:spPr>
          <a:xfrm>
            <a:off x="4020789" y="4127582"/>
            <a:ext cx="2011680" cy="212372"/>
          </a:xfrm>
          <a:prstGeom prst="roundRect">
            <a:avLst>
              <a:gd name="adj" fmla="val 17940"/>
            </a:avLst>
          </a:prstGeom>
          <a:solidFill>
            <a:srgbClr val="A78BFA">
              <a:alpha val="12000"/>
            </a:srgbClr>
          </a:solidFill>
          <a:ln w="9525">
            <a:solidFill>
              <a:srgbClr val="A78BFA">
                <a:alpha val="30000"/>
              </a:srgbClr>
            </a:solidFill>
            <a:prstDash val="solid"/>
          </a:ln>
        </p:spPr>
        <p:txBody>
          <a:bodyPr wrap="none" lIns="76198" tIns="28574" rIns="76198" bIns="28574" rtlCol="0" anchor="t">
            <a:spAutoFit/>
          </a:bodyPr>
          <a:lstStyle/>
          <a:p>
            <a:pPr algn="ctr" indent="0" marL="0">
              <a:lnSpc>
                <a:spcPts val="1072"/>
              </a:lnSpc>
              <a:buNone/>
            </a:pPr>
            <a:r>
              <a:rPr lang="en-US" sz="825" b="1" spc="66" kern="0" dirty="0">
                <a:solidFill>
                  <a:srgbClr val="A78B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1996 · TOMB RAIDER</a:t>
            </a:r>
            <a:endParaRPr lang="en-US" sz="825" dirty="0"/>
          </a:p>
        </p:txBody>
      </p:sp>
      <p:sp>
        <p:nvSpPr>
          <p:cNvPr id="15" name="TextBox 38"/>
          <p:cNvSpPr/>
          <p:nvPr/>
        </p:nvSpPr>
        <p:spPr>
          <a:xfrm>
            <a:off x="4266944" y="4397103"/>
            <a:ext cx="866902" cy="220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734"/>
              </a:lnSpc>
              <a:buNone/>
            </a:pPr>
            <a:r>
              <a:rPr lang="en-US" sz="1387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Lara Croft</a:t>
            </a:r>
            <a:endParaRPr lang="en-US" sz="1387" dirty="0"/>
          </a:p>
        </p:txBody>
      </p:sp>
      <p:sp>
        <p:nvSpPr>
          <p:cNvPr id="16" name="TextBox 40"/>
          <p:cNvSpPr/>
          <p:nvPr/>
        </p:nvSpPr>
        <p:spPr>
          <a:xfrm>
            <a:off x="4098773" y="4655462"/>
            <a:ext cx="1203394" cy="167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16"/>
              </a:lnSpc>
              <a:buNone/>
            </a:pPr>
            <a:r>
              <a:rPr lang="en-US" sz="1012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Male gaze &amp; azione</a:t>
            </a:r>
            <a:endParaRPr lang="en-US" sz="1012" dirty="0"/>
          </a:p>
        </p:txBody>
      </p:sp>
      <p:sp>
        <p:nvSpPr>
          <p:cNvPr id="17" name="TextBox 42"/>
          <p:cNvSpPr/>
          <p:nvPr/>
        </p:nvSpPr>
        <p:spPr>
          <a:xfrm>
            <a:off x="3400340" y="4879740"/>
            <a:ext cx="2600260" cy="339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36"/>
              </a:lnSpc>
              <a:buNone/>
            </a:pPr>
            <a:r>
              <a:rPr lang="en-US" sz="1012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Costruita per il </a:t>
            </a:r>
            <a:r>
              <a:rPr lang="en-US" sz="1012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male gaze</a:t>
            </a:r>
            <a:r>
              <a:rPr lang="en-US" sz="1012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ma </a:t>
            </a:r>
            <a:r>
              <a:rPr lang="en-US" sz="1012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autonoma e coraggiosa</a:t>
            </a:r>
            <a:r>
              <a:rPr lang="en-US" sz="1012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012" dirty="0"/>
          </a:p>
        </p:txBody>
      </p:sp>
      <p:pic>
        <p:nvPicPr>
          <p:cNvPr id="18" name="Picture 49" descr="__type_imag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0235" y="3241779"/>
            <a:ext cx="761981" cy="761981"/>
          </a:xfrm>
          <a:prstGeom prst="rect">
            <a:avLst/>
          </a:prstGeom>
        </p:spPr>
      </p:pic>
      <p:sp>
        <p:nvSpPr>
          <p:cNvPr id="19" name="TextBox 52"/>
          <p:cNvSpPr/>
          <p:nvPr/>
        </p:nvSpPr>
        <p:spPr>
          <a:xfrm>
            <a:off x="6745615" y="4127582"/>
            <a:ext cx="2011680" cy="212372"/>
          </a:xfrm>
          <a:prstGeom prst="roundRect">
            <a:avLst>
              <a:gd name="adj" fmla="val 17940"/>
            </a:avLst>
          </a:prstGeom>
          <a:solidFill>
            <a:srgbClr val="37D6E8">
              <a:alpha val="12000"/>
            </a:srgbClr>
          </a:solidFill>
          <a:ln w="9525">
            <a:solidFill>
              <a:srgbClr val="37D6E8">
                <a:alpha val="30000"/>
              </a:srgbClr>
            </a:solidFill>
            <a:prstDash val="solid"/>
          </a:ln>
        </p:spPr>
        <p:txBody>
          <a:bodyPr wrap="none" lIns="76198" tIns="28574" rIns="76198" bIns="28574" rtlCol="0" anchor="t">
            <a:spAutoFit/>
          </a:bodyPr>
          <a:lstStyle/>
          <a:p>
            <a:pPr algn="ctr" indent="0" marL="0">
              <a:lnSpc>
                <a:spcPts val="1072"/>
              </a:lnSpc>
              <a:buNone/>
            </a:pPr>
            <a:r>
              <a:rPr lang="en-US" sz="825" b="1" spc="66" kern="0" dirty="0">
                <a:solidFill>
                  <a:srgbClr val="37D6E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2017–2020 · REALISMO</a:t>
            </a:r>
            <a:endParaRPr lang="en-US" sz="825" dirty="0"/>
          </a:p>
        </p:txBody>
      </p:sp>
      <p:sp>
        <p:nvSpPr>
          <p:cNvPr id="20" name="TextBox 54"/>
          <p:cNvSpPr/>
          <p:nvPr/>
        </p:nvSpPr>
        <p:spPr>
          <a:xfrm>
            <a:off x="6705879" y="4397103"/>
            <a:ext cx="1570693" cy="220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734"/>
              </a:lnSpc>
              <a:buNone/>
            </a:pPr>
            <a:r>
              <a:rPr lang="en-US" sz="1387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Aloy · Senua · Ellie</a:t>
            </a:r>
            <a:endParaRPr lang="en-US" sz="1387" dirty="0"/>
          </a:p>
        </p:txBody>
      </p:sp>
      <p:sp>
        <p:nvSpPr>
          <p:cNvPr id="21" name="TextBox 56"/>
          <p:cNvSpPr/>
          <p:nvPr/>
        </p:nvSpPr>
        <p:spPr>
          <a:xfrm>
            <a:off x="6791602" y="4655462"/>
            <a:ext cx="1399247" cy="167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16"/>
              </a:lnSpc>
              <a:buNone/>
            </a:pPr>
            <a:r>
              <a:rPr lang="en-US" sz="1012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Complessità &amp; vissuto</a:t>
            </a:r>
            <a:endParaRPr lang="en-US" sz="1012" dirty="0"/>
          </a:p>
        </p:txBody>
      </p:sp>
      <p:sp>
        <p:nvSpPr>
          <p:cNvPr id="22" name="TextBox 58"/>
          <p:cNvSpPr/>
          <p:nvPr/>
        </p:nvSpPr>
        <p:spPr>
          <a:xfrm>
            <a:off x="6191095" y="4879740"/>
            <a:ext cx="2600260" cy="339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36"/>
              </a:lnSpc>
              <a:buNone/>
            </a:pPr>
            <a:r>
              <a:rPr lang="en-US" sz="1012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Competenza, salute mentale</a:t>
            </a:r>
            <a:r>
              <a:rPr lang="en-US" sz="1012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 </a:t>
            </a:r>
            <a:r>
              <a:rPr lang="en-US" sz="1012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corpi non standardizzati</a:t>
            </a:r>
            <a:r>
              <a:rPr lang="en-US" sz="1012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012" dirty="0"/>
          </a:p>
        </p:txBody>
      </p:sp>
      <p:pic>
        <p:nvPicPr>
          <p:cNvPr id="23" name="Picture 65" descr="__type_imag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00990" y="3241779"/>
            <a:ext cx="761981" cy="761981"/>
          </a:xfrm>
          <a:prstGeom prst="rect">
            <a:avLst/>
          </a:prstGeom>
        </p:spPr>
      </p:pic>
      <p:sp>
        <p:nvSpPr>
          <p:cNvPr id="24" name="TextBox 68"/>
          <p:cNvSpPr/>
          <p:nvPr/>
        </p:nvSpPr>
        <p:spPr>
          <a:xfrm>
            <a:off x="9734307" y="4127582"/>
            <a:ext cx="2011680" cy="212372"/>
          </a:xfrm>
          <a:prstGeom prst="roundRect">
            <a:avLst>
              <a:gd name="adj" fmla="val 17940"/>
            </a:avLst>
          </a:prstGeom>
          <a:solidFill>
            <a:srgbClr val="5EE6A8">
              <a:alpha val="12000"/>
            </a:srgbClr>
          </a:solidFill>
          <a:ln w="9525">
            <a:solidFill>
              <a:srgbClr val="5EE6A8">
                <a:alpha val="30000"/>
              </a:srgbClr>
            </a:solidFill>
            <a:prstDash val="solid"/>
          </a:ln>
        </p:spPr>
        <p:txBody>
          <a:bodyPr wrap="none" lIns="76198" tIns="28574" rIns="76198" bIns="28574" rtlCol="0" anchor="t">
            <a:spAutoFit/>
          </a:bodyPr>
          <a:lstStyle/>
          <a:p>
            <a:pPr algn="ctr" indent="0" marL="0">
              <a:lnSpc>
                <a:spcPts val="1072"/>
              </a:lnSpc>
              <a:buNone/>
            </a:pPr>
            <a:r>
              <a:rPr lang="en-US" sz="825" b="1" spc="66" kern="0" dirty="0">
                <a:solidFill>
                  <a:srgbClr val="5EE6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OGGI · LIBERTÀ</a:t>
            </a:r>
            <a:endParaRPr lang="en-US" sz="825" dirty="0"/>
          </a:p>
        </p:txBody>
      </p:sp>
      <p:sp>
        <p:nvSpPr>
          <p:cNvPr id="25" name="TextBox 70"/>
          <p:cNvSpPr/>
          <p:nvPr/>
        </p:nvSpPr>
        <p:spPr>
          <a:xfrm>
            <a:off x="9513005" y="4397103"/>
            <a:ext cx="1537803" cy="2202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734"/>
              </a:lnSpc>
              <a:buNone/>
            </a:pPr>
            <a:r>
              <a:rPr lang="en-US" sz="1387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Identità modulare</a:t>
            </a:r>
            <a:endParaRPr lang="en-US" sz="1387" dirty="0"/>
          </a:p>
        </p:txBody>
      </p:sp>
      <p:sp>
        <p:nvSpPr>
          <p:cNvPr id="26" name="TextBox 72"/>
          <p:cNvSpPr/>
          <p:nvPr/>
        </p:nvSpPr>
        <p:spPr>
          <a:xfrm>
            <a:off x="9692041" y="4655462"/>
            <a:ext cx="1179731" cy="167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16"/>
              </a:lnSpc>
              <a:buNone/>
            </a:pPr>
            <a:r>
              <a:rPr lang="en-US" sz="1012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Disaccoppiamento</a:t>
            </a:r>
            <a:endParaRPr lang="en-US" sz="1012" dirty="0"/>
          </a:p>
        </p:txBody>
      </p:sp>
      <p:sp>
        <p:nvSpPr>
          <p:cNvPr id="27" name="TextBox 74"/>
          <p:cNvSpPr/>
          <p:nvPr/>
        </p:nvSpPr>
        <p:spPr>
          <a:xfrm>
            <a:off x="8981850" y="4879740"/>
            <a:ext cx="2600260" cy="339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36"/>
              </a:lnSpc>
              <a:buNone/>
            </a:pPr>
            <a:r>
              <a:rPr lang="en-US" sz="1012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Corpo, voce e pronomi si </a:t>
            </a:r>
            <a:r>
              <a:rPr lang="en-US" sz="1012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separano liberamente</a:t>
            </a:r>
            <a:r>
              <a:rPr lang="en-US" sz="1012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(BG3, The Sims 4).</a:t>
            </a:r>
            <a:endParaRPr lang="en-US" sz="1012" dirty="0"/>
          </a:p>
        </p:txBody>
      </p:sp>
      <p:sp>
        <p:nvSpPr>
          <p:cNvPr id="28" name="Shape 80"/>
          <p:cNvSpPr/>
          <p:nvPr/>
        </p:nvSpPr>
        <p:spPr>
          <a:xfrm>
            <a:off x="609585" y="5485753"/>
            <a:ext cx="38099" cy="304792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/>
        </p:spPr>
        <p:txBody>
          <a:bodyPr/>
          <a:p/>
        </p:txBody>
      </p:sp>
      <p:sp>
        <p:nvSpPr>
          <p:cNvPr id="29" name="TextBox 82"/>
          <p:cNvSpPr/>
          <p:nvPr/>
        </p:nvSpPr>
        <p:spPr>
          <a:xfrm>
            <a:off x="800080" y="5514328"/>
            <a:ext cx="7532003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figura femminile passa da oggetto della narrazione a </a:t>
            </a:r>
            <a:r>
              <a:rPr lang="en-US" sz="15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soggetto della narrazione</a:t>
            </a:r>
            <a:r>
              <a:rPr lang="en-US" sz="15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500" dirty="0"/>
          </a:p>
        </p:txBody>
      </p:sp>
      <p:sp>
        <p:nvSpPr>
          <p:cNvPr id="30" name="TextBox 85"/>
          <p:cNvSpPr/>
          <p:nvPr/>
        </p:nvSpPr>
        <p:spPr>
          <a:xfrm>
            <a:off x="609585" y="6562647"/>
            <a:ext cx="3059383" cy="123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spc="60" kern="0" dirty="0">
                <a:solidFill>
                  <a:srgbClr val="A9B8CC">
                    <a:alpha val="66000"/>
                  </a:srgbClr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Gender &amp; Inclusion · Università di Roma Tor Vergata</a:t>
            </a:r>
            <a:endParaRPr lang="en-US" sz="750" dirty="0"/>
          </a:p>
        </p:txBody>
      </p:sp>
      <p:sp>
        <p:nvSpPr>
          <p:cNvPr id="31" name="TextBox 1"/>
          <p:cNvSpPr/>
          <p:nvPr/>
        </p:nvSpPr>
        <p:spPr>
          <a:xfrm>
            <a:off x="11862043" y="6518890"/>
            <a:ext cx="62953" cy="14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A9B8C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86"/>
            <a:ext cx="12191695" cy="6857829"/>
          </a:xfrm>
          <a:prstGeom prst="rect">
            <a:avLst/>
          </a:prstGeom>
          <a:solidFill>
            <a:srgbClr val="07111F"/>
          </a:solidFill>
          <a:ln/>
        </p:spPr>
        <p:txBody>
          <a:bodyPr/>
          <a:p/>
        </p:txBody>
      </p:sp>
      <p:sp>
        <p:nvSpPr>
          <p:cNvPr id="3" name="TextBox 3"/>
          <p:cNvSpPr/>
          <p:nvPr/>
        </p:nvSpPr>
        <p:spPr>
          <a:xfrm>
            <a:off x="9144000" y="438225"/>
            <a:ext cx="2560320" cy="288571"/>
          </a:xfrm>
          <a:prstGeom prst="roundRect">
            <a:avLst>
              <a:gd name="adj" fmla="val 50000"/>
            </a:avLst>
          </a:prstGeom>
          <a:solidFill>
            <a:srgbClr val="07111F">
              <a:alpha val="72000"/>
            </a:srgbClr>
          </a:solidFill>
          <a:ln w="9525">
            <a:solidFill>
              <a:srgbClr val="5EE6A8">
                <a:alpha val="60000"/>
              </a:srgbClr>
            </a:solidFill>
            <a:prstDash val="solid"/>
          </a:ln>
        </p:spPr>
        <p:txBody>
          <a:bodyPr wrap="none" lIns="114297" tIns="66673" rIns="114297" bIns="66673" rtlCol="0" anchor="t">
            <a:spAutoFit/>
          </a:bodyPr>
          <a:lstStyle/>
          <a:p>
            <a:pPr algn="l" indent="0" marL="0">
              <a:lnSpc>
                <a:spcPts val="1072"/>
              </a:lnSpc>
              <a:buNone/>
              <a:defRPr sz="1100" b="1"/>
            </a:pPr>
            <a:r>
              <a:rPr lang="en-US" sz="825" b="1" spc="82" kern="0" dirty="0">
                <a:solidFill>
                  <a:srgbClr val="5EE6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 · SAMUELE DE SANTIS</a:t>
            </a:r>
            <a:endParaRPr lang="en-US" sz="825" dirty="0"/>
          </a:p>
        </p:txBody>
      </p:sp>
      <p:sp>
        <p:nvSpPr>
          <p:cNvPr id="4" name="TextBox 5"/>
          <p:cNvSpPr/>
          <p:nvPr/>
        </p:nvSpPr>
        <p:spPr>
          <a:xfrm>
            <a:off x="609585" y="1358555"/>
            <a:ext cx="10972526" cy="160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67"/>
              </a:lnSpc>
              <a:buNone/>
            </a:pPr>
            <a:r>
              <a:rPr lang="en-US" sz="975" b="1" spc="156" kern="0" dirty="0">
                <a:solidFill>
                  <a:srgbClr val="5EE6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05 / DIETRO LO SCHERMO: IL LAVORO</a:t>
            </a:r>
            <a:endParaRPr lang="en-US" sz="975" dirty="0"/>
          </a:p>
        </p:txBody>
      </p:sp>
      <p:sp>
        <p:nvSpPr>
          <p:cNvPr id="5" name="TextBox 7"/>
          <p:cNvSpPr/>
          <p:nvPr/>
        </p:nvSpPr>
        <p:spPr>
          <a:xfrm>
            <a:off x="609585" y="1662305"/>
            <a:ext cx="9048524" cy="527136"/>
          </a:xfrm>
          <a:prstGeom prst="rect">
            <a:avLst/>
          </a:prstGeom>
          <a:noFill/>
          <a:ln/>
        </p:spPr>
        <p:txBody>
          <a:bodyPr wrap="square" lIns="0" tIns="0" rIns="0" bIns="117155" rtlCol="0" anchor="t">
            <a:spAutoFit/>
          </a:bodyPr>
          <a:lstStyle/>
          <a:p>
            <a:pPr algn="l" indent="0" marL="0">
              <a:lnSpc>
                <a:spcPts val="3229"/>
              </a:lnSpc>
              <a:buNone/>
            </a:pPr>
            <a:r>
              <a:rPr lang="en-US" sz="3075" b="1" spc="-77" kern="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Quasi metà gioca. Solo un </a:t>
            </a:r>
            <a:r>
              <a:rPr lang="en-US" sz="3075" b="1" spc="-77" kern="0" dirty="0">
                <a:solidFill>
                  <a:srgbClr val="37D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quarto</a:t>
            </a:r>
            <a:r>
              <a:rPr lang="en-US" sz="3075" b="1" spc="-77" kern="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sviluppa.</a:t>
            </a:r>
            <a:endParaRPr lang="en-US" sz="3075" dirty="0"/>
          </a:p>
        </p:txBody>
      </p:sp>
      <p:sp>
        <p:nvSpPr>
          <p:cNvPr id="6" name="TextBox 9"/>
          <p:cNvSpPr/>
          <p:nvPr/>
        </p:nvSpPr>
        <p:spPr>
          <a:xfrm>
            <a:off x="609585" y="2456135"/>
            <a:ext cx="10972526" cy="25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parità nel consumo non si riflette nella composizione dei team di produzione e ingegneria software.</a:t>
            </a:r>
            <a:endParaRPr lang="en-US" sz="1500" dirty="0"/>
          </a:p>
        </p:txBody>
      </p:sp>
      <p:sp>
        <p:nvSpPr>
          <p:cNvPr id="7" name="Shape 15"/>
          <p:cNvSpPr/>
          <p:nvPr/>
        </p:nvSpPr>
        <p:spPr>
          <a:xfrm>
            <a:off x="609585" y="2922848"/>
            <a:ext cx="33337" cy="1477975"/>
          </a:xfrm>
          <a:prstGeom prst="roundRect">
            <a:avLst>
              <a:gd name="adj" fmla="val 49999"/>
            </a:avLst>
          </a:prstGeom>
          <a:solidFill>
            <a:srgbClr val="37D6E8"/>
          </a:solidFill>
          <a:ln/>
        </p:spPr>
        <p:txBody>
          <a:bodyPr/>
          <a:p/>
        </p:txBody>
      </p:sp>
      <p:sp>
        <p:nvSpPr>
          <p:cNvPr id="8" name="TextBox 19"/>
          <p:cNvSpPr/>
          <p:nvPr/>
        </p:nvSpPr>
        <p:spPr>
          <a:xfrm>
            <a:off x="814367" y="2922848"/>
            <a:ext cx="5110035" cy="1422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21"/>
              </a:lnSpc>
              <a:buNone/>
            </a:pPr>
            <a:r>
              <a:rPr lang="en-US" sz="862" b="1" spc="86" kern="0" dirty="0">
                <a:solidFill>
                  <a:srgbClr val="37D6E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GDC · STATE OF THE GAME INDUSTRY 2024–2025</a:t>
            </a:r>
            <a:endParaRPr lang="en-US" sz="862" dirty="0"/>
          </a:p>
        </p:txBody>
      </p:sp>
      <p:sp>
        <p:nvSpPr>
          <p:cNvPr id="9" name="TextBox 21"/>
          <p:cNvSpPr/>
          <p:nvPr/>
        </p:nvSpPr>
        <p:spPr>
          <a:xfrm>
            <a:off x="814367" y="3255620"/>
            <a:ext cx="5110035" cy="5905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4650"/>
              </a:lnSpc>
              <a:buNone/>
            </a:pPr>
            <a:r>
              <a:rPr lang="en-US" sz="4650" b="1" spc="-232" kern="0" dirty="0">
                <a:solidFill>
                  <a:srgbClr val="37D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23–25%</a:t>
            </a:r>
            <a:endParaRPr lang="en-US" sz="4650" dirty="0"/>
          </a:p>
        </p:txBody>
      </p:sp>
      <p:sp>
        <p:nvSpPr>
          <p:cNvPr id="10" name="TextBox 23"/>
          <p:cNvSpPr/>
          <p:nvPr/>
        </p:nvSpPr>
        <p:spPr>
          <a:xfrm>
            <a:off x="814367" y="3922353"/>
            <a:ext cx="5110035" cy="2351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donne nella </a:t>
            </a:r>
            <a:r>
              <a:rPr lang="en-US" sz="1425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forza lavoro videoludica</a:t>
            </a:r>
            <a:endParaRPr lang="en-US" sz="1425" dirty="0"/>
          </a:p>
        </p:txBody>
      </p:sp>
      <p:sp>
        <p:nvSpPr>
          <p:cNvPr id="11" name="TextBox 25"/>
          <p:cNvSpPr/>
          <p:nvPr/>
        </p:nvSpPr>
        <p:spPr>
          <a:xfrm>
            <a:off x="814367" y="4233694"/>
            <a:ext cx="5110035" cy="1671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316"/>
              </a:lnSpc>
              <a:buNone/>
            </a:pPr>
            <a:r>
              <a:rPr lang="en-US" sz="1012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Quota che si riduce a </a:t>
            </a:r>
            <a:r>
              <a:rPr lang="en-US" sz="1012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≈20%</a:t>
            </a:r>
            <a:r>
              <a:rPr lang="en-US" sz="1012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nei ruoli tecnici core e programming (UE)</a:t>
            </a:r>
            <a:endParaRPr lang="en-US" sz="1012" dirty="0"/>
          </a:p>
        </p:txBody>
      </p:sp>
      <p:sp>
        <p:nvSpPr>
          <p:cNvPr id="12" name="Shape 31"/>
          <p:cNvSpPr/>
          <p:nvPr/>
        </p:nvSpPr>
        <p:spPr>
          <a:xfrm>
            <a:off x="6267293" y="2922848"/>
            <a:ext cx="33337" cy="1770266"/>
          </a:xfrm>
          <a:prstGeom prst="roundRect">
            <a:avLst>
              <a:gd name="adj" fmla="val 49999"/>
            </a:avLst>
          </a:prstGeom>
          <a:solidFill>
            <a:srgbClr val="A78BFA"/>
          </a:solidFill>
          <a:ln/>
        </p:spPr>
        <p:txBody>
          <a:bodyPr/>
          <a:p/>
        </p:txBody>
      </p:sp>
      <p:sp>
        <p:nvSpPr>
          <p:cNvPr id="13" name="TextBox 35"/>
          <p:cNvSpPr/>
          <p:nvPr/>
        </p:nvSpPr>
        <p:spPr>
          <a:xfrm>
            <a:off x="6472076" y="2922848"/>
            <a:ext cx="5110035" cy="1422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2" b="1" spc="86" kern="0" dirty="0">
                <a:solidFill>
                  <a:srgbClr val="A78B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DALLA FRUIZIONE AL CODICE</a:t>
            </a:r>
            <a:endParaRPr lang="en-US" sz="862" dirty="0"/>
          </a:p>
        </p:txBody>
      </p:sp>
      <p:sp>
        <p:nvSpPr>
          <p:cNvPr id="14" name="Shape 39"/>
          <p:cNvSpPr/>
          <p:nvPr/>
        </p:nvSpPr>
        <p:spPr>
          <a:xfrm>
            <a:off x="6472076" y="3274669"/>
            <a:ext cx="1627097" cy="1124220"/>
          </a:xfrm>
          <a:prstGeom prst="roundRect">
            <a:avLst>
              <a:gd name="adj" fmla="val 6778"/>
            </a:avLst>
          </a:prstGeom>
          <a:solidFill>
            <a:srgbClr val="0F2138"/>
          </a:solidFill>
          <a:ln/>
        </p:spPr>
        <p:txBody>
          <a:bodyPr/>
          <a:p/>
        </p:txBody>
      </p:sp>
      <p:pic>
        <p:nvPicPr>
          <p:cNvPr id="15" name="Picture 39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72076" y="3274669"/>
            <a:ext cx="1627097" cy="1124220"/>
          </a:xfrm>
          <a:prstGeom prst="rect">
            <a:avLst/>
          </a:prstGeom>
        </p:spPr>
      </p:pic>
      <p:sp>
        <p:nvSpPr>
          <p:cNvPr id="16" name="TextBox 41"/>
          <p:cNvSpPr/>
          <p:nvPr/>
        </p:nvSpPr>
        <p:spPr>
          <a:xfrm>
            <a:off x="6614947" y="3417541"/>
            <a:ext cx="1360404" cy="123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b="1" spc="60" kern="0" dirty="0">
                <a:solidFill>
                  <a:srgbClr val="37D6E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01 · CHI GIOCA</a:t>
            </a:r>
            <a:endParaRPr lang="en-US" sz="750" dirty="0"/>
          </a:p>
        </p:txBody>
      </p:sp>
      <p:sp>
        <p:nvSpPr>
          <p:cNvPr id="17" name="TextBox 43"/>
          <p:cNvSpPr/>
          <p:nvPr/>
        </p:nvSpPr>
        <p:spPr>
          <a:xfrm>
            <a:off x="6614947" y="3598511"/>
            <a:ext cx="1360404" cy="3399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677"/>
              </a:lnSpc>
              <a:buNone/>
            </a:pPr>
            <a:r>
              <a:rPr lang="en-US" sz="2550" b="1" dirty="0">
                <a:solidFill>
                  <a:srgbClr val="37D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48%</a:t>
            </a:r>
            <a:endParaRPr lang="en-US" sz="2550" dirty="0"/>
          </a:p>
        </p:txBody>
      </p:sp>
      <p:sp>
        <p:nvSpPr>
          <p:cNvPr id="18" name="TextBox 45"/>
          <p:cNvSpPr/>
          <p:nvPr/>
        </p:nvSpPr>
        <p:spPr>
          <a:xfrm>
            <a:off x="6614947" y="3976525"/>
            <a:ext cx="1360404" cy="148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Pubblico Gaming</a:t>
            </a:r>
            <a:endParaRPr lang="en-US" sz="975" dirty="0"/>
          </a:p>
        </p:txBody>
      </p:sp>
      <p:sp>
        <p:nvSpPr>
          <p:cNvPr id="19" name="TextBox 47"/>
          <p:cNvSpPr/>
          <p:nvPr/>
        </p:nvSpPr>
        <p:spPr>
          <a:xfrm>
            <a:off x="6614947" y="4144101"/>
            <a:ext cx="1360404" cy="130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31"/>
              </a:lnSpc>
              <a:buNone/>
            </a:pPr>
            <a:r>
              <a:rPr lang="en-US" sz="825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Parità tra chi gioca</a:t>
            </a:r>
            <a:endParaRPr lang="en-US" sz="825" dirty="0"/>
          </a:p>
        </p:txBody>
      </p:sp>
      <p:sp>
        <p:nvSpPr>
          <p:cNvPr id="20" name="Shape 50"/>
          <p:cNvSpPr/>
          <p:nvPr/>
        </p:nvSpPr>
        <p:spPr>
          <a:xfrm>
            <a:off x="8213470" y="3274669"/>
            <a:ext cx="1627097" cy="1124220"/>
          </a:xfrm>
          <a:prstGeom prst="roundRect">
            <a:avLst>
              <a:gd name="adj" fmla="val 6778"/>
            </a:avLst>
          </a:prstGeom>
          <a:solidFill>
            <a:srgbClr val="0F2138"/>
          </a:solidFill>
          <a:ln/>
        </p:spPr>
        <p:txBody>
          <a:bodyPr/>
          <a:p/>
        </p:txBody>
      </p:sp>
      <p:pic>
        <p:nvPicPr>
          <p:cNvPr id="21" name="Picture 50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13470" y="3274669"/>
            <a:ext cx="1627097" cy="1124220"/>
          </a:xfrm>
          <a:prstGeom prst="rect">
            <a:avLst/>
          </a:prstGeom>
        </p:spPr>
      </p:pic>
      <p:sp>
        <p:nvSpPr>
          <p:cNvPr id="22" name="TextBox 52"/>
          <p:cNvSpPr/>
          <p:nvPr/>
        </p:nvSpPr>
        <p:spPr>
          <a:xfrm>
            <a:off x="8356341" y="3417541"/>
            <a:ext cx="1360404" cy="123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b="1" spc="60" kern="0" dirty="0">
                <a:solidFill>
                  <a:srgbClr val="A78BF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02 · CHI LAVORA</a:t>
            </a:r>
            <a:endParaRPr lang="en-US" sz="750" dirty="0"/>
          </a:p>
        </p:txBody>
      </p:sp>
      <p:sp>
        <p:nvSpPr>
          <p:cNvPr id="23" name="TextBox 54"/>
          <p:cNvSpPr/>
          <p:nvPr/>
        </p:nvSpPr>
        <p:spPr>
          <a:xfrm>
            <a:off x="8356341" y="3598511"/>
            <a:ext cx="1360404" cy="3399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677"/>
              </a:lnSpc>
              <a:buNone/>
            </a:pPr>
            <a:r>
              <a:rPr lang="en-US" sz="255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2550" dirty="0"/>
          </a:p>
        </p:txBody>
      </p:sp>
      <p:sp>
        <p:nvSpPr>
          <p:cNvPr id="24" name="TextBox 56"/>
          <p:cNvSpPr/>
          <p:nvPr/>
        </p:nvSpPr>
        <p:spPr>
          <a:xfrm>
            <a:off x="8356341" y="3976525"/>
            <a:ext cx="1360404" cy="148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Forza Lavoro</a:t>
            </a:r>
            <a:endParaRPr lang="en-US" sz="975" dirty="0"/>
          </a:p>
        </p:txBody>
      </p:sp>
      <p:sp>
        <p:nvSpPr>
          <p:cNvPr id="25" name="TextBox 58"/>
          <p:cNvSpPr/>
          <p:nvPr/>
        </p:nvSpPr>
        <p:spPr>
          <a:xfrm>
            <a:off x="8356341" y="4144101"/>
            <a:ext cx="1360404" cy="130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31"/>
              </a:lnSpc>
              <a:buNone/>
            </a:pPr>
            <a:r>
              <a:rPr lang="en-US" sz="825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Negli studi di sviluppo</a:t>
            </a:r>
            <a:endParaRPr lang="en-US" sz="825" dirty="0"/>
          </a:p>
        </p:txBody>
      </p:sp>
      <p:sp>
        <p:nvSpPr>
          <p:cNvPr id="26" name="Shape 61"/>
          <p:cNvSpPr/>
          <p:nvPr/>
        </p:nvSpPr>
        <p:spPr>
          <a:xfrm>
            <a:off x="9954864" y="3274669"/>
            <a:ext cx="1627097" cy="1124220"/>
          </a:xfrm>
          <a:prstGeom prst="roundRect">
            <a:avLst>
              <a:gd name="adj" fmla="val 6778"/>
            </a:avLst>
          </a:prstGeom>
          <a:solidFill>
            <a:srgbClr val="0F2138"/>
          </a:solidFill>
          <a:ln/>
        </p:spPr>
        <p:txBody>
          <a:bodyPr/>
          <a:p/>
        </p:txBody>
      </p:sp>
      <p:pic>
        <p:nvPicPr>
          <p:cNvPr id="27" name="Picture 61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54864" y="3274669"/>
            <a:ext cx="1627097" cy="1124220"/>
          </a:xfrm>
          <a:prstGeom prst="rect">
            <a:avLst/>
          </a:prstGeom>
        </p:spPr>
      </p:pic>
      <p:sp>
        <p:nvSpPr>
          <p:cNvPr id="28" name="TextBox 63"/>
          <p:cNvSpPr/>
          <p:nvPr/>
        </p:nvSpPr>
        <p:spPr>
          <a:xfrm>
            <a:off x="10097736" y="3417541"/>
            <a:ext cx="1360404" cy="123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b="1" spc="60" kern="0" dirty="0">
                <a:solidFill>
                  <a:srgbClr val="FF6B6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 · CHI PROGRAMMA</a:t>
            </a:r>
            <a:endParaRPr lang="en-US" sz="750" dirty="0"/>
          </a:p>
        </p:txBody>
      </p:sp>
      <p:sp>
        <p:nvSpPr>
          <p:cNvPr id="29" name="TextBox 65"/>
          <p:cNvSpPr/>
          <p:nvPr/>
        </p:nvSpPr>
        <p:spPr>
          <a:xfrm>
            <a:off x="10097736" y="3598511"/>
            <a:ext cx="1360404" cy="3399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677"/>
              </a:lnSpc>
              <a:buNone/>
            </a:pPr>
            <a:r>
              <a:rPr lang="en-US" sz="2550" b="1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≈20%</a:t>
            </a:r>
            <a:endParaRPr lang="en-US" sz="2550" dirty="0"/>
          </a:p>
        </p:txBody>
      </p:sp>
      <p:sp>
        <p:nvSpPr>
          <p:cNvPr id="30" name="TextBox 67"/>
          <p:cNvSpPr/>
          <p:nvPr/>
        </p:nvSpPr>
        <p:spPr>
          <a:xfrm>
            <a:off x="10097736" y="3976525"/>
            <a:ext cx="1360404" cy="148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Ruoli Tecnici Core</a:t>
            </a:r>
            <a:endParaRPr lang="en-US" sz="975" dirty="0"/>
          </a:p>
        </p:txBody>
      </p:sp>
      <p:sp>
        <p:nvSpPr>
          <p:cNvPr id="31" name="TextBox 69"/>
          <p:cNvSpPr/>
          <p:nvPr/>
        </p:nvSpPr>
        <p:spPr>
          <a:xfrm>
            <a:off x="10097736" y="4144101"/>
            <a:ext cx="1360404" cy="130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31"/>
              </a:lnSpc>
              <a:buNone/>
            </a:pPr>
            <a:r>
              <a:rPr lang="en-US" sz="825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Ingegneria e codice</a:t>
            </a:r>
            <a:endParaRPr lang="en-US" sz="825" dirty="0"/>
          </a:p>
        </p:txBody>
      </p:sp>
      <p:sp>
        <p:nvSpPr>
          <p:cNvPr id="32" name="TextBox 73"/>
          <p:cNvSpPr/>
          <p:nvPr/>
        </p:nvSpPr>
        <p:spPr>
          <a:xfrm>
            <a:off x="6472076" y="4532235"/>
            <a:ext cx="5110035" cy="160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67"/>
              </a:lnSpc>
              <a:buNone/>
            </a:pPr>
            <a:r>
              <a:rPr lang="en-US" sz="975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divario aumenta avvicinandosi alla scrittura del codice e ai ruoli apicali.</a:t>
            </a:r>
            <a:endParaRPr lang="en-US" sz="975" dirty="0"/>
          </a:p>
        </p:txBody>
      </p:sp>
      <p:sp>
        <p:nvSpPr>
          <p:cNvPr id="33" name="Shape 80"/>
          <p:cNvSpPr/>
          <p:nvPr/>
        </p:nvSpPr>
        <p:spPr>
          <a:xfrm>
            <a:off x="609585" y="4864560"/>
            <a:ext cx="5381490" cy="711083"/>
          </a:xfrm>
          <a:prstGeom prst="roundRect">
            <a:avLst>
              <a:gd name="adj" fmla="val 16074"/>
            </a:avLst>
          </a:prstGeom>
          <a:solidFill>
            <a:srgbClr val="0F2138">
              <a:alpha val="72000"/>
            </a:srgbClr>
          </a:solidFill>
          <a:ln/>
          <a:effectLst>
            <a:outerShdw sx="100000" sy="100000" kx="0" ky="0" algn="bl" rotWithShape="0" blurRad="228594" dist="76198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34" name="Picture 80" descr="__type_image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9585" y="4864560"/>
            <a:ext cx="5381490" cy="711083"/>
          </a:xfrm>
          <a:prstGeom prst="rect">
            <a:avLst/>
          </a:prstGeom>
        </p:spPr>
      </p:pic>
      <p:sp>
        <p:nvSpPr>
          <p:cNvPr id="35" name="TextBox 82"/>
          <p:cNvSpPr/>
          <p:nvPr/>
        </p:nvSpPr>
        <p:spPr>
          <a:xfrm>
            <a:off x="809605" y="5016956"/>
            <a:ext cx="306578" cy="406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↔</a:t>
            </a:r>
            <a:endParaRPr lang="en-US" sz="1800" dirty="0"/>
          </a:p>
        </p:txBody>
      </p:sp>
      <p:sp>
        <p:nvSpPr>
          <p:cNvPr id="36" name="TextBox 86"/>
          <p:cNvSpPr/>
          <p:nvPr/>
        </p:nvSpPr>
        <p:spPr>
          <a:xfrm>
            <a:off x="1268579" y="5016956"/>
            <a:ext cx="2529271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9"/>
              </a:lnSpc>
              <a:buNone/>
            </a:pPr>
            <a:r>
              <a:rPr lang="en-US" sz="1237" b="1" spc="25" kern="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Segregazione orizzontale</a:t>
            </a:r>
            <a:endParaRPr lang="en-US" sz="1237" dirty="0"/>
          </a:p>
        </p:txBody>
      </p:sp>
      <p:sp>
        <p:nvSpPr>
          <p:cNvPr id="37" name="TextBox 88"/>
          <p:cNvSpPr/>
          <p:nvPr/>
        </p:nvSpPr>
        <p:spPr>
          <a:xfrm>
            <a:off x="1268579" y="5249718"/>
            <a:ext cx="2529271" cy="173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67"/>
              </a:lnSpc>
              <a:buNone/>
            </a:pPr>
            <a:r>
              <a:rPr lang="en-US" sz="1012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uomini e donne concentrati in ruoli diversi</a:t>
            </a:r>
            <a:endParaRPr lang="en-US" sz="1012" dirty="0"/>
          </a:p>
        </p:txBody>
      </p:sp>
      <p:sp>
        <p:nvSpPr>
          <p:cNvPr id="38" name="Shape 92"/>
          <p:cNvSpPr/>
          <p:nvPr/>
        </p:nvSpPr>
        <p:spPr>
          <a:xfrm>
            <a:off x="6200620" y="4864560"/>
            <a:ext cx="5381490" cy="711083"/>
          </a:xfrm>
          <a:prstGeom prst="roundRect">
            <a:avLst>
              <a:gd name="adj" fmla="val 16074"/>
            </a:avLst>
          </a:prstGeom>
          <a:solidFill>
            <a:srgbClr val="0F2138">
              <a:alpha val="72000"/>
            </a:srgbClr>
          </a:solidFill>
          <a:ln/>
          <a:effectLst>
            <a:outerShdw sx="100000" sy="100000" kx="0" ky="0" algn="bl" rotWithShape="0" blurRad="228594" dist="76198" dir="5400000">
              <a:srgbClr val="000000">
                <a:alpha val="22000"/>
              </a:srgbClr>
            </a:outerShdw>
          </a:effectLst>
        </p:spPr>
        <p:txBody>
          <a:bodyPr/>
          <a:p/>
        </p:txBody>
      </p:sp>
      <p:pic>
        <p:nvPicPr>
          <p:cNvPr id="39" name="Picture 92" descr="__type_image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200620" y="4864560"/>
            <a:ext cx="5381490" cy="711083"/>
          </a:xfrm>
          <a:prstGeom prst="rect">
            <a:avLst/>
          </a:prstGeom>
        </p:spPr>
      </p:pic>
      <p:sp>
        <p:nvSpPr>
          <p:cNvPr id="40" name="TextBox 94"/>
          <p:cNvSpPr/>
          <p:nvPr/>
        </p:nvSpPr>
        <p:spPr>
          <a:xfrm>
            <a:off x="6400640" y="5016956"/>
            <a:ext cx="107154" cy="406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800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↥</a:t>
            </a:r>
            <a:endParaRPr lang="en-US" sz="1800" dirty="0"/>
          </a:p>
        </p:txBody>
      </p:sp>
      <p:sp>
        <p:nvSpPr>
          <p:cNvPr id="41" name="TextBox 98"/>
          <p:cNvSpPr/>
          <p:nvPr/>
        </p:nvSpPr>
        <p:spPr>
          <a:xfrm>
            <a:off x="6660190" y="5016956"/>
            <a:ext cx="2991966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9"/>
              </a:lnSpc>
              <a:buNone/>
            </a:pPr>
            <a:r>
              <a:rPr lang="en-US" sz="1237" b="1" spc="25" kern="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Segregazione verticale</a:t>
            </a:r>
            <a:endParaRPr lang="en-US" sz="1237" dirty="0"/>
          </a:p>
        </p:txBody>
      </p:sp>
      <p:sp>
        <p:nvSpPr>
          <p:cNvPr id="42" name="TextBox 100"/>
          <p:cNvSpPr/>
          <p:nvPr/>
        </p:nvSpPr>
        <p:spPr>
          <a:xfrm>
            <a:off x="6660190" y="5249718"/>
            <a:ext cx="2991966" cy="173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67"/>
              </a:lnSpc>
              <a:buNone/>
            </a:pPr>
            <a:r>
              <a:rPr lang="en-US" sz="1012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meno presenza femminile salendo nella gerarchia</a:t>
            </a:r>
            <a:endParaRPr lang="en-US" sz="1012" dirty="0"/>
          </a:p>
        </p:txBody>
      </p:sp>
      <p:sp>
        <p:nvSpPr>
          <p:cNvPr id="43" name="TextBox 105"/>
          <p:cNvSpPr/>
          <p:nvPr/>
        </p:nvSpPr>
        <p:spPr>
          <a:xfrm>
            <a:off x="609585" y="6562647"/>
            <a:ext cx="3059383" cy="123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spc="60" kern="0" dirty="0">
                <a:solidFill>
                  <a:srgbClr val="A9B8CC">
                    <a:alpha val="66000"/>
                  </a:srgbClr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Gender &amp; Inclusion · Università di Roma Tor Vergata</a:t>
            </a:r>
            <a:endParaRPr lang="en-US" sz="750" dirty="0"/>
          </a:p>
        </p:txBody>
      </p:sp>
      <p:sp>
        <p:nvSpPr>
          <p:cNvPr id="44" name="TextBox 1"/>
          <p:cNvSpPr/>
          <p:nvPr/>
        </p:nvSpPr>
        <p:spPr>
          <a:xfrm>
            <a:off x="11862043" y="6518890"/>
            <a:ext cx="62953" cy="14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A9B8C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86"/>
            <a:ext cx="12191695" cy="6857829"/>
          </a:xfrm>
          <a:prstGeom prst="rect">
            <a:avLst/>
          </a:prstGeom>
          <a:solidFill>
            <a:srgbClr val="07111F"/>
          </a:solidFill>
          <a:ln/>
        </p:spPr>
        <p:txBody>
          <a:bodyPr/>
          <a:p/>
        </p:txBody>
      </p:sp>
      <p:sp>
        <p:nvSpPr>
          <p:cNvPr id="3" name="TextBox 3"/>
          <p:cNvSpPr/>
          <p:nvPr/>
        </p:nvSpPr>
        <p:spPr>
          <a:xfrm>
            <a:off x="9144000" y="438225"/>
            <a:ext cx="2560320" cy="288571"/>
          </a:xfrm>
          <a:prstGeom prst="roundRect">
            <a:avLst>
              <a:gd name="adj" fmla="val 50000"/>
            </a:avLst>
          </a:prstGeom>
          <a:solidFill>
            <a:srgbClr val="07111F">
              <a:alpha val="72000"/>
            </a:srgbClr>
          </a:solidFill>
          <a:ln w="9525">
            <a:solidFill>
              <a:srgbClr val="5EE6A8">
                <a:alpha val="60000"/>
              </a:srgbClr>
            </a:solidFill>
            <a:prstDash val="solid"/>
          </a:ln>
        </p:spPr>
        <p:txBody>
          <a:bodyPr wrap="none" lIns="114297" tIns="66673" rIns="114297" bIns="66673" rtlCol="0" anchor="t">
            <a:spAutoFit/>
          </a:bodyPr>
          <a:lstStyle/>
          <a:p>
            <a:pPr algn="l" indent="0" marL="0">
              <a:lnSpc>
                <a:spcPts val="1072"/>
              </a:lnSpc>
              <a:buNone/>
              <a:defRPr sz="1100" b="1"/>
            </a:pPr>
            <a:r>
              <a:rPr lang="en-US" sz="825" b="1" spc="82" kern="0" dirty="0">
                <a:solidFill>
                  <a:srgbClr val="5EE6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 · SAMUELE DE SANTIS</a:t>
            </a:r>
            <a:endParaRPr lang="en-US" sz="825" dirty="0"/>
          </a:p>
        </p:txBody>
      </p:sp>
      <p:sp>
        <p:nvSpPr>
          <p:cNvPr id="4" name="TextBox 5"/>
          <p:cNvSpPr/>
          <p:nvPr/>
        </p:nvSpPr>
        <p:spPr>
          <a:xfrm>
            <a:off x="609585" y="1253336"/>
            <a:ext cx="10972526" cy="160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67"/>
              </a:lnSpc>
              <a:buNone/>
            </a:pPr>
            <a:r>
              <a:rPr lang="en-US" sz="975" b="1" spc="156" kern="0" dirty="0">
                <a:solidFill>
                  <a:srgbClr val="5EE6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06 / POTERE ECONOMICO E COMPETITIVO</a:t>
            </a:r>
            <a:endParaRPr lang="en-US" sz="975" dirty="0"/>
          </a:p>
        </p:txBody>
      </p:sp>
      <p:sp>
        <p:nvSpPr>
          <p:cNvPr id="5" name="TextBox 7"/>
          <p:cNvSpPr/>
          <p:nvPr/>
        </p:nvSpPr>
        <p:spPr>
          <a:xfrm>
            <a:off x="609585" y="1557087"/>
            <a:ext cx="9048524" cy="527136"/>
          </a:xfrm>
          <a:prstGeom prst="rect">
            <a:avLst/>
          </a:prstGeom>
          <a:noFill/>
          <a:ln/>
        </p:spPr>
        <p:txBody>
          <a:bodyPr wrap="square" lIns="0" tIns="0" rIns="0" bIns="117155" rtlCol="0" anchor="t">
            <a:spAutoFit/>
          </a:bodyPr>
          <a:lstStyle/>
          <a:p>
            <a:pPr algn="l" indent="0" marL="0">
              <a:lnSpc>
                <a:spcPts val="3229"/>
              </a:lnSpc>
              <a:buNone/>
            </a:pPr>
            <a:r>
              <a:rPr lang="en-US" sz="3075" b="1" spc="-77" kern="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 </a:t>
            </a:r>
            <a:r>
              <a:rPr lang="en-US" sz="3075" b="1" spc="-77" kern="0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</a:t>
            </a:r>
            <a:r>
              <a:rPr lang="en-US" sz="3075" b="1" spc="-77" kern="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cresce salendo di livello</a:t>
            </a:r>
            <a:endParaRPr lang="en-US" sz="3075" dirty="0"/>
          </a:p>
        </p:txBody>
      </p:sp>
      <p:sp>
        <p:nvSpPr>
          <p:cNvPr id="6" name="TextBox 9"/>
          <p:cNvSpPr/>
          <p:nvPr/>
        </p:nvSpPr>
        <p:spPr>
          <a:xfrm>
            <a:off x="609585" y="2350916"/>
            <a:ext cx="10972526" cy="25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Dalle asimmetrie retributive alle barriere d'accesso nei circuiti professionistici eSports.</a:t>
            </a:r>
            <a:endParaRPr lang="en-US" sz="1500" dirty="0"/>
          </a:p>
        </p:txBody>
      </p:sp>
      <p:sp>
        <p:nvSpPr>
          <p:cNvPr id="7" name="Shape 13"/>
          <p:cNvSpPr/>
          <p:nvPr/>
        </p:nvSpPr>
        <p:spPr>
          <a:xfrm>
            <a:off x="609585" y="2779530"/>
            <a:ext cx="3530413" cy="1711629"/>
          </a:xfrm>
          <a:prstGeom prst="roundRect">
            <a:avLst>
              <a:gd name="adj" fmla="val 6678"/>
            </a:avLst>
          </a:prstGeom>
          <a:solidFill>
            <a:srgbClr val="0F2138">
              <a:alpha val="72000"/>
            </a:srgbClr>
          </a:solidFill>
          <a:ln w="9525">
            <a:solidFill>
              <a:srgbClr val="FF6B6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15"/>
          <p:cNvSpPr/>
          <p:nvPr/>
        </p:nvSpPr>
        <p:spPr>
          <a:xfrm>
            <a:off x="790555" y="2941451"/>
            <a:ext cx="33337" cy="1387788"/>
          </a:xfrm>
          <a:prstGeom prst="roundRect">
            <a:avLst>
              <a:gd name="adj" fmla="val 49999"/>
            </a:avLst>
          </a:prstGeom>
          <a:solidFill>
            <a:srgbClr val="FF6B6B"/>
          </a:solidFill>
          <a:ln/>
          <a:effectLst>
            <a:outerShdw sx="100000" sy="100000" kx="0" ky="0" algn="bl" rotWithShape="0" blurRad="95248" dist="50800" dir="16200000">
              <a:srgbClr val="FF6B6B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9" name="TextBox 19"/>
          <p:cNvSpPr/>
          <p:nvPr/>
        </p:nvSpPr>
        <p:spPr>
          <a:xfrm>
            <a:off x="995338" y="2941451"/>
            <a:ext cx="2963689" cy="1422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2" b="1" spc="86" kern="0" dirty="0">
                <a:solidFill>
                  <a:srgbClr val="FF6B6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DIVARIO RETRIBUTIVO</a:t>
            </a:r>
            <a:endParaRPr lang="en-US" sz="862" dirty="0"/>
          </a:p>
        </p:txBody>
      </p:sp>
      <p:sp>
        <p:nvSpPr>
          <p:cNvPr id="10" name="TextBox 21"/>
          <p:cNvSpPr/>
          <p:nvPr/>
        </p:nvSpPr>
        <p:spPr>
          <a:xfrm>
            <a:off x="995338" y="3178975"/>
            <a:ext cx="2963689" cy="533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200" b="1" spc="-210" kern="0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−24%</a:t>
            </a:r>
            <a:endParaRPr lang="en-US" sz="4200" dirty="0"/>
          </a:p>
        </p:txBody>
      </p:sp>
      <p:sp>
        <p:nvSpPr>
          <p:cNvPr id="11" name="TextBox 23"/>
          <p:cNvSpPr/>
          <p:nvPr/>
        </p:nvSpPr>
        <p:spPr>
          <a:xfrm>
            <a:off x="995338" y="3845708"/>
            <a:ext cx="2963689" cy="186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68"/>
              </a:lnSpc>
              <a:buNone/>
            </a:pPr>
            <a:r>
              <a:rPr lang="en-US" sz="1087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gender pay gap medio negli studi USA</a:t>
            </a:r>
            <a:endParaRPr lang="en-US" sz="1087" dirty="0"/>
          </a:p>
        </p:txBody>
      </p:sp>
      <p:sp>
        <p:nvSpPr>
          <p:cNvPr id="12" name="Shape 27"/>
          <p:cNvSpPr/>
          <p:nvPr/>
        </p:nvSpPr>
        <p:spPr>
          <a:xfrm>
            <a:off x="4330493" y="2779530"/>
            <a:ext cx="3530561" cy="1711629"/>
          </a:xfrm>
          <a:prstGeom prst="roundRect">
            <a:avLst>
              <a:gd name="adj" fmla="val 6678"/>
            </a:avLst>
          </a:prstGeom>
          <a:solidFill>
            <a:srgbClr val="0F2138">
              <a:alpha val="72000"/>
            </a:srgbClr>
          </a:solidFill>
          <a:ln w="9525">
            <a:solidFill>
              <a:srgbClr val="FF6B6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29"/>
          <p:cNvSpPr/>
          <p:nvPr/>
        </p:nvSpPr>
        <p:spPr>
          <a:xfrm>
            <a:off x="4511463" y="2941451"/>
            <a:ext cx="33337" cy="1387788"/>
          </a:xfrm>
          <a:prstGeom prst="roundRect">
            <a:avLst>
              <a:gd name="adj" fmla="val 49999"/>
            </a:avLst>
          </a:prstGeom>
          <a:solidFill>
            <a:srgbClr val="FF6B6B"/>
          </a:solidFill>
          <a:ln/>
          <a:effectLst>
            <a:outerShdw sx="100000" sy="100000" kx="0" ky="0" algn="bl" rotWithShape="0" blurRad="95248" dist="50800" dir="16200000">
              <a:srgbClr val="FF6B6B">
                <a:alpha val="40000"/>
              </a:srgbClr>
            </a:outerShdw>
          </a:effectLst>
        </p:spPr>
        <p:txBody>
          <a:bodyPr/>
          <a:p/>
        </p:txBody>
      </p:sp>
      <p:sp>
        <p:nvSpPr>
          <p:cNvPr id="14" name="TextBox 33"/>
          <p:cNvSpPr/>
          <p:nvPr/>
        </p:nvSpPr>
        <p:spPr>
          <a:xfrm>
            <a:off x="4716245" y="2941451"/>
            <a:ext cx="2963838" cy="1422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2" b="1" spc="86" kern="0" dirty="0">
                <a:solidFill>
                  <a:srgbClr val="FF6B6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SENIORITY &amp; COMPENSI</a:t>
            </a:r>
            <a:endParaRPr lang="en-US" sz="862" dirty="0"/>
          </a:p>
        </p:txBody>
      </p:sp>
      <p:sp>
        <p:nvSpPr>
          <p:cNvPr id="15" name="TextBox 39"/>
          <p:cNvSpPr/>
          <p:nvPr/>
        </p:nvSpPr>
        <p:spPr>
          <a:xfrm>
            <a:off x="4716245" y="3178975"/>
            <a:ext cx="1182856" cy="1299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87" b="1" spc="63" kern="0" dirty="0">
                <a:solidFill>
                  <a:srgbClr val="A9B8C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UOMINI</a:t>
            </a:r>
            <a:endParaRPr lang="en-US" sz="787" dirty="0"/>
          </a:p>
        </p:txBody>
      </p:sp>
      <p:sp>
        <p:nvSpPr>
          <p:cNvPr id="16" name="TextBox 41"/>
          <p:cNvSpPr/>
          <p:nvPr/>
        </p:nvSpPr>
        <p:spPr>
          <a:xfrm>
            <a:off x="4716245" y="3308899"/>
            <a:ext cx="1182856" cy="5143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4050" b="1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68%</a:t>
            </a:r>
            <a:endParaRPr lang="en-US" sz="4050" dirty="0"/>
          </a:p>
        </p:txBody>
      </p:sp>
      <p:sp>
        <p:nvSpPr>
          <p:cNvPr id="17" name="TextBox 46"/>
          <p:cNvSpPr/>
          <p:nvPr/>
        </p:nvSpPr>
        <p:spPr>
          <a:xfrm>
            <a:off x="6032448" y="3468736"/>
            <a:ext cx="171446" cy="198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</a:t>
            </a:r>
            <a:endParaRPr lang="en-US" sz="1200" dirty="0"/>
          </a:p>
        </p:txBody>
      </p:sp>
      <p:sp>
        <p:nvSpPr>
          <p:cNvPr id="18" name="TextBox 51"/>
          <p:cNvSpPr/>
          <p:nvPr/>
        </p:nvSpPr>
        <p:spPr>
          <a:xfrm>
            <a:off x="6337241" y="3178975"/>
            <a:ext cx="1182856" cy="1299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87" b="1" spc="63" kern="0" dirty="0">
                <a:solidFill>
                  <a:srgbClr val="A9B8C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DONNE</a:t>
            </a:r>
            <a:endParaRPr lang="en-US" sz="787" dirty="0"/>
          </a:p>
        </p:txBody>
      </p:sp>
      <p:sp>
        <p:nvSpPr>
          <p:cNvPr id="19" name="TextBox 53"/>
          <p:cNvSpPr/>
          <p:nvPr/>
        </p:nvSpPr>
        <p:spPr>
          <a:xfrm>
            <a:off x="6337241" y="3308899"/>
            <a:ext cx="1182856" cy="5143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405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38%</a:t>
            </a:r>
            <a:endParaRPr lang="en-US" sz="4050" dirty="0"/>
          </a:p>
        </p:txBody>
      </p:sp>
      <p:sp>
        <p:nvSpPr>
          <p:cNvPr id="20" name="TextBox 57"/>
          <p:cNvSpPr/>
          <p:nvPr/>
        </p:nvSpPr>
        <p:spPr>
          <a:xfrm>
            <a:off x="4716245" y="3956583"/>
            <a:ext cx="2963838" cy="372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68"/>
              </a:lnSpc>
              <a:buNone/>
            </a:pPr>
            <a:r>
              <a:rPr lang="en-US" sz="1087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Oltre 125k$ tra game designer con 6+ anni di esperienza</a:t>
            </a:r>
            <a:endParaRPr lang="en-US" sz="1087" dirty="0"/>
          </a:p>
        </p:txBody>
      </p:sp>
      <p:sp>
        <p:nvSpPr>
          <p:cNvPr id="21" name="Shape 61"/>
          <p:cNvSpPr/>
          <p:nvPr/>
        </p:nvSpPr>
        <p:spPr>
          <a:xfrm>
            <a:off x="8051549" y="2779530"/>
            <a:ext cx="3530413" cy="1711629"/>
          </a:xfrm>
          <a:prstGeom prst="roundRect">
            <a:avLst>
              <a:gd name="adj" fmla="val 6678"/>
            </a:avLst>
          </a:prstGeom>
          <a:solidFill>
            <a:srgbClr val="0F2138">
              <a:alpha val="72000"/>
            </a:srgbClr>
          </a:solidFill>
          <a:ln w="9525">
            <a:solidFill>
              <a:srgbClr val="37D6E8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63"/>
          <p:cNvSpPr/>
          <p:nvPr/>
        </p:nvSpPr>
        <p:spPr>
          <a:xfrm>
            <a:off x="8232520" y="2941451"/>
            <a:ext cx="33337" cy="1387788"/>
          </a:xfrm>
          <a:prstGeom prst="roundRect">
            <a:avLst>
              <a:gd name="adj" fmla="val 49999"/>
            </a:avLst>
          </a:prstGeom>
          <a:solidFill>
            <a:srgbClr val="37D6E8"/>
          </a:solidFill>
          <a:ln/>
        </p:spPr>
        <p:txBody>
          <a:bodyPr/>
          <a:p/>
        </p:txBody>
      </p:sp>
      <p:sp>
        <p:nvSpPr>
          <p:cNvPr id="23" name="TextBox 67"/>
          <p:cNvSpPr/>
          <p:nvPr/>
        </p:nvSpPr>
        <p:spPr>
          <a:xfrm>
            <a:off x="8437302" y="2941451"/>
            <a:ext cx="2963689" cy="1422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2" b="1" spc="86" kern="0" dirty="0">
                <a:solidFill>
                  <a:srgbClr val="37D6E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PUBBLICO ESPORTS GLOBALE</a:t>
            </a:r>
            <a:endParaRPr lang="en-US" sz="862" dirty="0"/>
          </a:p>
        </p:txBody>
      </p:sp>
      <p:sp>
        <p:nvSpPr>
          <p:cNvPr id="24" name="TextBox 69"/>
          <p:cNvSpPr/>
          <p:nvPr/>
        </p:nvSpPr>
        <p:spPr>
          <a:xfrm>
            <a:off x="8437302" y="3178975"/>
            <a:ext cx="2963689" cy="533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200" b="1" spc="-210" kern="0" dirty="0">
                <a:solidFill>
                  <a:srgbClr val="37D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33%</a:t>
            </a:r>
            <a:endParaRPr lang="en-US" sz="4200" dirty="0"/>
          </a:p>
        </p:txBody>
      </p:sp>
      <p:sp>
        <p:nvSpPr>
          <p:cNvPr id="25" name="TextBox 71"/>
          <p:cNvSpPr/>
          <p:nvPr/>
        </p:nvSpPr>
        <p:spPr>
          <a:xfrm>
            <a:off x="8437302" y="3845708"/>
            <a:ext cx="2963689" cy="186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68"/>
              </a:lnSpc>
              <a:buNone/>
            </a:pPr>
            <a:r>
              <a:rPr lang="en-US" sz="1087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Spettatrici femminili (Deloitte)</a:t>
            </a:r>
            <a:endParaRPr lang="en-US" sz="1087" dirty="0"/>
          </a:p>
        </p:txBody>
      </p:sp>
      <p:sp>
        <p:nvSpPr>
          <p:cNvPr id="26" name="TextBox 73"/>
          <p:cNvSpPr/>
          <p:nvPr/>
        </p:nvSpPr>
        <p:spPr>
          <a:xfrm>
            <a:off x="8437302" y="4070136"/>
            <a:ext cx="2963689" cy="160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67"/>
              </a:lnSpc>
              <a:buNone/>
            </a:pPr>
            <a:r>
              <a:rPr lang="en-US" sz="975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Presenza attiva limitata dall'ambiente ostile</a:t>
            </a:r>
            <a:endParaRPr lang="en-US" sz="975" dirty="0"/>
          </a:p>
        </p:txBody>
      </p:sp>
      <p:sp>
        <p:nvSpPr>
          <p:cNvPr id="27" name="TextBox 78"/>
          <p:cNvSpPr/>
          <p:nvPr/>
        </p:nvSpPr>
        <p:spPr>
          <a:xfrm>
            <a:off x="609585" y="4643556"/>
            <a:ext cx="10972526" cy="148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spc="108" kern="0" dirty="0">
                <a:solidFill>
                  <a:srgbClr val="A9B8C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SPAZI COMPETITIVI INCLUSIVI</a:t>
            </a:r>
            <a:endParaRPr lang="en-US" sz="900" dirty="0"/>
          </a:p>
        </p:txBody>
      </p:sp>
      <p:sp>
        <p:nvSpPr>
          <p:cNvPr id="28" name="Shape 82"/>
          <p:cNvSpPr/>
          <p:nvPr/>
        </p:nvSpPr>
        <p:spPr>
          <a:xfrm>
            <a:off x="609585" y="4887330"/>
            <a:ext cx="5381490" cy="793383"/>
          </a:xfrm>
          <a:prstGeom prst="roundRect">
            <a:avLst>
              <a:gd name="adj" fmla="val 14406"/>
            </a:avLst>
          </a:prstGeom>
          <a:solidFill>
            <a:srgbClr val="0F2138">
              <a:alpha val="72000"/>
            </a:srgbClr>
          </a:solidFill>
          <a:ln/>
          <a:effectLst>
            <a:outerShdw sx="100000" sy="100000" kx="0" ky="0" algn="bl" rotWithShape="0" blurRad="171446" dist="57149" dir="54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pic>
        <p:nvPicPr>
          <p:cNvPr id="29" name="Picture 82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585" y="4887330"/>
            <a:ext cx="5381490" cy="793383"/>
          </a:xfrm>
          <a:prstGeom prst="rect">
            <a:avLst/>
          </a:prstGeom>
        </p:spPr>
      </p:pic>
      <p:sp>
        <p:nvSpPr>
          <p:cNvPr id="30" name="TextBox 84"/>
          <p:cNvSpPr/>
          <p:nvPr/>
        </p:nvSpPr>
        <p:spPr>
          <a:xfrm>
            <a:off x="809605" y="5102977"/>
            <a:ext cx="361941" cy="361941"/>
          </a:xfrm>
          <a:prstGeom prst="roundRect">
            <a:avLst>
              <a:gd name="adj" fmla="val 21053"/>
            </a:avLst>
          </a:prstGeom>
          <a:solidFill>
            <a:srgbClr val="5EE6A8">
              <a:alpha val="10000"/>
            </a:srgbClr>
          </a:solidFill>
          <a:ln w="9525">
            <a:solidFill>
              <a:srgbClr val="5EE6A8">
                <a:alpha val="35000"/>
              </a:srgbClr>
            </a:solidFill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62"/>
              </a:lnSpc>
              <a:buNone/>
            </a:pPr>
            <a:r>
              <a:rPr lang="en-US" sz="1125" b="1" dirty="0">
                <a:solidFill>
                  <a:srgbClr val="5EE6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◆</a:t>
            </a:r>
            <a:endParaRPr lang="en-US" sz="1125" dirty="0"/>
          </a:p>
        </p:txBody>
      </p:sp>
      <p:sp>
        <p:nvSpPr>
          <p:cNvPr id="31" name="TextBox 88"/>
          <p:cNvSpPr/>
          <p:nvPr/>
        </p:nvSpPr>
        <p:spPr>
          <a:xfrm>
            <a:off x="1323942" y="5020677"/>
            <a:ext cx="4486163" cy="198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VCT Game Changers</a:t>
            </a:r>
            <a:endParaRPr lang="en-US" sz="1200" dirty="0"/>
          </a:p>
        </p:txBody>
      </p:sp>
      <p:sp>
        <p:nvSpPr>
          <p:cNvPr id="32" name="TextBox 90"/>
          <p:cNvSpPr/>
          <p:nvPr/>
        </p:nvSpPr>
        <p:spPr>
          <a:xfrm>
            <a:off x="1323942" y="5237812"/>
            <a:ext cx="4486163" cy="309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7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Valorant · Riot Games:</a:t>
            </a:r>
            <a:r>
              <a:rPr lang="en-US" sz="937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circuito professionistico ufficiale e Academy per creare visibilità e carriere esports sostenibili.</a:t>
            </a:r>
            <a:endParaRPr lang="en-US" sz="937" dirty="0"/>
          </a:p>
        </p:txBody>
      </p:sp>
      <p:sp>
        <p:nvSpPr>
          <p:cNvPr id="33" name="Shape 94"/>
          <p:cNvSpPr/>
          <p:nvPr/>
        </p:nvSpPr>
        <p:spPr>
          <a:xfrm>
            <a:off x="6200620" y="4887330"/>
            <a:ext cx="5381490" cy="793383"/>
          </a:xfrm>
          <a:prstGeom prst="roundRect">
            <a:avLst>
              <a:gd name="adj" fmla="val 14406"/>
            </a:avLst>
          </a:prstGeom>
          <a:solidFill>
            <a:srgbClr val="0F2138">
              <a:alpha val="72000"/>
            </a:srgbClr>
          </a:solidFill>
          <a:ln/>
          <a:effectLst>
            <a:outerShdw sx="100000" sy="100000" kx="0" ky="0" algn="bl" rotWithShape="0" blurRad="171446" dist="57149" dir="540000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pic>
        <p:nvPicPr>
          <p:cNvPr id="34" name="Picture 94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0620" y="4887330"/>
            <a:ext cx="5381490" cy="793383"/>
          </a:xfrm>
          <a:prstGeom prst="rect">
            <a:avLst/>
          </a:prstGeom>
        </p:spPr>
      </p:pic>
      <p:sp>
        <p:nvSpPr>
          <p:cNvPr id="35" name="TextBox 96"/>
          <p:cNvSpPr/>
          <p:nvPr/>
        </p:nvSpPr>
        <p:spPr>
          <a:xfrm>
            <a:off x="6400640" y="5102977"/>
            <a:ext cx="361941" cy="361941"/>
          </a:xfrm>
          <a:prstGeom prst="roundRect">
            <a:avLst>
              <a:gd name="adj" fmla="val 21053"/>
            </a:avLst>
          </a:prstGeom>
          <a:solidFill>
            <a:srgbClr val="5EE6A8">
              <a:alpha val="10000"/>
            </a:srgbClr>
          </a:solidFill>
          <a:ln w="9525">
            <a:solidFill>
              <a:srgbClr val="5EE6A8">
                <a:alpha val="35000"/>
              </a:srgbClr>
            </a:solidFill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62"/>
              </a:lnSpc>
              <a:buNone/>
            </a:pPr>
            <a:r>
              <a:rPr lang="en-US" sz="1125" b="1" dirty="0">
                <a:solidFill>
                  <a:srgbClr val="5EE6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◆</a:t>
            </a:r>
            <a:endParaRPr lang="en-US" sz="1125" dirty="0"/>
          </a:p>
        </p:txBody>
      </p:sp>
      <p:sp>
        <p:nvSpPr>
          <p:cNvPr id="36" name="TextBox 100"/>
          <p:cNvSpPr/>
          <p:nvPr/>
        </p:nvSpPr>
        <p:spPr>
          <a:xfrm>
            <a:off x="6914977" y="5020677"/>
            <a:ext cx="4486163" cy="1980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ESL Impact</a:t>
            </a:r>
            <a:endParaRPr lang="en-US" sz="1200" dirty="0"/>
          </a:p>
        </p:txBody>
      </p:sp>
      <p:sp>
        <p:nvSpPr>
          <p:cNvPr id="37" name="TextBox 102"/>
          <p:cNvSpPr/>
          <p:nvPr/>
        </p:nvSpPr>
        <p:spPr>
          <a:xfrm>
            <a:off x="6914977" y="5237812"/>
            <a:ext cx="4486163" cy="309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7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Counter-Strike · ESL:</a:t>
            </a:r>
            <a:r>
              <a:rPr lang="en-US" sz="937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ecosistema competitivo dedicato per abbattere le barriere d'ingresso nel panorama storico di CS2.</a:t>
            </a:r>
            <a:endParaRPr lang="en-US" sz="937" dirty="0"/>
          </a:p>
        </p:txBody>
      </p:sp>
      <p:sp>
        <p:nvSpPr>
          <p:cNvPr id="38" name="TextBox 107"/>
          <p:cNvSpPr/>
          <p:nvPr/>
        </p:nvSpPr>
        <p:spPr>
          <a:xfrm>
            <a:off x="609585" y="6562647"/>
            <a:ext cx="3059383" cy="123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spc="60" kern="0" dirty="0">
                <a:solidFill>
                  <a:srgbClr val="A9B8CC">
                    <a:alpha val="66000"/>
                  </a:srgbClr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Gender &amp; Inclusion · Università di Roma Tor Vergata</a:t>
            </a:r>
            <a:endParaRPr lang="en-US" sz="750" dirty="0"/>
          </a:p>
        </p:txBody>
      </p:sp>
      <p:sp>
        <p:nvSpPr>
          <p:cNvPr id="39" name="TextBox 1"/>
          <p:cNvSpPr/>
          <p:nvPr/>
        </p:nvSpPr>
        <p:spPr>
          <a:xfrm>
            <a:off x="11862043" y="6518890"/>
            <a:ext cx="62953" cy="14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A9B8C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86"/>
            <a:ext cx="12191695" cy="6857829"/>
          </a:xfrm>
          <a:prstGeom prst="rect">
            <a:avLst/>
          </a:prstGeom>
          <a:solidFill>
            <a:srgbClr val="07111F"/>
          </a:solidFill>
          <a:ln/>
        </p:spPr>
        <p:txBody>
          <a:bodyPr/>
          <a:p/>
        </p:txBody>
      </p:sp>
      <p:sp>
        <p:nvSpPr>
          <p:cNvPr id="3" name="TextBox 3"/>
          <p:cNvSpPr/>
          <p:nvPr/>
        </p:nvSpPr>
        <p:spPr>
          <a:xfrm>
            <a:off x="9144000" y="438225"/>
            <a:ext cx="2560320" cy="288571"/>
          </a:xfrm>
          <a:prstGeom prst="roundRect">
            <a:avLst>
              <a:gd name="adj" fmla="val 50000"/>
            </a:avLst>
          </a:prstGeom>
          <a:solidFill>
            <a:srgbClr val="07111F">
              <a:alpha val="72000"/>
            </a:srgbClr>
          </a:solidFill>
          <a:ln w="9525">
            <a:solidFill>
              <a:srgbClr val="5EE6A8">
                <a:alpha val="60000"/>
              </a:srgbClr>
            </a:solidFill>
            <a:prstDash val="solid"/>
          </a:ln>
        </p:spPr>
        <p:txBody>
          <a:bodyPr wrap="none" lIns="114297" tIns="66673" rIns="114297" bIns="66673" rtlCol="0" anchor="t">
            <a:spAutoFit/>
          </a:bodyPr>
          <a:lstStyle/>
          <a:p>
            <a:pPr algn="l" indent="0" marL="0">
              <a:lnSpc>
                <a:spcPts val="1072"/>
              </a:lnSpc>
              <a:buNone/>
              <a:defRPr sz="1100" b="1"/>
            </a:pPr>
            <a:r>
              <a:rPr lang="en-US" sz="825" b="1" spc="82" kern="0" dirty="0">
                <a:solidFill>
                  <a:srgbClr val="5EE6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 · SAMUELE DE SANTIS</a:t>
            </a:r>
            <a:endParaRPr lang="en-US" sz="825" dirty="0"/>
          </a:p>
        </p:txBody>
      </p:sp>
      <p:sp>
        <p:nvSpPr>
          <p:cNvPr id="4" name="TextBox 5"/>
          <p:cNvSpPr/>
          <p:nvPr/>
        </p:nvSpPr>
        <p:spPr>
          <a:xfrm>
            <a:off x="609585" y="1423442"/>
            <a:ext cx="10972526" cy="160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67"/>
              </a:lnSpc>
              <a:buNone/>
            </a:pPr>
            <a:r>
              <a:rPr lang="en-US" sz="975" b="1" spc="156" kern="0" dirty="0">
                <a:solidFill>
                  <a:srgbClr val="5EE6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07 / DALLA DIVERSITÀ ALL'INCLUSIONE</a:t>
            </a:r>
            <a:endParaRPr lang="en-US" sz="975" dirty="0"/>
          </a:p>
        </p:txBody>
      </p:sp>
      <p:sp>
        <p:nvSpPr>
          <p:cNvPr id="5" name="TextBox 7"/>
          <p:cNvSpPr/>
          <p:nvPr/>
        </p:nvSpPr>
        <p:spPr>
          <a:xfrm>
            <a:off x="609585" y="1727193"/>
            <a:ext cx="9048524" cy="937147"/>
          </a:xfrm>
          <a:prstGeom prst="rect">
            <a:avLst/>
          </a:prstGeom>
          <a:noFill/>
          <a:ln/>
        </p:spPr>
        <p:txBody>
          <a:bodyPr wrap="square" lIns="0" tIns="0" rIns="0" bIns="117155" rtlCol="0" anchor="t">
            <a:spAutoFit/>
          </a:bodyPr>
          <a:lstStyle/>
          <a:p>
            <a:pPr algn="l" indent="0" marL="0">
              <a:lnSpc>
                <a:spcPts val="3229"/>
              </a:lnSpc>
              <a:buNone/>
            </a:pPr>
            <a:r>
              <a:rPr lang="en-US" sz="3075" b="1" spc="-77" kern="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 basta essere presenti: </a:t>
            </a:r>
            <a:r>
              <a:rPr lang="en-US" sz="3075" b="1" spc="-77" kern="0" dirty="0">
                <a:solidFill>
                  <a:srgbClr val="5EE6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bisogna poter partecipare</a:t>
            </a:r>
            <a:endParaRPr lang="en-US" sz="3075" dirty="0"/>
          </a:p>
        </p:txBody>
      </p:sp>
      <p:sp>
        <p:nvSpPr>
          <p:cNvPr id="6" name="TextBox 9"/>
          <p:cNvSpPr/>
          <p:nvPr/>
        </p:nvSpPr>
        <p:spPr>
          <a:xfrm>
            <a:off x="609585" y="2931034"/>
            <a:ext cx="10972526" cy="25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Dalla semplice rappresentazione numerica alla progettazione attiva di spazi e ambienti equi.</a:t>
            </a:r>
            <a:endParaRPr lang="en-US" sz="1500" dirty="0"/>
          </a:p>
        </p:txBody>
      </p:sp>
      <p:sp>
        <p:nvSpPr>
          <p:cNvPr id="7" name="Shape 15"/>
          <p:cNvSpPr/>
          <p:nvPr/>
        </p:nvSpPr>
        <p:spPr>
          <a:xfrm>
            <a:off x="609585" y="3492994"/>
            <a:ext cx="33337" cy="1484375"/>
          </a:xfrm>
          <a:prstGeom prst="roundRect">
            <a:avLst>
              <a:gd name="adj" fmla="val 49999"/>
            </a:avLst>
          </a:prstGeom>
          <a:solidFill>
            <a:srgbClr val="37D6E8"/>
          </a:solidFill>
          <a:ln/>
        </p:spPr>
        <p:txBody>
          <a:bodyPr/>
          <a:p/>
        </p:txBody>
      </p:sp>
      <p:sp>
        <p:nvSpPr>
          <p:cNvPr id="8" name="TextBox 21"/>
          <p:cNvSpPr/>
          <p:nvPr/>
        </p:nvSpPr>
        <p:spPr>
          <a:xfrm>
            <a:off x="814367" y="3492994"/>
            <a:ext cx="982390" cy="571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6000" b="1" spc="-360" kern="0" dirty="0">
                <a:solidFill>
                  <a:srgbClr val="37D6E8">
                    <a:alpha val="28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6000" dirty="0"/>
          </a:p>
        </p:txBody>
      </p:sp>
      <p:sp>
        <p:nvSpPr>
          <p:cNvPr id="9" name="TextBox 24"/>
          <p:cNvSpPr/>
          <p:nvPr/>
        </p:nvSpPr>
        <p:spPr>
          <a:xfrm>
            <a:off x="814367" y="4178777"/>
            <a:ext cx="3249432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spc="30" kern="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INCLUSIVO</a:t>
            </a:r>
            <a:endParaRPr lang="en-US" sz="1500" dirty="0"/>
          </a:p>
        </p:txBody>
      </p:sp>
      <p:sp>
        <p:nvSpPr>
          <p:cNvPr id="10" name="TextBox 26"/>
          <p:cNvSpPr/>
          <p:nvPr/>
        </p:nvSpPr>
        <p:spPr>
          <a:xfrm>
            <a:off x="814367" y="4521669"/>
            <a:ext cx="3249432" cy="45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94"/>
              </a:lnSpc>
              <a:buNone/>
            </a:pPr>
            <a:r>
              <a:rPr lang="en-US" sz="1237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Personaggi e sistemi di personalizzazione meno stereotipati.</a:t>
            </a:r>
            <a:endParaRPr lang="en-US" sz="1237" dirty="0"/>
          </a:p>
        </p:txBody>
      </p:sp>
      <p:sp>
        <p:nvSpPr>
          <p:cNvPr id="11" name="Shape 32"/>
          <p:cNvSpPr/>
          <p:nvPr/>
        </p:nvSpPr>
        <p:spPr>
          <a:xfrm>
            <a:off x="4368592" y="3492994"/>
            <a:ext cx="33337" cy="1484375"/>
          </a:xfrm>
          <a:prstGeom prst="roundRect">
            <a:avLst>
              <a:gd name="adj" fmla="val 49999"/>
            </a:avLst>
          </a:prstGeom>
          <a:solidFill>
            <a:srgbClr val="A78BFA"/>
          </a:solidFill>
          <a:ln/>
        </p:spPr>
        <p:txBody>
          <a:bodyPr/>
          <a:p/>
        </p:txBody>
      </p:sp>
      <p:sp>
        <p:nvSpPr>
          <p:cNvPr id="12" name="TextBox 38"/>
          <p:cNvSpPr/>
          <p:nvPr/>
        </p:nvSpPr>
        <p:spPr>
          <a:xfrm>
            <a:off x="4573374" y="3492994"/>
            <a:ext cx="982390" cy="571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6000" b="1" spc="-360" kern="0" dirty="0">
                <a:solidFill>
                  <a:srgbClr val="A78BFA">
                    <a:alpha val="28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6000" dirty="0"/>
          </a:p>
        </p:txBody>
      </p:sp>
      <p:sp>
        <p:nvSpPr>
          <p:cNvPr id="13" name="TextBox 41"/>
          <p:cNvSpPr/>
          <p:nvPr/>
        </p:nvSpPr>
        <p:spPr>
          <a:xfrm>
            <a:off x="4573374" y="4178777"/>
            <a:ext cx="3249581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spc="30" kern="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COMMUNITY SICURE</a:t>
            </a:r>
            <a:endParaRPr lang="en-US" sz="1500" dirty="0"/>
          </a:p>
        </p:txBody>
      </p:sp>
      <p:sp>
        <p:nvSpPr>
          <p:cNvPr id="14" name="TextBox 43"/>
          <p:cNvSpPr/>
          <p:nvPr/>
        </p:nvSpPr>
        <p:spPr>
          <a:xfrm>
            <a:off x="4573374" y="4521669"/>
            <a:ext cx="3249581" cy="45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94"/>
              </a:lnSpc>
              <a:buNone/>
            </a:pPr>
            <a:r>
              <a:rPr lang="en-US" sz="1237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Moderazione efficace, reporting chiaro e contrasto all’hate speech.</a:t>
            </a:r>
            <a:endParaRPr lang="en-US" sz="1237" dirty="0"/>
          </a:p>
        </p:txBody>
      </p:sp>
      <p:sp>
        <p:nvSpPr>
          <p:cNvPr id="15" name="Shape 49"/>
          <p:cNvSpPr/>
          <p:nvPr/>
        </p:nvSpPr>
        <p:spPr>
          <a:xfrm>
            <a:off x="8127747" y="3492994"/>
            <a:ext cx="33337" cy="1484375"/>
          </a:xfrm>
          <a:prstGeom prst="roundRect">
            <a:avLst>
              <a:gd name="adj" fmla="val 49999"/>
            </a:avLst>
          </a:prstGeom>
          <a:solidFill>
            <a:srgbClr val="5EE6A8"/>
          </a:solidFill>
          <a:ln/>
        </p:spPr>
        <p:txBody>
          <a:bodyPr/>
          <a:p/>
        </p:txBody>
      </p:sp>
      <p:sp>
        <p:nvSpPr>
          <p:cNvPr id="16" name="TextBox 55"/>
          <p:cNvSpPr/>
          <p:nvPr/>
        </p:nvSpPr>
        <p:spPr>
          <a:xfrm>
            <a:off x="8332530" y="3492994"/>
            <a:ext cx="982390" cy="571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6000" b="1" spc="-360" kern="0" dirty="0">
                <a:solidFill>
                  <a:srgbClr val="5EE6A8">
                    <a:alpha val="28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6000" dirty="0"/>
          </a:p>
        </p:txBody>
      </p:sp>
      <p:sp>
        <p:nvSpPr>
          <p:cNvPr id="17" name="TextBox 58"/>
          <p:cNvSpPr/>
          <p:nvPr/>
        </p:nvSpPr>
        <p:spPr>
          <a:xfrm>
            <a:off x="8332530" y="4178777"/>
            <a:ext cx="3249432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spc="30" kern="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OPPORTUNITÀ EQUE</a:t>
            </a:r>
            <a:endParaRPr lang="en-US" sz="1500" dirty="0"/>
          </a:p>
        </p:txBody>
      </p:sp>
      <p:sp>
        <p:nvSpPr>
          <p:cNvPr id="18" name="TextBox 60"/>
          <p:cNvSpPr/>
          <p:nvPr/>
        </p:nvSpPr>
        <p:spPr>
          <a:xfrm>
            <a:off x="8332530" y="4521669"/>
            <a:ext cx="3249432" cy="45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94"/>
              </a:lnSpc>
              <a:buNone/>
            </a:pPr>
            <a:r>
              <a:rPr lang="en-US" sz="1237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Accesso ai ruoli tecnici, alla leadership e ai percorsi competitivi.</a:t>
            </a:r>
            <a:endParaRPr lang="en-US" sz="1237" dirty="0"/>
          </a:p>
        </p:txBody>
      </p:sp>
      <p:sp>
        <p:nvSpPr>
          <p:cNvPr id="19" name="Shape 67"/>
          <p:cNvSpPr/>
          <p:nvPr/>
        </p:nvSpPr>
        <p:spPr>
          <a:xfrm>
            <a:off x="609585" y="5205963"/>
            <a:ext cx="38099" cy="304792"/>
          </a:xfrm>
          <a:prstGeom prst="roundRect">
            <a:avLst>
              <a:gd name="adj" fmla="val 50000"/>
            </a:avLst>
          </a:prstGeom>
          <a:solidFill>
            <a:srgbClr val="5EE6A8"/>
          </a:solidFill>
          <a:ln/>
        </p:spPr>
        <p:txBody>
          <a:bodyPr/>
          <a:p/>
        </p:txBody>
      </p:sp>
      <p:sp>
        <p:nvSpPr>
          <p:cNvPr id="20" name="TextBox 69"/>
          <p:cNvSpPr/>
          <p:nvPr/>
        </p:nvSpPr>
        <p:spPr>
          <a:xfrm>
            <a:off x="800080" y="5234538"/>
            <a:ext cx="8100215" cy="247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L'inclusione non è un'aggiunta al prodotto: è un </a:t>
            </a:r>
            <a:r>
              <a:rPr lang="en-US" sz="1500" b="1" dirty="0">
                <a:solidFill>
                  <a:srgbClr val="5EE6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requisito fondamentale di progettazione</a:t>
            </a:r>
            <a:r>
              <a:rPr lang="en-US" sz="15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500" dirty="0"/>
          </a:p>
        </p:txBody>
      </p:sp>
      <p:sp>
        <p:nvSpPr>
          <p:cNvPr id="21" name="TextBox 72"/>
          <p:cNvSpPr/>
          <p:nvPr/>
        </p:nvSpPr>
        <p:spPr>
          <a:xfrm>
            <a:off x="609585" y="6562647"/>
            <a:ext cx="3059383" cy="123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spc="60" kern="0" dirty="0">
                <a:solidFill>
                  <a:srgbClr val="A9B8CC">
                    <a:alpha val="66000"/>
                  </a:srgbClr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Gender &amp; Inclusion · Università di Roma Tor Vergata</a:t>
            </a:r>
            <a:endParaRPr lang="en-US" sz="750" dirty="0"/>
          </a:p>
        </p:txBody>
      </p:sp>
      <p:sp>
        <p:nvSpPr>
          <p:cNvPr id="22" name="TextBox 1"/>
          <p:cNvSpPr/>
          <p:nvPr/>
        </p:nvSpPr>
        <p:spPr>
          <a:xfrm>
            <a:off x="11862043" y="6518890"/>
            <a:ext cx="62953" cy="14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A9B8C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86"/>
            <a:ext cx="12191695" cy="6857829"/>
          </a:xfrm>
          <a:prstGeom prst="rect">
            <a:avLst/>
          </a:prstGeom>
          <a:solidFill>
            <a:srgbClr val="07111F"/>
          </a:solidFill>
          <a:ln/>
        </p:spPr>
        <p:txBody>
          <a:bodyPr/>
          <a:p/>
        </p:txBody>
      </p:sp>
      <p:sp>
        <p:nvSpPr>
          <p:cNvPr id="3" name="TextBox 2"/>
          <p:cNvSpPr/>
          <p:nvPr/>
        </p:nvSpPr>
        <p:spPr>
          <a:xfrm>
            <a:off x="9144000" y="438225"/>
            <a:ext cx="2560320" cy="288571"/>
          </a:xfrm>
          <a:prstGeom prst="roundRect">
            <a:avLst>
              <a:gd name="adj" fmla="val 50000"/>
            </a:avLst>
          </a:prstGeom>
          <a:solidFill>
            <a:srgbClr val="07111F">
              <a:alpha val="72000"/>
            </a:srgbClr>
          </a:solidFill>
          <a:ln w="9525">
            <a:solidFill>
              <a:srgbClr val="5EE6A8">
                <a:alpha val="60000"/>
              </a:srgbClr>
            </a:solidFill>
            <a:prstDash val="solid"/>
          </a:ln>
        </p:spPr>
        <p:txBody>
          <a:bodyPr wrap="none" lIns="114297" tIns="66673" rIns="114297" bIns="66673" rtlCol="0" anchor="t">
            <a:spAutoFit/>
          </a:bodyPr>
          <a:lstStyle/>
          <a:p>
            <a:pPr algn="l" indent="0" marL="0">
              <a:lnSpc>
                <a:spcPts val="1072"/>
              </a:lnSpc>
              <a:buNone/>
              <a:defRPr sz="1100" b="1"/>
            </a:pPr>
            <a:r>
              <a:rPr lang="en-US" sz="825" b="1" spc="82" kern="0" dirty="0">
                <a:solidFill>
                  <a:srgbClr val="5EE6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03 · SAMUELE DE SANTIS</a:t>
            </a:r>
            <a:endParaRPr lang="en-US" sz="825" dirty="0"/>
          </a:p>
        </p:txBody>
      </p:sp>
      <p:sp>
        <p:nvSpPr>
          <p:cNvPr id="4" name="TextBox 4"/>
          <p:cNvSpPr/>
          <p:nvPr/>
        </p:nvSpPr>
        <p:spPr>
          <a:xfrm>
            <a:off x="609585" y="1187704"/>
            <a:ext cx="10972526" cy="160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67"/>
              </a:lnSpc>
              <a:buNone/>
            </a:pPr>
            <a:r>
              <a:rPr lang="en-US" sz="975" b="1" spc="156" kern="0" dirty="0">
                <a:solidFill>
                  <a:srgbClr val="5EE6A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08 / SINTESI E CONCLUSIONI</a:t>
            </a:r>
            <a:endParaRPr lang="en-US" sz="975" dirty="0"/>
          </a:p>
        </p:txBody>
      </p:sp>
      <p:sp>
        <p:nvSpPr>
          <p:cNvPr id="5" name="TextBox 6"/>
          <p:cNvSpPr/>
          <p:nvPr/>
        </p:nvSpPr>
        <p:spPr>
          <a:xfrm>
            <a:off x="609585" y="1491455"/>
            <a:ext cx="9048524" cy="527136"/>
          </a:xfrm>
          <a:prstGeom prst="rect">
            <a:avLst/>
          </a:prstGeom>
          <a:noFill/>
          <a:ln/>
        </p:spPr>
        <p:txBody>
          <a:bodyPr wrap="square" lIns="0" tIns="0" rIns="0" bIns="117155" rtlCol="0" anchor="t">
            <a:spAutoFit/>
          </a:bodyPr>
          <a:lstStyle/>
          <a:p>
            <a:pPr algn="l" indent="0" marL="0">
              <a:lnSpc>
                <a:spcPts val="3229"/>
              </a:lnSpc>
              <a:buNone/>
            </a:pPr>
            <a:r>
              <a:rPr lang="en-US" sz="3075" b="1" spc="-77" kern="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presenza </a:t>
            </a:r>
            <a:r>
              <a:rPr lang="en-US" sz="3075" b="1" spc="-77" kern="0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 è ancora</a:t>
            </a:r>
            <a:r>
              <a:rPr lang="en-US" sz="3075" b="1" spc="-77" kern="0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piena inclusione</a:t>
            </a:r>
            <a:endParaRPr lang="en-US" sz="3075" dirty="0"/>
          </a:p>
        </p:txBody>
      </p:sp>
      <p:sp>
        <p:nvSpPr>
          <p:cNvPr id="6" name="TextBox 8"/>
          <p:cNvSpPr/>
          <p:nvPr/>
        </p:nvSpPr>
        <p:spPr>
          <a:xfrm>
            <a:off x="609585" y="2285284"/>
            <a:ext cx="10972526" cy="244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425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Dalla constatazione dei divari alla costruzione consapevole di ambienti di gioco e lavoro paritari.</a:t>
            </a:r>
            <a:endParaRPr lang="en-US" sz="1425" dirty="0"/>
          </a:p>
        </p:txBody>
      </p:sp>
      <p:sp>
        <p:nvSpPr>
          <p:cNvPr id="7" name="TextBox 14"/>
          <p:cNvSpPr/>
          <p:nvPr/>
        </p:nvSpPr>
        <p:spPr>
          <a:xfrm>
            <a:off x="609585" y="2662852"/>
            <a:ext cx="6802912" cy="987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888"/>
              </a:lnSpc>
              <a:buNone/>
            </a:pPr>
            <a:r>
              <a:rPr lang="en-US" sz="3600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donne nel gaming </a:t>
            </a:r>
            <a:r>
              <a:rPr lang="en-US" sz="3600" b="1" dirty="0">
                <a:solidFill>
                  <a:srgbClr val="37D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 sono già.</a:t>
            </a:r>
            <a:endParaRPr lang="en-US" sz="3600" dirty="0"/>
          </a:p>
        </p:txBody>
      </p:sp>
      <p:sp>
        <p:nvSpPr>
          <p:cNvPr id="8" name="TextBox 16"/>
          <p:cNvSpPr/>
          <p:nvPr/>
        </p:nvSpPr>
        <p:spPr>
          <a:xfrm>
            <a:off x="609585" y="3840648"/>
            <a:ext cx="6802912" cy="552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sfida è capire come questo mondo possa cambiare, affinché tutte e tutti possano viverlo, lavorarci e competere alle stesse condizioni.</a:t>
            </a:r>
            <a:endParaRPr lang="en-US" sz="1500" dirty="0"/>
          </a:p>
        </p:txBody>
      </p:sp>
      <p:sp>
        <p:nvSpPr>
          <p:cNvPr id="9" name="Shape 20"/>
          <p:cNvSpPr/>
          <p:nvPr/>
        </p:nvSpPr>
        <p:spPr>
          <a:xfrm>
            <a:off x="609585" y="4640728"/>
            <a:ext cx="38099" cy="304792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/>
        </p:spPr>
        <p:txBody>
          <a:bodyPr/>
          <a:p/>
        </p:txBody>
      </p:sp>
      <p:sp>
        <p:nvSpPr>
          <p:cNvPr id="10" name="TextBox 22"/>
          <p:cNvSpPr/>
          <p:nvPr/>
        </p:nvSpPr>
        <p:spPr>
          <a:xfrm>
            <a:off x="800080" y="4675553"/>
            <a:ext cx="5574962" cy="2351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52"/>
              </a:lnSpc>
              <a:buNone/>
            </a:pPr>
            <a:r>
              <a:rPr lang="en-US" sz="1425" b="1" dirty="0">
                <a:solidFill>
                  <a:srgbClr val="F4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L’inclusione parte dalla valorizzazione dell’unicità della persona.</a:t>
            </a:r>
            <a:endParaRPr lang="en-US" sz="1425" dirty="0"/>
          </a:p>
        </p:txBody>
      </p:sp>
      <p:sp>
        <p:nvSpPr>
          <p:cNvPr id="11" name="Shape 25"/>
          <p:cNvSpPr/>
          <p:nvPr/>
        </p:nvSpPr>
        <p:spPr>
          <a:xfrm>
            <a:off x="609585" y="5201350"/>
            <a:ext cx="3487849" cy="250471"/>
          </a:xfrm>
          <a:prstGeom prst="roundRect">
            <a:avLst>
              <a:gd name="adj" fmla="val 15211"/>
            </a:avLst>
          </a:prstGeom>
          <a:solidFill>
            <a:srgbClr val="37D6E8">
              <a:alpha val="8000"/>
            </a:srgbClr>
          </a:solidFill>
          <a:ln w="9525">
            <a:solidFill>
              <a:srgbClr val="37D6E8">
                <a:alpha val="2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Box 28"/>
          <p:cNvSpPr/>
          <p:nvPr/>
        </p:nvSpPr>
        <p:spPr>
          <a:xfrm>
            <a:off x="876278" y="5258498"/>
            <a:ext cx="3087809" cy="1238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1072"/>
              </a:lnSpc>
              <a:buNone/>
            </a:pPr>
            <a:r>
              <a:rPr lang="en-US" sz="825" b="1" spc="99" kern="0" dirty="0">
                <a:solidFill>
                  <a:srgbClr val="37D6E8"/>
                </a:solidFill>
                <a:highlight>
                  <a:srgbClr val="37D6E8"/>
                </a:highlight>
                <a:latin typeface="Aptos Mono" pitchFamily="34" charset="0"/>
                <a:ea typeface="Aptos Mono" pitchFamily="34" charset="-122"/>
                <a:cs typeface="Aptos Mono" pitchFamily="34" charset="-120"/>
              </a:rPr>
              <a:t>GENDER &amp; INCLUSION · TOR VERGATA · 2025–2026</a:t>
            </a:r>
            <a:endParaRPr lang="en-US" sz="825" dirty="0"/>
          </a:p>
        </p:txBody>
      </p:sp>
      <p:sp>
        <p:nvSpPr>
          <p:cNvPr id="13" name="Shape 27"/>
          <p:cNvSpPr/>
          <p:nvPr/>
        </p:nvSpPr>
        <p:spPr>
          <a:xfrm>
            <a:off x="742931" y="5297937"/>
            <a:ext cx="57149" cy="57149"/>
          </a:xfrm>
          <a:prstGeom prst="ellipse">
            <a:avLst/>
          </a:prstGeom>
          <a:solidFill>
            <a:srgbClr val="A78BFA"/>
          </a:solidFill>
          <a:ln/>
          <a:effectLst>
            <a:outerShdw sx="100000" sy="100000" kx="0" ky="0" algn="bl" rotWithShape="0" blurRad="76198" dist="50800" dir="16200000">
              <a:srgbClr val="A78BFA">
                <a:alpha val="100000"/>
              </a:srgbClr>
            </a:outerShdw>
          </a:effectLst>
        </p:spPr>
        <p:txBody>
          <a:bodyPr/>
          <a:p/>
        </p:txBody>
      </p:sp>
      <p:sp>
        <p:nvSpPr>
          <p:cNvPr id="14" name="Shape 33"/>
          <p:cNvSpPr/>
          <p:nvPr/>
        </p:nvSpPr>
        <p:spPr>
          <a:xfrm>
            <a:off x="7755389" y="2825964"/>
            <a:ext cx="3826722" cy="2462746"/>
          </a:xfrm>
          <a:prstGeom prst="roundRect">
            <a:avLst>
              <a:gd name="adj" fmla="val 5415"/>
            </a:avLst>
          </a:prstGeom>
          <a:solidFill>
            <a:srgbClr val="0A182A">
              <a:alpha val="65000"/>
            </a:srgbClr>
          </a:solidFill>
          <a:ln w="9525">
            <a:solidFill>
              <a:srgbClr val="37D6E8">
                <a:alpha val="25000"/>
              </a:srgbClr>
            </a:solidFill>
            <a:prstDash val="solid"/>
          </a:ln>
          <a:effectLst>
            <a:outerShdw sx="100000" sy="100000" kx="0" ky="0" algn="bl" rotWithShape="0" blurRad="304792" dist="114297" dir="5400000">
              <a:srgbClr val="000000">
                <a:alpha val="28000"/>
              </a:srgbClr>
            </a:outerShdw>
          </a:effectLst>
        </p:spPr>
        <p:txBody>
          <a:bodyPr/>
          <a:p/>
        </p:txBody>
      </p:sp>
      <p:sp>
        <p:nvSpPr>
          <p:cNvPr id="15" name="Shape 35"/>
          <p:cNvSpPr/>
          <p:nvPr/>
        </p:nvSpPr>
        <p:spPr>
          <a:xfrm>
            <a:off x="7993508" y="3045033"/>
            <a:ext cx="3350484" cy="258954"/>
          </a:xfrm>
          <a:prstGeom prst="rect">
            <a:avLst/>
          </a:prstGeom>
          <a:noFill/>
          <a:ln/>
        </p:spPr>
        <p:txBody>
          <a:bodyPr/>
          <a:p/>
        </p:txBody>
      </p:sp>
      <p:pic>
        <p:nvPicPr>
          <p:cNvPr id="16" name="Picture 35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93508" y="3045033"/>
            <a:ext cx="3350484" cy="258954"/>
          </a:xfrm>
          <a:prstGeom prst="rect">
            <a:avLst/>
          </a:prstGeom>
        </p:spPr>
      </p:pic>
      <p:sp>
        <p:nvSpPr>
          <p:cNvPr id="17" name="TextBox 37"/>
          <p:cNvSpPr/>
          <p:nvPr/>
        </p:nvSpPr>
        <p:spPr>
          <a:xfrm>
            <a:off x="8267196" y="3063785"/>
            <a:ext cx="1276020" cy="13334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indent="0" marL="0">
              <a:lnSpc>
                <a:spcPts val="1219"/>
              </a:lnSpc>
              <a:spcAft>
                <a:spcPts val="1050"/>
              </a:spcAft>
              <a:buNone/>
            </a:pPr>
            <a:r>
              <a:rPr lang="en-US" sz="937" b="1" spc="112" kern="0" dirty="0">
                <a:solidFill>
                  <a:srgbClr val="37D6E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FONTI PRINCIPALI</a:t>
            </a:r>
            <a:endParaRPr lang="en-US" sz="937" dirty="0"/>
          </a:p>
        </p:txBody>
      </p:sp>
      <p:sp>
        <p:nvSpPr>
          <p:cNvPr id="18" name="TextBox 36"/>
          <p:cNvSpPr/>
          <p:nvPr/>
        </p:nvSpPr>
        <p:spPr>
          <a:xfrm>
            <a:off x="7993508" y="3045033"/>
            <a:ext cx="197490" cy="17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1050" b="1" spc="112" kern="0" dirty="0">
                <a:solidFill>
                  <a:srgbClr val="37D6E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⚡</a:t>
            </a:r>
            <a:endParaRPr lang="en-US" sz="1050" dirty="0"/>
          </a:p>
        </p:txBody>
      </p:sp>
      <p:sp>
        <p:nvSpPr>
          <p:cNvPr id="19" name="TextBox 39"/>
          <p:cNvSpPr/>
          <p:nvPr/>
        </p:nvSpPr>
        <p:spPr>
          <a:xfrm>
            <a:off x="7993508" y="3437334"/>
            <a:ext cx="3350484" cy="1632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7" b="1" dirty="0">
                <a:solidFill>
                  <a:srgbClr val="37D6E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ESA (2025)</a:t>
            </a:r>
            <a:r>
              <a:rPr lang="en-US" sz="975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Global Power of Play Report</a:t>
            </a:r>
            <a:endParaRPr lang="en-US" sz="937" dirty="0"/>
          </a:p>
          <a:p>
            <a:pPr algn="l" indent="0" marL="0">
              <a:lnSpc>
                <a:spcPts val="1219"/>
              </a:lnSpc>
              <a:buNone/>
            </a:pPr>
            <a:r>
              <a:rPr lang="en-US" sz="937" b="1" dirty="0">
                <a:solidFill>
                  <a:srgbClr val="37D6E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ADL (2024)</a:t>
            </a:r>
            <a:r>
              <a:rPr lang="en-US" sz="975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Hate is No Game Report</a:t>
            </a:r>
            <a:endParaRPr lang="en-US" sz="937" dirty="0"/>
          </a:p>
          <a:p>
            <a:pPr algn="l" indent="0" marL="0">
              <a:lnSpc>
                <a:spcPts val="1219"/>
              </a:lnSpc>
              <a:buNone/>
            </a:pPr>
            <a:r>
              <a:rPr lang="en-US" sz="937" b="1" dirty="0">
                <a:solidFill>
                  <a:srgbClr val="37D6E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IIDEA (2025)</a:t>
            </a:r>
            <a:r>
              <a:rPr lang="en-US" sz="975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 videogiochi in Italia nel 2024</a:t>
            </a:r>
            <a:endParaRPr lang="en-US" sz="937" dirty="0"/>
          </a:p>
          <a:p>
            <a:pPr algn="l" indent="0" marL="0">
              <a:lnSpc>
                <a:spcPts val="1219"/>
              </a:lnSpc>
              <a:buNone/>
            </a:pPr>
            <a:r>
              <a:rPr lang="en-US" sz="937" b="1" dirty="0">
                <a:solidFill>
                  <a:srgbClr val="37D6E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GDC (2025)</a:t>
            </a:r>
            <a:r>
              <a:rPr lang="en-US" sz="975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State of the Game Industry</a:t>
            </a:r>
            <a:endParaRPr lang="en-US" sz="937" dirty="0"/>
          </a:p>
          <a:p>
            <a:pPr algn="l" indent="0" marL="0">
              <a:lnSpc>
                <a:spcPts val="1219"/>
              </a:lnSpc>
              <a:buNone/>
            </a:pPr>
            <a:r>
              <a:rPr lang="en-US" sz="937" b="1" dirty="0">
                <a:solidFill>
                  <a:srgbClr val="37D6E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VGE (2024)</a:t>
            </a:r>
            <a:r>
              <a:rPr lang="en-US" sz="975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Key Facts Report (GameTrack)</a:t>
            </a:r>
            <a:endParaRPr lang="en-US" sz="937" dirty="0"/>
          </a:p>
          <a:p>
            <a:pPr algn="l" indent="0" marL="0">
              <a:lnSpc>
                <a:spcPts val="1219"/>
              </a:lnSpc>
              <a:buNone/>
            </a:pPr>
            <a:r>
              <a:rPr lang="en-US" sz="937" b="1" dirty="0">
                <a:solidFill>
                  <a:srgbClr val="37D6E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Wells et al. (2025)</a:t>
            </a:r>
            <a:r>
              <a:rPr lang="en-US" sz="975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Frontiers in Psychology</a:t>
            </a:r>
            <a:endParaRPr lang="en-US" sz="937" dirty="0"/>
          </a:p>
          <a:p>
            <a:pPr algn="l" indent="0" marL="0">
              <a:lnSpc>
                <a:spcPts val="1219"/>
              </a:lnSpc>
              <a:buNone/>
            </a:pPr>
            <a:r>
              <a:rPr lang="en-US" sz="937" b="1" dirty="0">
                <a:solidFill>
                  <a:srgbClr val="37D6E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Botto (2025)</a:t>
            </a:r>
            <a:r>
              <a:rPr lang="en-US" sz="975" dirty="0">
                <a:solidFill>
                  <a:srgbClr val="A9B8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AboutGender Journal</a:t>
            </a:r>
            <a:endParaRPr lang="en-US" sz="937" dirty="0"/>
          </a:p>
        </p:txBody>
      </p:sp>
      <p:sp>
        <p:nvSpPr>
          <p:cNvPr id="20" name="TextBox 44"/>
          <p:cNvSpPr/>
          <p:nvPr/>
        </p:nvSpPr>
        <p:spPr>
          <a:xfrm>
            <a:off x="609585" y="5604217"/>
            <a:ext cx="10972526" cy="1422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2" spc="52" kern="0" dirty="0">
                <a:solidFill>
                  <a:srgbClr val="A9B8C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DOSSIER ACCADEMICO COMPLETO CON BIBLIOGRAFIA IN FORMATO APA DISPONIBILE NEGLI ATTI DEL CORSO</a:t>
            </a:r>
            <a:endParaRPr lang="en-US" sz="862" dirty="0"/>
          </a:p>
        </p:txBody>
      </p:sp>
      <p:sp>
        <p:nvSpPr>
          <p:cNvPr id="21" name="TextBox 46"/>
          <p:cNvSpPr/>
          <p:nvPr/>
        </p:nvSpPr>
        <p:spPr>
          <a:xfrm>
            <a:off x="609585" y="6562647"/>
            <a:ext cx="3059383" cy="1238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spc="60" kern="0" dirty="0">
                <a:solidFill>
                  <a:srgbClr val="A9B8CC">
                    <a:alpha val="66000"/>
                  </a:srgbClr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Gender &amp; Inclusion · Università di Roma Tor Vergata</a:t>
            </a:r>
            <a:endParaRPr lang="en-US" sz="750" dirty="0"/>
          </a:p>
        </p:txBody>
      </p:sp>
      <p:sp>
        <p:nvSpPr>
          <p:cNvPr id="22" name="TextBox 1"/>
          <p:cNvSpPr/>
          <p:nvPr/>
        </p:nvSpPr>
        <p:spPr>
          <a:xfrm>
            <a:off x="11862043" y="6518890"/>
            <a:ext cx="62953" cy="14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A9B8C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2026-09-03T13:55:38Z</dcterms:created>
  <dcterms:modified xsi:type="dcterms:W3CDTF">2026-09-03T13:55:38Z</dcterms:modified>
</cp:coreProperties>
</file>